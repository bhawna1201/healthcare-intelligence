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4.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5.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6.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2"/>
    <p:restoredTop sz="65753"/>
  </p:normalViewPr>
  <p:slideViewPr>
    <p:cSldViewPr snapToGrid="0" snapToObjects="1">
      <p:cViewPr varScale="1">
        <p:scale>
          <a:sx n="108" d="100"/>
          <a:sy n="108" d="100"/>
        </p:scale>
        <p:origin x="168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100" b="0" i="0" u="none" strike="noStrike">
                <a:solidFill>
                  <a:srgbClr val="9D1535"/>
                </a:solidFill>
                <a:latin typeface="Arial"/>
              </a:defRPr>
            </a:pPr>
            <a:r>
              <a:rPr lang="en-IN" sz="1100" b="0" i="0" u="none" strike="noStrike">
                <a:solidFill>
                  <a:srgbClr val="9D1535"/>
                </a:solidFill>
                <a:latin typeface="Arial"/>
              </a:rPr>
              <a:t>Review Sentiment Split (6,827 reviews)</a:t>
            </a:r>
          </a:p>
        </c:rich>
      </c:tx>
      <c:overlay val="0"/>
    </c:title>
    <c:autoTitleDeleted val="0"/>
    <c:plotArea>
      <c:layout/>
      <c:barChart>
        <c:barDir val="col"/>
        <c:grouping val="clustered"/>
        <c:varyColors val="0"/>
        <c:ser>
          <c:idx val="0"/>
          <c:order val="0"/>
          <c:tx>
            <c:strRef>
              <c:f>Sheet1!$B$1</c:f>
              <c:strCache>
                <c:ptCount val="1"/>
                <c:pt idx="0">
                  <c:v>Reviews</c:v>
                </c:pt>
              </c:strCache>
            </c:strRef>
          </c:tx>
          <c:spPr>
            <a:solidFill>
              <a:srgbClr val="9D1535"/>
            </a:solidFill>
            <a:effectLst/>
          </c:spPr>
          <c:invertIfNegative val="0"/>
          <c:dPt>
            <c:idx val="0"/>
            <c:invertIfNegative val="0"/>
            <c:bubble3D val="0"/>
            <c:extLst>
              <c:ext xmlns:c16="http://schemas.microsoft.com/office/drawing/2014/chart" uri="{C3380CC4-5D6E-409C-BE32-E72D297353CC}">
                <c16:uniqueId val="{00000001-2DF9-2C4C-B7A5-AF8067C5B4BD}"/>
              </c:ext>
            </c:extLst>
          </c:dPt>
          <c:dPt>
            <c:idx val="1"/>
            <c:invertIfNegative val="0"/>
            <c:bubble3D val="0"/>
            <c:spPr>
              <a:solidFill>
                <a:srgbClr val="D97706"/>
              </a:solidFill>
              <a:effectLst/>
            </c:spPr>
            <c:extLst>
              <c:ext xmlns:c16="http://schemas.microsoft.com/office/drawing/2014/chart" uri="{C3380CC4-5D6E-409C-BE32-E72D297353CC}">
                <c16:uniqueId val="{00000003-2DF9-2C4C-B7A5-AF8067C5B4BD}"/>
              </c:ext>
            </c:extLst>
          </c:dPt>
          <c:dPt>
            <c:idx val="2"/>
            <c:invertIfNegative val="0"/>
            <c:bubble3D val="0"/>
            <c:spPr>
              <a:solidFill>
                <a:srgbClr val="059669"/>
              </a:solidFill>
              <a:effectLst/>
            </c:spPr>
            <c:extLst>
              <c:ext xmlns:c16="http://schemas.microsoft.com/office/drawing/2014/chart" uri="{C3380CC4-5D6E-409C-BE32-E72D297353CC}">
                <c16:uniqueId val="{00000005-2DF9-2C4C-B7A5-AF8067C5B4BD}"/>
              </c:ext>
            </c:extLst>
          </c:dPt>
          <c:dLbls>
            <c:numFmt formatCode="#,##0" sourceLinked="0"/>
            <c:spPr>
              <a:noFill/>
              <a:ln>
                <a:noFill/>
              </a:ln>
              <a:effectLst/>
            </c:spPr>
            <c:txPr>
              <a:bodyPr/>
              <a:lstStyle/>
              <a:p>
                <a:pPr>
                  <a:defRPr sz="1100" b="0" i="0" u="none" strike="noStrike">
                    <a:solidFill>
                      <a:srgbClr val="37415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Negative</c:v>
                </c:pt>
                <c:pt idx="1">
                  <c:v>Neutral</c:v>
                </c:pt>
                <c:pt idx="2">
                  <c:v>Positive</c:v>
                </c:pt>
              </c:strCache>
            </c:strRef>
          </c:cat>
          <c:val>
            <c:numRef>
              <c:f>Sheet1!$B$2:$B$4</c:f>
              <c:numCache>
                <c:formatCode>General</c:formatCode>
                <c:ptCount val="3"/>
                <c:pt idx="0">
                  <c:v>3826</c:v>
                </c:pt>
                <c:pt idx="1">
                  <c:v>568</c:v>
                </c:pt>
                <c:pt idx="2">
                  <c:v>2433</c:v>
                </c:pt>
              </c:numCache>
            </c:numRef>
          </c:val>
          <c:extLst>
            <c:ext xmlns:c16="http://schemas.microsoft.com/office/drawing/2014/chart" uri="{C3380CC4-5D6E-409C-BE32-E72D297353CC}">
              <c16:uniqueId val="{00000006-2DF9-2C4C-B7A5-AF8067C5B4B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100" b="0" i="0" u="none" strike="noStrike">
                <a:solidFill>
                  <a:srgbClr val="9D1535"/>
                </a:solidFill>
                <a:latin typeface="Arial"/>
              </a:defRPr>
            </a:pPr>
            <a:r>
              <a:rPr lang="en-IN" sz="1100" b="0" i="0" u="none" strike="noStrike">
                <a:solidFill>
                  <a:srgbClr val="9D1535"/>
                </a:solidFill>
                <a:latin typeface="Arial"/>
              </a:rPr>
              <a:t>FDA Shortage Status (1,215 records)</a:t>
            </a:r>
          </a:p>
        </c:rich>
      </c:tx>
      <c:overlay val="0"/>
    </c:title>
    <c:autoTitleDeleted val="0"/>
    <c:plotArea>
      <c:layout/>
      <c:pieChart>
        <c:varyColors val="1"/>
        <c:ser>
          <c:idx val="0"/>
          <c:order val="0"/>
          <c:tx>
            <c:strRef>
              <c:f>Sheet1!$B$1</c:f>
              <c:strCache>
                <c:ptCount val="1"/>
                <c:pt idx="0">
                  <c:v>Shortages</c:v>
                </c:pt>
              </c:strCache>
            </c:strRef>
          </c:tx>
          <c:spPr>
            <a:solidFill>
              <a:schemeClr val="accent1"/>
            </a:solidFill>
            <a:ln w="9525" cap="flat">
              <a:solidFill>
                <a:srgbClr val="F9F9F9"/>
              </a:solidFill>
              <a:prstDash val="solid"/>
              <a:round/>
            </a:ln>
            <a:effectLst/>
          </c:spPr>
          <c:dPt>
            <c:idx val="0"/>
            <c:bubble3D val="0"/>
            <c:spPr>
              <a:solidFill>
                <a:srgbClr val="9D1535"/>
              </a:solidFill>
              <a:effectLst/>
            </c:spPr>
            <c:extLst>
              <c:ext xmlns:c16="http://schemas.microsoft.com/office/drawing/2014/chart" uri="{C3380CC4-5D6E-409C-BE32-E72D297353CC}">
                <c16:uniqueId val="{00000001-0241-A64A-B611-5F4826A943EA}"/>
              </c:ext>
            </c:extLst>
          </c:dPt>
          <c:dPt>
            <c:idx val="1"/>
            <c:bubble3D val="0"/>
            <c:spPr>
              <a:solidFill>
                <a:srgbClr val="059669"/>
              </a:solidFill>
              <a:effectLst/>
            </c:spPr>
            <c:extLst>
              <c:ext xmlns:c16="http://schemas.microsoft.com/office/drawing/2014/chart" uri="{C3380CC4-5D6E-409C-BE32-E72D297353CC}">
                <c16:uniqueId val="{00000003-0241-A64A-B611-5F4826A943EA}"/>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0241-A64A-B611-5F4826A943EA}"/>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0241-A64A-B611-5F4826A943EA}"/>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Active (97.6%)</c:v>
                </c:pt>
                <c:pt idx="1">
                  <c:v>Resolved (2.4%)</c:v>
                </c:pt>
              </c:strCache>
            </c:strRef>
          </c:cat>
          <c:val>
            <c:numRef>
              <c:f>Sheet1!$B$2:$B$3</c:f>
              <c:numCache>
                <c:formatCode>General</c:formatCode>
                <c:ptCount val="2"/>
                <c:pt idx="0">
                  <c:v>1186</c:v>
                </c:pt>
                <c:pt idx="1">
                  <c:v>29</c:v>
                </c:pt>
              </c:numCache>
            </c:numRef>
          </c:val>
          <c:extLst>
            <c:ext xmlns:c16="http://schemas.microsoft.com/office/drawing/2014/chart" uri="{C3380CC4-5D6E-409C-BE32-E72D297353CC}">
              <c16:uniqueId val="{00000004-0241-A64A-B611-5F4826A943EA}"/>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100" b="0" i="0" u="none" strike="noStrike">
                <a:solidFill>
                  <a:srgbClr val="9D1535"/>
                </a:solidFill>
                <a:latin typeface="Arial"/>
              </a:defRPr>
            </a:pPr>
            <a:r>
              <a:rPr lang="en-IN" sz="1100" b="0" i="0" u="none" strike="noStrike">
                <a:solidFill>
                  <a:srgbClr val="9D1535"/>
                </a:solidFill>
                <a:latin typeface="Arial"/>
              </a:rPr>
              <a:t>Accuracy &amp; AUC — 4 Classifiers</a:t>
            </a:r>
          </a:p>
        </c:rich>
      </c:tx>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9D1535"/>
            </a:solidFill>
            <a:effectLst/>
          </c:spPr>
          <c:invertIfNegative val="0"/>
          <c:dLbls>
            <c:numFmt formatCode="#,##0" sourceLinked="0"/>
            <c:spPr>
              <a:noFill/>
              <a:ln>
                <a:noFill/>
              </a:ln>
              <a:effectLst/>
            </c:spPr>
            <c:txPr>
              <a:bodyPr/>
              <a:lstStyle/>
              <a:p>
                <a:pPr>
                  <a:defRPr sz="900" b="0" i="0" u="none" strike="noStrike">
                    <a:solidFill>
                      <a:srgbClr val="37415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Logistic
Regression</c:v>
                </c:pt>
                <c:pt idx="1">
                  <c:v>Linear SVM</c:v>
                </c:pt>
                <c:pt idx="2">
                  <c:v>Random
Forest</c:v>
                </c:pt>
                <c:pt idx="3">
                  <c:v>Naive
Bayes</c:v>
                </c:pt>
              </c:strCache>
            </c:strRef>
          </c:cat>
          <c:val>
            <c:numRef>
              <c:f>Sheet1!$B$2:$B$5</c:f>
              <c:numCache>
                <c:formatCode>General</c:formatCode>
                <c:ptCount val="4"/>
                <c:pt idx="0">
                  <c:v>76</c:v>
                </c:pt>
                <c:pt idx="1">
                  <c:v>75.5</c:v>
                </c:pt>
                <c:pt idx="2">
                  <c:v>75</c:v>
                </c:pt>
                <c:pt idx="3">
                  <c:v>70.400000000000006</c:v>
                </c:pt>
              </c:numCache>
            </c:numRef>
          </c:val>
          <c:extLst>
            <c:ext xmlns:c16="http://schemas.microsoft.com/office/drawing/2014/chart" uri="{C3380CC4-5D6E-409C-BE32-E72D297353CC}">
              <c16:uniqueId val="{00000000-B37D-EF4E-9BC3-08A3D5FA3DF5}"/>
            </c:ext>
          </c:extLst>
        </c:ser>
        <c:ser>
          <c:idx val="1"/>
          <c:order val="1"/>
          <c:tx>
            <c:strRef>
              <c:f>Sheet1!$C$1</c:f>
              <c:strCache>
                <c:ptCount val="1"/>
                <c:pt idx="0">
                  <c:v>AUC ×100</c:v>
                </c:pt>
              </c:strCache>
            </c:strRef>
          </c:tx>
          <c:spPr>
            <a:solidFill>
              <a:srgbClr val="2563EB"/>
            </a:solidFill>
            <a:effectLst/>
          </c:spPr>
          <c:invertIfNegative val="0"/>
          <c:dLbls>
            <c:numFmt formatCode="#,##0" sourceLinked="0"/>
            <c:spPr>
              <a:noFill/>
              <a:ln>
                <a:noFill/>
              </a:ln>
              <a:effectLst/>
            </c:spPr>
            <c:txPr>
              <a:bodyPr/>
              <a:lstStyle/>
              <a:p>
                <a:pPr>
                  <a:defRPr sz="900" b="0" i="0" u="none" strike="noStrike">
                    <a:solidFill>
                      <a:srgbClr val="37415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Logistic
Regression</c:v>
                </c:pt>
                <c:pt idx="1">
                  <c:v>Linear SVM</c:v>
                </c:pt>
                <c:pt idx="2">
                  <c:v>Random
Forest</c:v>
                </c:pt>
                <c:pt idx="3">
                  <c:v>Naive
Bayes</c:v>
                </c:pt>
              </c:strCache>
            </c:strRef>
          </c:cat>
          <c:val>
            <c:numRef>
              <c:f>Sheet1!$C$2:$C$5</c:f>
              <c:numCache>
                <c:formatCode>General</c:formatCode>
                <c:ptCount val="4"/>
                <c:pt idx="0">
                  <c:v>86.3</c:v>
                </c:pt>
                <c:pt idx="1">
                  <c:v>83.9</c:v>
                </c:pt>
                <c:pt idx="2">
                  <c:v>81.5</c:v>
                </c:pt>
                <c:pt idx="3">
                  <c:v>77.8</c:v>
                </c:pt>
              </c:numCache>
            </c:numRef>
          </c:val>
          <c:extLst>
            <c:ext xmlns:c16="http://schemas.microsoft.com/office/drawing/2014/chart" uri="{C3380CC4-5D6E-409C-BE32-E72D297353CC}">
              <c16:uniqueId val="{00000001-B37D-EF4E-9BC3-08A3D5FA3DF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100" b="0" i="0" u="none" strike="noStrike">
                <a:solidFill>
                  <a:srgbClr val="9D1535"/>
                </a:solidFill>
                <a:latin typeface="Arial"/>
              </a:defRPr>
            </a:pPr>
            <a:r>
              <a:rPr lang="en-IN" sz="1100" b="0" i="0" u="none" strike="noStrike">
                <a:solidFill>
                  <a:srgbClr val="9D1535"/>
                </a:solidFill>
                <a:latin typeface="Arial"/>
              </a:rPr>
              <a:t>LOO R² — Baseline vs Enhanced</a:t>
            </a:r>
          </a:p>
        </c:rich>
      </c:tx>
      <c:overlay val="0"/>
    </c:title>
    <c:autoTitleDeleted val="0"/>
    <c:plotArea>
      <c:layout/>
      <c:barChart>
        <c:barDir val="col"/>
        <c:grouping val="clustered"/>
        <c:varyColors val="0"/>
        <c:ser>
          <c:idx val="0"/>
          <c:order val="0"/>
          <c:tx>
            <c:strRef>
              <c:f>Sheet1!$B$1</c:f>
              <c:strCache>
                <c:ptCount val="1"/>
                <c:pt idx="0">
                  <c:v>LOO R²</c:v>
                </c:pt>
              </c:strCache>
            </c:strRef>
          </c:tx>
          <c:spPr>
            <a:solidFill>
              <a:srgbClr val="6B7280"/>
            </a:solidFill>
            <a:effectLst/>
          </c:spPr>
          <c:invertIfNegative val="0"/>
          <c:dPt>
            <c:idx val="0"/>
            <c:invertIfNegative val="0"/>
            <c:bubble3D val="0"/>
            <c:extLst>
              <c:ext xmlns:c16="http://schemas.microsoft.com/office/drawing/2014/chart" uri="{C3380CC4-5D6E-409C-BE32-E72D297353CC}">
                <c16:uniqueId val="{00000001-011D-654A-97B3-6F2CCFD3D6A9}"/>
              </c:ext>
            </c:extLst>
          </c:dPt>
          <c:dPt>
            <c:idx val="1"/>
            <c:invertIfNegative val="0"/>
            <c:bubble3D val="0"/>
            <c:spPr>
              <a:solidFill>
                <a:srgbClr val="2563EB"/>
              </a:solidFill>
              <a:effectLst/>
            </c:spPr>
            <c:extLst>
              <c:ext xmlns:c16="http://schemas.microsoft.com/office/drawing/2014/chart" uri="{C3380CC4-5D6E-409C-BE32-E72D297353CC}">
                <c16:uniqueId val="{00000003-011D-654A-97B3-6F2CCFD3D6A9}"/>
              </c:ext>
            </c:extLst>
          </c:dPt>
          <c:dPt>
            <c:idx val="2"/>
            <c:invertIfNegative val="0"/>
            <c:bubble3D val="0"/>
            <c:extLst>
              <c:ext xmlns:c16="http://schemas.microsoft.com/office/drawing/2014/chart" uri="{C3380CC4-5D6E-409C-BE32-E72D297353CC}">
                <c16:uniqueId val="{00000005-011D-654A-97B3-6F2CCFD3D6A9}"/>
              </c:ext>
            </c:extLst>
          </c:dPt>
          <c:dPt>
            <c:idx val="3"/>
            <c:invertIfNegative val="0"/>
            <c:bubble3D val="0"/>
            <c:spPr>
              <a:solidFill>
                <a:srgbClr val="9D1535"/>
              </a:solidFill>
              <a:effectLst/>
            </c:spPr>
            <c:extLst>
              <c:ext xmlns:c16="http://schemas.microsoft.com/office/drawing/2014/chart" uri="{C3380CC4-5D6E-409C-BE32-E72D297353CC}">
                <c16:uniqueId val="{00000007-011D-654A-97B3-6F2CCFD3D6A9}"/>
              </c:ext>
            </c:extLst>
          </c:dPt>
          <c:dLbls>
            <c:numFmt formatCode="#,##0" sourceLinked="0"/>
            <c:spPr>
              <a:noFill/>
              <a:ln>
                <a:noFill/>
              </a:ln>
              <a:effectLst/>
            </c:spPr>
            <c:txPr>
              <a:bodyPr/>
              <a:lstStyle/>
              <a:p>
                <a:pPr>
                  <a:defRPr sz="1100" b="0" i="0" u="none" strike="noStrike">
                    <a:solidFill>
                      <a:srgbClr val="37415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Ridge
(baseline)</c:v>
                </c:pt>
                <c:pt idx="1">
                  <c:v>Ridge
(enhanced)</c:v>
                </c:pt>
                <c:pt idx="2">
                  <c:v>RF
(baseline)</c:v>
                </c:pt>
                <c:pt idx="3">
                  <c:v>RF
(enhanced)</c:v>
                </c:pt>
              </c:strCache>
            </c:strRef>
          </c:cat>
          <c:val>
            <c:numRef>
              <c:f>Sheet1!$B$2:$B$5</c:f>
              <c:numCache>
                <c:formatCode>General</c:formatCode>
                <c:ptCount val="4"/>
                <c:pt idx="0">
                  <c:v>-0.20899999999999999</c:v>
                </c:pt>
                <c:pt idx="1">
                  <c:v>-5.8000000000000003E-2</c:v>
                </c:pt>
                <c:pt idx="2">
                  <c:v>-0.23100000000000001</c:v>
                </c:pt>
                <c:pt idx="3">
                  <c:v>1.7000000000000001E-2</c:v>
                </c:pt>
              </c:numCache>
            </c:numRef>
          </c:val>
          <c:extLst>
            <c:ext xmlns:c16="http://schemas.microsoft.com/office/drawing/2014/chart" uri="{C3380CC4-5D6E-409C-BE32-E72D297353CC}">
              <c16:uniqueId val="{00000008-011D-654A-97B3-6F2CCFD3D6A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100" b="0" i="0" u="none" strike="noStrike">
                <a:solidFill>
                  <a:srgbClr val="9D1535"/>
                </a:solidFill>
                <a:latin typeface="Arial"/>
              </a:defRPr>
            </a:pPr>
            <a:r>
              <a:rPr lang="en-IN" sz="1100" b="0" i="0" u="none" strike="noStrike">
                <a:solidFill>
                  <a:srgbClr val="9D1535"/>
                </a:solidFill>
                <a:latin typeface="Arial"/>
              </a:rPr>
              <a:t>Baseline vs Enhanced — 5 Models</a:t>
            </a:r>
          </a:p>
        </c:rich>
      </c:tx>
      <c:overlay val="0"/>
    </c:title>
    <c:autoTitleDeleted val="0"/>
    <c:plotArea>
      <c:layout/>
      <c:barChart>
        <c:barDir val="col"/>
        <c:grouping val="clustered"/>
        <c:varyColors val="0"/>
        <c:ser>
          <c:idx val="0"/>
          <c:order val="0"/>
          <c:tx>
            <c:strRef>
              <c:f>Sheet1!$B$1</c:f>
              <c:strCache>
                <c:ptCount val="1"/>
                <c:pt idx="0">
                  <c:v>AUC</c:v>
                </c:pt>
              </c:strCache>
            </c:strRef>
          </c:tx>
          <c:spPr>
            <a:solidFill>
              <a:srgbClr val="6B7280"/>
            </a:solidFill>
            <a:effectLst/>
          </c:spPr>
          <c:invertIfNegative val="0"/>
          <c:dPt>
            <c:idx val="0"/>
            <c:invertIfNegative val="0"/>
            <c:bubble3D val="0"/>
            <c:extLst>
              <c:ext xmlns:c16="http://schemas.microsoft.com/office/drawing/2014/chart" uri="{C3380CC4-5D6E-409C-BE32-E72D297353CC}">
                <c16:uniqueId val="{00000001-60DD-5443-9E0A-0DD80B447B89}"/>
              </c:ext>
            </c:extLst>
          </c:dPt>
          <c:dPt>
            <c:idx val="1"/>
            <c:invertIfNegative val="0"/>
            <c:bubble3D val="0"/>
            <c:spPr>
              <a:solidFill>
                <a:srgbClr val="2563EB"/>
              </a:solidFill>
              <a:effectLst/>
            </c:spPr>
            <c:extLst>
              <c:ext xmlns:c16="http://schemas.microsoft.com/office/drawing/2014/chart" uri="{C3380CC4-5D6E-409C-BE32-E72D297353CC}">
                <c16:uniqueId val="{00000003-60DD-5443-9E0A-0DD80B447B89}"/>
              </c:ext>
            </c:extLst>
          </c:dPt>
          <c:dPt>
            <c:idx val="2"/>
            <c:invertIfNegative val="0"/>
            <c:bubble3D val="0"/>
            <c:extLst>
              <c:ext xmlns:c16="http://schemas.microsoft.com/office/drawing/2014/chart" uri="{C3380CC4-5D6E-409C-BE32-E72D297353CC}">
                <c16:uniqueId val="{00000005-60DD-5443-9E0A-0DD80B447B89}"/>
              </c:ext>
            </c:extLst>
          </c:dPt>
          <c:dPt>
            <c:idx val="3"/>
            <c:invertIfNegative val="0"/>
            <c:bubble3D val="0"/>
            <c:spPr>
              <a:solidFill>
                <a:srgbClr val="059669"/>
              </a:solidFill>
              <a:effectLst/>
            </c:spPr>
            <c:extLst>
              <c:ext xmlns:c16="http://schemas.microsoft.com/office/drawing/2014/chart" uri="{C3380CC4-5D6E-409C-BE32-E72D297353CC}">
                <c16:uniqueId val="{00000007-60DD-5443-9E0A-0DD80B447B89}"/>
              </c:ext>
            </c:extLst>
          </c:dPt>
          <c:dPt>
            <c:idx val="4"/>
            <c:invertIfNegative val="0"/>
            <c:bubble3D val="0"/>
            <c:spPr>
              <a:solidFill>
                <a:srgbClr val="0891B2"/>
              </a:solidFill>
              <a:effectLst/>
            </c:spPr>
            <c:extLst>
              <c:ext xmlns:c16="http://schemas.microsoft.com/office/drawing/2014/chart" uri="{C3380CC4-5D6E-409C-BE32-E72D297353CC}">
                <c16:uniqueId val="{00000009-60DD-5443-9E0A-0DD80B447B89}"/>
              </c:ext>
            </c:extLst>
          </c:dPt>
          <c:dLbls>
            <c:numFmt formatCode="#,##0" sourceLinked="0"/>
            <c:spPr>
              <a:noFill/>
              <a:ln>
                <a:noFill/>
              </a:ln>
              <a:effectLst/>
            </c:spPr>
            <c:txPr>
              <a:bodyPr/>
              <a:lstStyle/>
              <a:p>
                <a:pPr>
                  <a:defRPr sz="1000" b="0" i="0" u="none" strike="noStrike">
                    <a:solidFill>
                      <a:srgbClr val="37415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LR
(baseline)</c:v>
                </c:pt>
                <c:pt idx="1">
                  <c:v>LR
(enhanced)</c:v>
                </c:pt>
                <c:pt idx="2">
                  <c:v>RF
(baseline)</c:v>
                </c:pt>
                <c:pt idx="3">
                  <c:v>RF
(enhanced)</c:v>
                </c:pt>
                <c:pt idx="4">
                  <c:v>GB
(enhanced)</c:v>
                </c:pt>
              </c:strCache>
            </c:strRef>
          </c:cat>
          <c:val>
            <c:numRef>
              <c:f>Sheet1!$B$2:$B$6</c:f>
              <c:numCache>
                <c:formatCode>General</c:formatCode>
                <c:ptCount val="5"/>
                <c:pt idx="0">
                  <c:v>0.47499999999999998</c:v>
                </c:pt>
                <c:pt idx="1">
                  <c:v>0.75800000000000001</c:v>
                </c:pt>
                <c:pt idx="2">
                  <c:v>0.76500000000000001</c:v>
                </c:pt>
                <c:pt idx="3">
                  <c:v>0.79200000000000004</c:v>
                </c:pt>
                <c:pt idx="4">
                  <c:v>0.75600000000000001</c:v>
                </c:pt>
              </c:numCache>
            </c:numRef>
          </c:val>
          <c:extLst>
            <c:ext xmlns:c16="http://schemas.microsoft.com/office/drawing/2014/chart" uri="{C3380CC4-5D6E-409C-BE32-E72D297353CC}">
              <c16:uniqueId val="{0000000A-60DD-5443-9E0A-0DD80B447B8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100" b="0" i="0" u="none" strike="noStrike">
                <a:solidFill>
                  <a:srgbClr val="9D1535"/>
                </a:solidFill>
                <a:latin typeface="Arial"/>
              </a:defRPr>
            </a:pPr>
            <a:r>
              <a:rPr lang="en-IN" sz="1100" b="0" i="0" u="none" strike="noStrike">
                <a:solidFill>
                  <a:srgbClr val="9D1535"/>
                </a:solidFill>
                <a:latin typeface="Arial"/>
              </a:rPr>
              <a:t>Sample Size Needed for 80% Power</a:t>
            </a:r>
          </a:p>
        </c:rich>
      </c:tx>
      <c:overlay val="0"/>
    </c:title>
    <c:autoTitleDeleted val="0"/>
    <c:plotArea>
      <c:layout/>
      <c:barChart>
        <c:barDir val="col"/>
        <c:grouping val="clustered"/>
        <c:varyColors val="0"/>
        <c:ser>
          <c:idx val="0"/>
          <c:order val="0"/>
          <c:tx>
            <c:strRef>
              <c:f>Sheet1!$B$1</c:f>
              <c:strCache>
                <c:ptCount val="1"/>
                <c:pt idx="0">
                  <c:v>n needed</c:v>
                </c:pt>
              </c:strCache>
            </c:strRef>
          </c:tx>
          <c:spPr>
            <a:solidFill>
              <a:srgbClr val="059669"/>
            </a:solidFill>
            <a:effectLst/>
          </c:spPr>
          <c:invertIfNegative val="0"/>
          <c:dPt>
            <c:idx val="0"/>
            <c:invertIfNegative val="0"/>
            <c:bubble3D val="0"/>
            <c:extLst>
              <c:ext xmlns:c16="http://schemas.microsoft.com/office/drawing/2014/chart" uri="{C3380CC4-5D6E-409C-BE32-E72D297353CC}">
                <c16:uniqueId val="{00000001-60A8-8649-A4BF-1FFC547A4546}"/>
              </c:ext>
            </c:extLst>
          </c:dPt>
          <c:dPt>
            <c:idx val="1"/>
            <c:invertIfNegative val="0"/>
            <c:bubble3D val="0"/>
            <c:spPr>
              <a:solidFill>
                <a:srgbClr val="D97706"/>
              </a:solidFill>
              <a:effectLst/>
            </c:spPr>
            <c:extLst>
              <c:ext xmlns:c16="http://schemas.microsoft.com/office/drawing/2014/chart" uri="{C3380CC4-5D6E-409C-BE32-E72D297353CC}">
                <c16:uniqueId val="{00000003-60A8-8649-A4BF-1FFC547A4546}"/>
              </c:ext>
            </c:extLst>
          </c:dPt>
          <c:dPt>
            <c:idx val="2"/>
            <c:invertIfNegative val="0"/>
            <c:bubble3D val="0"/>
            <c:spPr>
              <a:solidFill>
                <a:srgbClr val="D97706"/>
              </a:solidFill>
              <a:effectLst/>
            </c:spPr>
            <c:extLst>
              <c:ext xmlns:c16="http://schemas.microsoft.com/office/drawing/2014/chart" uri="{C3380CC4-5D6E-409C-BE32-E72D297353CC}">
                <c16:uniqueId val="{00000005-60A8-8649-A4BF-1FFC547A4546}"/>
              </c:ext>
            </c:extLst>
          </c:dPt>
          <c:dPt>
            <c:idx val="3"/>
            <c:invertIfNegative val="0"/>
            <c:bubble3D val="0"/>
            <c:spPr>
              <a:solidFill>
                <a:srgbClr val="6B7280"/>
              </a:solidFill>
              <a:effectLst/>
            </c:spPr>
            <c:extLst>
              <c:ext xmlns:c16="http://schemas.microsoft.com/office/drawing/2014/chart" uri="{C3380CC4-5D6E-409C-BE32-E72D297353CC}">
                <c16:uniqueId val="{00000007-60A8-8649-A4BF-1FFC547A4546}"/>
              </c:ext>
            </c:extLst>
          </c:dPt>
          <c:dPt>
            <c:idx val="4"/>
            <c:invertIfNegative val="0"/>
            <c:bubble3D val="0"/>
            <c:spPr>
              <a:solidFill>
                <a:srgbClr val="6B7280"/>
              </a:solidFill>
              <a:effectLst/>
            </c:spPr>
            <c:extLst>
              <c:ext xmlns:c16="http://schemas.microsoft.com/office/drawing/2014/chart" uri="{C3380CC4-5D6E-409C-BE32-E72D297353CC}">
                <c16:uniqueId val="{00000009-60A8-8649-A4BF-1FFC547A4546}"/>
              </c:ext>
            </c:extLst>
          </c:dPt>
          <c:dPt>
            <c:idx val="5"/>
            <c:invertIfNegative val="0"/>
            <c:bubble3D val="0"/>
            <c:spPr>
              <a:solidFill>
                <a:srgbClr val="6B7280"/>
              </a:solidFill>
              <a:effectLst/>
            </c:spPr>
            <c:extLst>
              <c:ext xmlns:c16="http://schemas.microsoft.com/office/drawing/2014/chart" uri="{C3380CC4-5D6E-409C-BE32-E72D297353CC}">
                <c16:uniqueId val="{0000000B-60A8-8649-A4BF-1FFC547A4546}"/>
              </c:ext>
            </c:extLst>
          </c:dPt>
          <c:dPt>
            <c:idx val="6"/>
            <c:invertIfNegative val="0"/>
            <c:bubble3D val="0"/>
            <c:spPr>
              <a:solidFill>
                <a:srgbClr val="6B7280"/>
              </a:solidFill>
              <a:effectLst/>
            </c:spPr>
            <c:extLst>
              <c:ext xmlns:c16="http://schemas.microsoft.com/office/drawing/2014/chart" uri="{C3380CC4-5D6E-409C-BE32-E72D297353CC}">
                <c16:uniqueId val="{0000000D-60A8-8649-A4BF-1FFC547A4546}"/>
              </c:ext>
            </c:extLst>
          </c:dPt>
          <c:dLbls>
            <c:numFmt formatCode="#,##0" sourceLinked="0"/>
            <c:spPr>
              <a:noFill/>
              <a:ln>
                <a:noFill/>
              </a:ln>
              <a:effectLst/>
            </c:spPr>
            <c:txPr>
              <a:bodyPr/>
              <a:lstStyle/>
              <a:p>
                <a:pPr>
                  <a:defRPr sz="1000" b="0" i="0" u="none" strike="noStrike">
                    <a:solidFill>
                      <a:srgbClr val="37415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H8
Polarization</c:v>
                </c:pt>
                <c:pt idx="1">
                  <c:v>H6
New Drug</c:v>
                </c:pt>
                <c:pt idx="2">
                  <c:v>H3
Drug Price</c:v>
                </c:pt>
                <c:pt idx="3">
                  <c:v>H5
Drug Age</c:v>
                </c:pt>
                <c:pt idx="4">
                  <c:v>H7
Cond. Div.</c:v>
                </c:pt>
                <c:pt idx="5">
                  <c:v>H2
Shortage</c:v>
                </c:pt>
                <c:pt idx="6">
                  <c:v>H1
Adverse Div.</c:v>
                </c:pt>
              </c:strCache>
            </c:strRef>
          </c:cat>
          <c:val>
            <c:numRef>
              <c:f>Sheet1!$B$2:$B$8</c:f>
              <c:numCache>
                <c:formatCode>General</c:formatCode>
                <c:ptCount val="7"/>
                <c:pt idx="0">
                  <c:v>31</c:v>
                </c:pt>
                <c:pt idx="1">
                  <c:v>117</c:v>
                </c:pt>
                <c:pt idx="2">
                  <c:v>196</c:v>
                </c:pt>
                <c:pt idx="3">
                  <c:v>286</c:v>
                </c:pt>
                <c:pt idx="4">
                  <c:v>404</c:v>
                </c:pt>
                <c:pt idx="5">
                  <c:v>945</c:v>
                </c:pt>
                <c:pt idx="6">
                  <c:v>2792</c:v>
                </c:pt>
              </c:numCache>
            </c:numRef>
          </c:val>
          <c:extLst>
            <c:ext xmlns:c16="http://schemas.microsoft.com/office/drawing/2014/chart" uri="{C3380CC4-5D6E-409C-BE32-E72D297353CC}">
              <c16:uniqueId val="{0000000E-60A8-8649-A4BF-1FFC547A454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5850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Welcome everyone. Today we are presenting our Web Mining final project
Here is the explanation of what this project is about.
We built a Healthcare Intelligence Platform. The idea is simple — patients write reviews about their medications online, the government publishes data about drug prices and shortages, and medical researchers publish studies about drug safety. All of this information exists separately, scattered across different databases. Nobody has combined it together to ask one question: does any of this information predict whether patients will be happy with their medication?
That is exactly what we did. We scraped 131,843 records from six different government and medical sources. We analyzed 50 of the most commonly prescribed drugs in the United States. We used text analysis and machine learning to find patterns.
I will walk you through how we collected the data. My teammates will cover the analysis and the results.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The primary question asks whether the measurable, structural characteristics of a drug — things like its price, whether it is currently in shortage, how many safety reports it has, and how many clinical trials have been done on it — can predict how satisfied patients are with that drug.
The three secondary questions build on this. First, can we use those same structural characteristics to predict which drugs are at risk of running out of supply? Second, can the actual words a patient writes in their review predict the star rating they give? Third, do drugs naturally group together into meaningful clusters based on their safety profiles, without us telling the computer what those groups should be?
Here is why these questions matter. Most research in this area looks at either clinical outcomes — what happens medically — or patient opinions — how patients feel. We are doing both at the same time, using data scraped directly from the web. That combination is what makes this a web mining project.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Here's our full data architecture. The pipeline moves left to right — from six data sources through three phases to a deployed dashboard.
Phase 1 is data collection: six scrapers running against government APIs and WebMD. Phase 2 is where the NLP and ML happen — sentiment analysis, topic modeling, clustering, and our satisfaction predictor. Phase 2C extends this with two new prediction problems. Phase 3 is the </a:t>
            </a:r>
            <a:r>
              <a:rPr lang="en-US" dirty="0" err="1"/>
              <a:t>Streamlit</a:t>
            </a:r>
            <a:r>
              <a:rPr lang="en-US" dirty="0"/>
              <a:t> dashboard.
The key numbers: 131,843 total records, 50 target drugs, 43 features in our final model. I'll walk through each source in detail over the next few slides.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WebMD is a health website where patients write reviews of their medications. Each review includes a star rating from 1 to 10, the condition being treated, the date, and a written comment. We collected 6,827 reviews across all 50 of our target drugs.
The first challenge was technical. WebMD builds its review pages using JavaScript — a programming language that runs in the browser. When we sent a simple web request, the server returned an empty page because the reviews had not been loaded yet. To get around this, we used a tool called Selenium, which launches a real Chrome browser, waits for the JavaScript to finish running, and then reads the fully loaded page.
The second challenge was that WebMD changed their web addresses mid-project. 37 of our 50 drugs were returning error pages. Each drug has a unique address ending called a slug. The correct format turned out to be the drug name followed by brand names followed by the word others. For example, lisinopril's correct address ending is lisinopril-prinivil-zestril-others. We had to find the correct address for  37 broken drugs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The National Average Drug Acquisition Cost, published by the Centers for Medicare and Medicaid Services, is a government database that records what pharmacies actually pay wholesalers to buy drugs. This is not the price patients pay at the counter — that is 20 to 40 percent higher after the pharmacy adds its markup. We chose this source because it is official government data, updated every Wednesday, and completely free to access.
We collected 86,742 price records by sending queries to the government's open data system asking for all records that contain each drug name.
The key limitation is that this database only covers generic drugs. Four of our 50 drugs do not have generic versions — they are sold exclusively under brand names. Those four are empagliflozin sold as Jardiance, semaglutide sold as Ozempic, dulaglutide sold as Trulicity, and apixaban sold as Eliquis. Since they are not in the database, we had to verify their prices manually by checking pharmacy sources. Semaglutide costs $1,109 per 30-day supply — making it our most expensive drug by a large margin.
This price gap is important because we later tested whether more expensive drugs have less satisfied patients.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ClinicalTrials.gov is the United States government registry where every medical research study must be registered before it begins. We queried this database and collected 9,331 trial records across our 50 drugs. From this data we calculated a feature called trial completion rate — the number of completed trials divided by the total number of trials ever registered for that drug. This number ranges from 0.40 for semaglutide, which is a newer drug with many trials still ongoing, to 0.83 for hydrochlorothiazide, which is an older drug that has been studied for decades and has a very mature evidence base.
The FDA shortage database records every drug that is currently difficult for pharmacies to obtain. The main challenge here was drug naming. In this database, drugs are listed using their full pharmaceutical description. For example, albuterol is listed as Albuterol Sulfate Inhalation Solution 0.083 percent. Our target drug list just says albuterol. We had to write code that checks whether each shortage record's name contains our drug name as a substring.
A key finding: 30 of our 50 target drugs have zero shortage records at all. This is not missing data — it is a real result. Common generic drugs like metformin and lisinopril have dozens of manufacturers. If one manufacturer has a problem, pharmacies simply buy from another.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The FDA Adverse Event Reporting System is a voluntary database where doctors, patients, and drug manufacturers submit reports when a drug causes an unexpected problem. We collected 24,100 reports across our 50 drugs.
There is an important limitation with this data. Every single record in our dataset is classified as serious. This is not because every side effect is life threatening — it is because of reporting behavior. People almost never file a formal report with the FDA when a drug causes a mild headache or minor nausea. They only report unusual, serious, or alarming events. This means we cannot use severity as a useful measurement because every drug scores identically. Instead we measured diversity — how many different types of problems each drug causes. This ranges from 73 unique problem types for atorvastatin to 370 for amoxicillin.
PubMed is the world's largest medical research database, maintained by the National Institutes of Health. We collected 7,181 research paper abstracts across our 50 drugs. This data served two purposes. First, we used it to create measurements — how many total papers exist for each drug, and what percentage were published in 2020 or later. Second, we mixed these abstracts into our text analysis training data. This helped our language model learn both how patients describe their experience and how doctors and scientists describe the same drugs.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table shows all six data sources in one place. Reading left to right — source name, number of records collected, the method we used to collect it, whether authentication was needed, the key measurement we extracted for our model, and the main challenge we faced.
Three things worth pointing out.
First, none of these databases required payment or account creation. They are all open government or public medical databases. This is a strength of the project — it is fully reproducible by anyone.
Second, the Key Feature column shows how each source feeds into our prediction model. WebMD reviews give us the outcome we are trying to predict — average patient satisfaction per drug. Every other source gives us a predictor.
Third, note the three challenges in the last column. WebMD required browser automation because of JavaScript. The FDA shortage database required text matching because of how drug names are formatted. The adverse event database had a severity measurement that was identical for all 50 drugs and therefore useless.
I will now hand over to my teammate who will explain how we analyzed all of this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The first striking number is 56 percent negative. More than half of all drug reviews on WebMD are negative. This makes sense when you think about human behavior — if a medication is working well and you have no problems, you probably do not take the time to write a review. But if a medication is causing side effects or is not working, you are much more motivated to warn other patients. Researchers call this negativity bias in online reviews.
The most interesting individual drug result is losartan, which has the worst patient satisfaction score of negative 0.673. Here is what makes this striking: losartan costs only $1.42 per 30-day supply, it has never been in shortage, and it has plenty of completed clinical trials. By every structural measure it looks like a great drug. But patients hate it. The reason is a dry persistent cough that the drug causes in roughly 15 to 20 percent of patients — a side effect driven purely by how the drug works in the body, not by anything we can measure from databases.
This single observation — cheap, available, well-studied drug with terrible patient ratings — is a preview of our main finding. Structural characteristics cannot explain patient satisfaction.
The shortage pie chart shows that 97.6 percent of FDA shortage records are currently active, meaning the shortage is still ongoing. This is an extraordinary statistic about the state of the US drug supply chain.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 Speaker 2 takes over here.
Speaker 1 handoff line: "That covers everything about how we collected the data. I will now hand over to my teammate who will explain how we analyzed 6,827 patient reviews using text analysis and built our machine learning models."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Every patient review is a piece of text — words written by a patient describing their experience with a medication. To analyze 6,827 reviews, we needed an automated way to measure whether each review is positive, negative, or neutral. This is called sentiment analysis.
We used a tool called VADER, which stands for Valence Aware Dictionary and Sentiment Reasoner. Here is how it works in simple terms. VADER has a dictionary of 7,500 words, and each word has been given a score between negative 4 and positive 4 based on how negative or positive it is. For example, the word horrible has a score of negative 3.4, and the word miracle has a score of positive 3.5.
VADER also applies five special rules on top of the dictionary. If a word is written in all capitals — like HORRIBLE — the negative score is increased. If there are multiple exclamation marks — like great!!! — the positive score is increased. If a word like very appears before an adjective, the score is amplified. If a negation word like not appears before a word, the direction is flipped. And if a contrast word like but appears, more weight is given to the second half of the sentence.
The final output for each review is a compound score between negative 1 and positive 1. We labelled any review above positive 0.05 as positive, below negative 0.05 as negative, and in between as neutral.
We also ran every review through a second tool called TextBlob as a cross-check. TextBlob uses a different method to calculate a similar score. When both tools agreed that a review was negative, we had higher confidence in that label.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We wanted a machine learning model that could automatically read a new review and predict whether it is positive or negative. To train such a model, we first had to convert the text into numbers — because machine learning algorithms only work with numbers, not words.
We used a technique called term frequency–inverse document frequency weighting, which creates 5,000 numerical columns, one for each of the most important words and two-word phrases in our review collection. Each review becomes a row of 5,000 numbers, where most numbers are zero — the review only uses a small fraction of the 5,000 possible words. This type of data is called sparse.
We trained four different classification algorithms on this numerical representation and measured how accurately each one predicted the correct label on reviews it had never seen before.
Logistic Regression won with 76 percent accuracy and a quality score of 0.863. Here is the explanation of why it performed best. Sentiment is a fundamentally linear problem. The word horrible makes a review negative. The word miracle makes it positive. Each word contributes independently to the overall direction. Logistic Regression is specifically designed to learn one weight per word and find the straight-line boundary between positive and negative. It is perfectly suited to this type of problem.
Random Forest struggled because it works by asking a series of yes or no questions about one word at a time. With 5,000 possible words and most reviews only using a few hundred of them, the algorithm frequently picks uninformative words to split on and misses the important ones.
Naive Bayes assumes that every word in a review is independent of every other word. This assumption is wrong for patient reviews. The phrase not helpful means something completely different from the words not and helpful considered separately. Naive Bayes cannot capture this.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Topic modeling is a type of unsupervised learning. The word unsupervised means we did not give the algorithm any labels or categories in advance. We simply gave it 3,068 patient reviews and said: find eight groups of related words. The algorithm read through all the reviews and figured out on its own which words tend to appear together.
The result is eight topics, each represented by a cluster of words that frequently appear in the same reviews. The algorithm does not name the topics — we gave them names after seeing what words were in each group.
Topic 1 contains words like side, effects, fatigue, weight, hair, and loss — so we named it Side Effects. Topic 3 contains words like works, helped, great, pain, relief, and better — we named it Effectiveness. Topic 5 contains words like anxiety, depression, mood, sleep, and panic — we named it Mental Health.
Here is what makes this finding valuable. The algorithm had no medical knowledge. It did not know that blood, pressure, heart, and rate all relate to cardiovascular health. It discovered that connection purely from the patterns of which words patients write together in the same review. The fact that the eight discovered topics align almost perfectly with real clinical categories confirms that our data is capturing genuine patient experiences, not random noise.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how we grouped drugs by their side effect profiles.
We used a clustering algorithm called K-Means. The input was not the patient reviews — it was the adverse event data from the FDA reporting system. We built a table with 50 rows, one per drug, and 2,518 columns, one per type of adverse event. Each cell contained how many times that event was reported for that drug. We then asked K-Means to find five natural groups within this table.
The results are medically remarkable. The algorithm put warfarin, apixaban, and rivaroxaban together in one group — these are all blood thinning medications and they share a common set of bleeding-related adverse events. It put sertraline, escitalopram, and alprazolam together — these are all psychiatric medications affecting the brain and nervous system. It grouped the two insulin types together as a perfect pair because they share identical injection-site and blood sugar related event profiles.
Most interesting of all: semaglutide ended up completely alone in its own group. No other drug matched its adverse event profile. This makes medical sense because semaglutide works through a completely different mechanism from every other drug in our study — it targets a receptor in the gut and brain that no other drug in our dataset targets. The computer discovered this uniqueness without being told anything about how the drug works.
Here is why this matters for our project. We used this clustering result as evidence that our adverse event data is capturing real pharmacological differences between drugs, not just noise.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Word2Vec and what it does.
Word2Vec is a technique that converts every word in our text collection into a list of 100 numbers. These numbers are not random — they are calculated so that words which appear in similar contexts end up with similar number lists. Words that appear near each other in reviews, in similar kinds of sentences, end up with similar numerical representations.
Here is a concrete example. The word stomach appears frequently in the same reviews as the words omeprazole, reflux, acid, and heartburn. After training, all of these words end up with similar number lists. If you ask the model what words are most similar to stomach, it returns omeprazole, reflux, acid, and heartburn — because that is what patients talk about in the same breath.
Similarly, the word blood pressure appears near lisinopril, losartan, monitor, and readings. The model learns these associations from the reviews themselves without any medical instruction.
The PubMed research abstracts played an important role here. Patient reviews use informal language — tired, hurts, feels weird. Medical abstracts use formal clinical language — fatigue, analgesic, adverse reaction. By mixing both types of text during training, the model learned that tired and fatigue are the same concept, and that both connect to beta blocker medications like metoprolol. This creates a much richer vocabulary understanding than reviews alone would produce.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This slide is about something we did to make our machine learning model smarter — we call it feature engineering. Think of it like giving a student better study materials before an exam.
We started with 10 pieces of information per drug — things like price, shortage history, and adverse event counts. The model trained on those 10 features performed poorly. So we went back and created 33 additional pieces of information, bringing the total to 43 features.
Here is what each new feature means in plain English:
DRUG CLASS — We sorted all 50 drugs into medical categories. For example, metformin, empagliflozin, and semaglutide are all diabetes drugs. Losartan and verapamil are both blood pressure drugs. We gave the model a yes or no column for each of the 27 categories. This turned out to be the most powerful thing we added, because knowing a drug's category tells the model something about its side effect profile that price or shortage data simply cannot.
DRUG AGE — We calculated how old each drug is, measured from the year it received FDA approval. Older drugs like warfarin have 70 years of patient experience. Newer drugs like semaglutide have only 7. Newer drugs tend to have less understood side effects, which we expected would lower patient satisfaction.
SENTIMENT POLARIZATION — For each drug, we measured how different the patient reviews were from each other. Some drugs get consistently negative reviews. Others get a mix — some patients call them a miracle, others call them the worst drug they ever took. We measured this spread and gave it a number.
CONDITION DIVERSITY — We counted how many different medical conditions patients mentioned when reviewing each drug. A drug used for 10 different conditions serves a much more varied group of patients than one used only for a single condition.
REVIEW RECENCY — We calculated what percentage of each drug's reviews were written in 2020 or later. Recent reviews are more relevant because they reflect the current version of the drug and today's prescribing practices.
Now — how did we test the model? We used something called Leave-One-Out cross-validation. Here is the plain English explanation:
Imagine you have 50 drugs. You remove drug number 1 from the training data. You train the model on the remaining 49 drugs. Then you ask: can the model correctly predict drug number 1's satisfaction score? You record whether it was right or wrong. Then you put drug 1 back, remove drug 2, retrain on the other 49, and try to predict drug 2. You repeat this 50 times — once for every drug — each time leaving a different drug out.
The reason we use this method instead of the more common approach is simple: we only have 50 drugs. The standard approach, called k-fold validation, splits the data into groups of roughly 10. With only 50 drugs, groups of 10 are too small to train a reliable model. Leave-One-Out uses the maximum possible training data every time — 49 out of 50 — which gives the most accurate performance estimate we can get from our dataset.
The result: our enhanced model with 43 features achieved a score of plus 0.017, compared to minus 0.23 for the baseline model. This is a real improvement of plus 0.248.</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This chart shows how our model performed before and after the feature engineering improvements we just discussed.
On the horizontal axis you see four versions of the model. On the vertical axis is a score called R-squared. Here is what R-squared means in plain language:
An R-squared of 1.0 would mean the model perfectly predicts patient satisfaction for every drug. An R-squared of 0 means the model does no better than simply predicting the average satisfaction score for every drug. An R-squared below zero means the model is actually worse than just guessing the average — it is making predictions that are further from the truth than doing nothing at all.
Look at the first two bars — the baseline models using only the original 10 features. Both are below zero. The model was doing worse than random guessing. This happened because with only structural features like price and shortage count, there is not enough information to predict patient satisfaction.
Now look at the last bar — the enhanced Random Forest model with 43 features. It crosses above zero for the first time, reaching plus 0.017. This is a small number, but it represents a real breakthrough. The model now correctly outperforms random guessing, which the baseline never achieved.
The improvement came almost entirely from adding drug class as a feature. Once the model knew that losartan is a blood pressure drug in the ARB category — a category known for causing dry cough — it could use that information to understand why losartan has the worst patient satisfaction of all 50 drugs.
Why is the final score still low despite the improvement? Three reasons.
First, we only have 50 drugs. A model trying to learn patterns from 50 data points, even with 43 features, does not have enough examples to learn reliably.
Second, patient satisfaction varies enormously within the same drug. Two patients both taking metformin can have completely opposite experiences depending on their age, other medications, and what condition they are treating. Our model only knows drug-level information — it does not know anything about the individual patient.
Third — and this is the most important scientific insight — the fact that we cannot predict satisfaction well from structural data IS the finding. It tells us that patient satisfaction is driven by pharmacological mechanism and individual patient factors, not by price, availability, or how much research has been done on a drug. This is a meaningful contribution to pharmacovigilance research.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the hypothesis testing table.
We tested eight specific predictions about what might drive patient satisfaction. For each prediction, we measured the correlation between that factor and the average satisfaction score across all 50 drugs. A correlation close to positive 1 means the two things move together in the same direction. A correlation close to negative 1 means they move in opposite directions. A correlation close to zero means there is no relationship.
Looking at the table, only one hypothesis is highlighted in green as confirmed — Hypothesis 8, which predicted that more polarizing drugs would have higher average satisfaction. The correlation is positive 0.485 with a statistical confidence value of 0.021. Here is why this result is surprising. We originally predicted that polarizing drugs would have lower satisfaction, because some patients hate them. The data showed the opposite. Drugs that divide opinion have higher average satisfaction because the patients they work well for write extremely enthusiastic reviews — words like miracle drug and life changer — that pull the average up strongly.
Hypotheses 3 and 6 are shown in amber, meaning they show a trend in the right direction but did not reach the standard threshold for statistical confidence.
Most hypotheses are in gray — the correlation is in the right direction but not strong enough to be statistically confident with only 50 drugs. My teammate will explain exactly why in the next section — it comes down to how many drugs we would need to confirm each finding.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 Speaker 3 takes over.
Speaker 2 handoff line: "That covers the text analysis and machine learning models. I will now hand over to my teammate who will present our two new prediction experiments, explain why most of our hypotheses did not reach statistical significance, and walk through our overall conclusions."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drug shortage prediction experiment.
We asked the question: given what we know about a drug — its price, how many manufacturers make it, what dosage form it comes in — can a machine learning model predict whether that drug will end up in the FDA shortage database?
We trained five different models and measured how well each one separated drugs that shortage from drugs that do not. Our best result came from a Random Forest model with enhanced features, which achieved a quality score of 0.792 out of a maximum of 1.0. To put this in context, a score of 0.5 would mean the model is guessing randomly. A score of 0.792 means the model is substantially better than chance.
The most important new feature we added was therapeutic substitutability. Here is the explanation. For each drug, we asked: if this drug runs out, can a doctor prescribe a different drug that does the same job? For furosemide, which is used intravenously in hospitals for emergency fluid removal, there is no good substitute. For albuterol, which is used for acute asthma attacks, there is no equivalent inhaler that works as quickly. For insulin, patients cannot simply switch to a different type without medical supervision. These drugs with no substitute showed a strong correlation with shortage — correlation of negative 0.423 with a statistical confidence value of 0.002.
The price variable also improved significantly when we applied a mathematical transformation called a logarithm. Here is the explanation. The relationship between price and shortage is not straight — the difference between a $5 drug and a $50 drug matters more than the difference between a $1,000 drug and a $1,050 drug. The logarithm compresses the scale appropriately. After this transformation, the correlation with shortage improved from 0.245 to 0.476.</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our patient star rating prediction experiment.
We asked a different question here: given only the words a patient wrote in their review, can a model predict what star rating between 1 and 10 they gave? We did not use any database information — only the text itself.
We trained a regression model called Ridge regression on the word-number representation of 6,688 reviews that had valid star ratings. The model explained 23.8 percent of the variation in star ratings. This means that reading the text alone and understanding the words accounts for nearly a quarter of why different patients give different scores.
We then tested whether adding structural drug information — price, shortage count, number of adverse events — would improve the prediction further. It did not. The score actually dropped very slightly from 0.2376 to 0.2337. This is a direct confirmation from a completely different experiment of the same finding we saw in our satisfaction predictor: the structural characteristics of a drug add no predictive power beyond what patients already express in their own words.
The most striking finding in this experiment came from looking at which specific words had the strongest influence on predicted ratings. The word shortage had the single most negative influence of any word — stronger than worse, horrible, worst, and useless. Patients who mentioned that their medication was unavailable gave dramatically lower star ratings than patients who used any other negative word.
Here is why this connects our two experiments. Structural shortage data by itself is a weak predictor of satisfaction. But when patients experience an actual shortage and write about it, that experience devastates their rating. The human impact of shortage shows up in the text even when the database flag is too blunt to capture 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why most of our hypotheses did not reach statistical confidence.
When researchers test a hypothesis, the number of data points they have directly affects their ability to detect a real relationship. This is called statistical power. If you have very few data points, even a genuine relationship can be invisible in the noise. You need enough observations to see the signal clearly.
We ran a calculation for each hypothesis asking: given the size of the relationship we observed, how many drugs would we need to be 80 percent confident of detecting it? The chart shows the answer for each hypothesis alongside the 50 drugs we actually had.
Hypothesis 8, about sentiment polarization, only required 31 drugs to detect. We had 50, which is enough. That is why it showed as statistically significant.
Hypothesis 6, about new drugs having lower satisfaction, requires 117 drugs. We have 50 — less than half of what is needed. This explains the marginal result.
Hypothesis 3, about price and satisfaction, requires 196 drugs. We have only one quarter of the needed amount. The relationship is probably real — the direction is correct and the correlation of negative 0.199 is meaningful — but with only 50 drugs we cannot prove it to the standard scientific threshold.
Hypothesis 1, about adverse event diversity, is a special case. It would require 2,792 drugs. That is not an underpowered study — that is a signal telling us the effect is genuinely too small to matter. The number of different types of adverse events a drug has simply does not predict patient satisfaction in any meaningful way.
Here is the key takeaway. Seven out of eight hypotheses point in the correct direction. Our theoretical framework is right. We just need more drugs to prove it conclusively. Expanding from 50 to 200 drugs would very likely confirm the price and satisfaction relationship at the standard 95 percent confidence level.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Here is the explanation of each key finding.
Finding 1 is about drug category. When we added the therapeutic category of each drug as a feature — knowing whether it is a statin, an antidepressant, a blood pressure medication, or an opioid — the model performance improved dramatically. This is because category captures how a drug works in the body, and how a drug works determines what side effects it causes, and side effects are what patients are actually writing about in their reviews. No database of prices and shortage counts can capture this. Only pharmacological category can.
Finding 2 is about polarization. Drugs that divide patient opinion — where some patients call them miracle drugs and others call them the worst medication they ever tried — actually have higher average satisfaction scores. The patients who benefit write extremely enthusiastic reviews that raise the average more than the negative reviews lower it.
Finding 3 is about shortage risk. Drugs that have no medical alternative if they run out are significantly more likely to actually run out. Hospitals cannot simply switch patients to a different drug when furosemide, albuterol, or insulin becomes unavailable. This finding is directly actionable — hospital pharmacists can use it to decide which drugs need larger buffer stock.
Finding 4 is about the word shortage in patient reviews. It is the single most destructive word a patient can write — more negative in its effect on predicted ratings than horrible, worst, or useless. This shows that supply disruptions cause real and measurable damage to patient experience.
Finding 5 is about the 30 drugs with zero shortage records. This is not missing data. Mature generic drugs with many manufacturers are genuinely supply-stable. The drug supply system is resilient for commodity medications and fragile for specialized ones.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how our work compares to what was done before, and where it could go next.
Previous studies in this area typically used one data source — usually just patient reviews — and looked at a small number of drugs, sometimes just one. They reported accuracy numbers but rarely applied hypothesis testing or calculated how many more samples would be needed to confirm their findings. None of them attempted to predict drug shortage risk.
Our work used six data sources, analyzed 50 drugs systematically, applied formal hypothesis testing with power analysis, and built a shortage prediction model as a new contribution.
For future directions, the most important next step is simply expanding from 50 drugs to 200 or more. All six of our data sources are completely free and publicly accessible. Scraping 200 drugs instead of 50 would cost only computing time, and it would give us enough statistical power to confirm whether the price and satisfaction relationship is real at the 95 percent confidence level.
The second most impactful direction would be adding patient-level information. Right now we know things about the drug — its price, its shortage history, its clinical trial count. We do not know anything about the individual patient writing the review — their age, other medications they take, how severe their condition is. Adding that level of detail would require access to insurance claims data, but it would likely improve prediction substantially.
The third direction is building a real-time shortage alert system. Our six data sources are all updated regularly. An automated system could monitor the FDA shortage database daily and send alerts when any of our target drugs appears.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what we accomplished in this project and what the main takeaway is.
We scraped 131,843 records from six data sources — WebMD patient reviews, government drug pricing, clinical trial registries, FDA shortage data, FDA adverse event reports, and medical research abstracts. We applied text analysis to 6,827 patient reviews and classified each one as positive, negative, or neutral with 76 percent accuracy. We discovered eight clinical themes that patients write about most frequently. We grouped 50 drugs into five meaningful clusters based purely on their side effect profiles — with no medical labels given to the algorithm. We built a drug shortage prediction model that achieves a quality score of 0.792. And we tested eight formal hypotheses about what predicts patient satisfaction.
Here is the single most important insight from the entire project.
Patient satisfaction with prescription medications cannot be predicted from structural database information alone. Knowing a drug's price, whether it is in shortage, how many adverse events it has been linked to, and how many clinical trials have been done on it does not tell you whether patients will be happy taking it. What predicts satisfaction is how the drug works in the body — its pharmacological mechanism — and that is captured by drug category, not by any government database.
However — those same structural features are excellent predictors of a different outcome: which drugs will run out of supply. Price, dosage form, whether a substitute exists — these things do predict shortage risk well.
The practical conclusion is that if you want to understand patient experience, you need to read what patients write. If you want to understand supply risk, you need to analyze structural and logistical characteristics. Both questions matter and both require different data.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A1028"/>
        </a:solidFill>
        <a:effectLst/>
      </p:bgPr>
    </p:bg>
    <p:spTree>
      <p:nvGrpSpPr>
        <p:cNvPr id="1" name=""/>
        <p:cNvGrpSpPr/>
        <p:nvPr/>
      </p:nvGrpSpPr>
      <p:grpSpPr>
        <a:xfrm>
          <a:off x="0" y="0"/>
          <a:ext cx="0" cy="0"/>
          <a:chOff x="0" y="0"/>
          <a:chExt cx="0" cy="0"/>
        </a:xfrm>
      </p:grpSpPr>
      <p:sp>
        <p:nvSpPr>
          <p:cNvPr id="2" name="Shape 0"/>
          <p:cNvSpPr/>
          <p:nvPr/>
        </p:nvSpPr>
        <p:spPr>
          <a:xfrm>
            <a:off x="6858000" y="-914400"/>
            <a:ext cx="4114800" cy="4114800"/>
          </a:xfrm>
          <a:prstGeom prst="ellipse">
            <a:avLst/>
          </a:prstGeom>
          <a:solidFill>
            <a:srgbClr val="FFFFFF">
              <a:alpha val="7000"/>
            </a:srgbClr>
          </a:solidFill>
          <a:ln w="12700">
            <a:solidFill>
              <a:srgbClr val="FFFFFF"/>
            </a:solidFill>
            <a:prstDash val="solid"/>
          </a:ln>
        </p:spPr>
        <p:txBody>
          <a:bodyPr/>
          <a:lstStyle/>
          <a:p>
            <a:endParaRPr lang="en-US"/>
          </a:p>
        </p:txBody>
      </p:sp>
      <p:sp>
        <p:nvSpPr>
          <p:cNvPr id="3" name="Shape 1"/>
          <p:cNvSpPr/>
          <p:nvPr/>
        </p:nvSpPr>
        <p:spPr>
          <a:xfrm>
            <a:off x="7772400" y="2286000"/>
            <a:ext cx="2743200" cy="2743200"/>
          </a:xfrm>
          <a:prstGeom prst="ellipse">
            <a:avLst/>
          </a:prstGeom>
          <a:solidFill>
            <a:srgbClr val="FFFFFF">
              <a:alpha val="10000"/>
            </a:srgbClr>
          </a:solidFill>
          <a:ln w="12700">
            <a:solidFill>
              <a:srgbClr val="FFFFFF"/>
            </a:solidFill>
            <a:prstDash val="solid"/>
          </a:ln>
        </p:spPr>
        <p:txBody>
          <a:bodyPr/>
          <a:lstStyle/>
          <a:p>
            <a:endParaRPr lang="en-US"/>
          </a:p>
        </p:txBody>
      </p:sp>
      <p:sp>
        <p:nvSpPr>
          <p:cNvPr id="4" name="Text 2"/>
          <p:cNvSpPr/>
          <p:nvPr/>
        </p:nvSpPr>
        <p:spPr>
          <a:xfrm>
            <a:off x="457200" y="457200"/>
            <a:ext cx="8229600" cy="320040"/>
          </a:xfrm>
          <a:prstGeom prst="rect">
            <a:avLst/>
          </a:prstGeom>
          <a:noFill/>
          <a:ln/>
        </p:spPr>
        <p:txBody>
          <a:bodyPr wrap="square" rtlCol="0" anchor="ctr"/>
          <a:lstStyle/>
          <a:p>
            <a:pPr marL="0" indent="0">
              <a:buNone/>
            </a:pPr>
            <a:r>
              <a:rPr lang="en-US" sz="900" kern="0" spc="300" dirty="0">
                <a:solidFill>
                  <a:srgbClr val="FFFFFF"/>
                </a:solidFill>
                <a:latin typeface="Calibri" pitchFamily="34" charset="0"/>
                <a:ea typeface="Calibri" pitchFamily="34" charset="-122"/>
                <a:cs typeface="Calibri" pitchFamily="34" charset="-120"/>
              </a:rPr>
              <a:t>BIA-660  ·  WEB MINING  ·  STEVENS INSTITUTE OF TECHNOLOGY</a:t>
            </a:r>
            <a:endParaRPr lang="en-US" sz="900" dirty="0"/>
          </a:p>
        </p:txBody>
      </p:sp>
      <p:sp>
        <p:nvSpPr>
          <p:cNvPr id="5" name="Text 3"/>
          <p:cNvSpPr/>
          <p:nvPr/>
        </p:nvSpPr>
        <p:spPr>
          <a:xfrm>
            <a:off x="457200" y="914400"/>
            <a:ext cx="6858000" cy="2560320"/>
          </a:xfrm>
          <a:prstGeom prst="rect">
            <a:avLst/>
          </a:prstGeom>
          <a:noFill/>
          <a:ln/>
        </p:spPr>
        <p:txBody>
          <a:bodyPr wrap="square" rtlCol="0" anchor="ctr"/>
          <a:lstStyle/>
          <a:p>
            <a:pPr marL="0" indent="0">
              <a:lnSpc>
                <a:spcPct val="110000"/>
              </a:lnSpc>
              <a:buNone/>
            </a:pPr>
            <a:r>
              <a:rPr lang="en-US" sz="5200" b="1" dirty="0">
                <a:solidFill>
                  <a:srgbClr val="FFFFFF"/>
                </a:solidFill>
                <a:latin typeface="Trebuchet MS" pitchFamily="34" charset="0"/>
                <a:ea typeface="Trebuchet MS" pitchFamily="34" charset="-122"/>
                <a:cs typeface="Trebuchet MS" pitchFamily="34" charset="-120"/>
              </a:rPr>
              <a:t>Healthcare</a:t>
            </a:r>
            <a:endParaRPr lang="en-US" sz="5200" dirty="0"/>
          </a:p>
          <a:p>
            <a:pPr marL="0" indent="0">
              <a:lnSpc>
                <a:spcPct val="110000"/>
              </a:lnSpc>
              <a:buNone/>
            </a:pPr>
            <a:r>
              <a:rPr lang="en-US" sz="5200" b="1" dirty="0">
                <a:solidFill>
                  <a:srgbClr val="FFFFFF"/>
                </a:solidFill>
                <a:latin typeface="Trebuchet MS" pitchFamily="34" charset="0"/>
                <a:ea typeface="Trebuchet MS" pitchFamily="34" charset="-122"/>
                <a:cs typeface="Trebuchet MS" pitchFamily="34" charset="-120"/>
              </a:rPr>
              <a:t>Intelligence</a:t>
            </a:r>
            <a:endParaRPr lang="en-US" sz="5200" dirty="0"/>
          </a:p>
          <a:p>
            <a:pPr marL="0" indent="0">
              <a:lnSpc>
                <a:spcPct val="110000"/>
              </a:lnSpc>
              <a:buNone/>
            </a:pPr>
            <a:r>
              <a:rPr lang="en-US" sz="5200" b="1" dirty="0">
                <a:solidFill>
                  <a:srgbClr val="FFFFFF"/>
                </a:solidFill>
                <a:latin typeface="Trebuchet MS" pitchFamily="34" charset="0"/>
                <a:ea typeface="Trebuchet MS" pitchFamily="34" charset="-122"/>
                <a:cs typeface="Trebuchet MS" pitchFamily="34" charset="-120"/>
              </a:rPr>
              <a:t>Platform</a:t>
            </a:r>
            <a:endParaRPr lang="en-US" sz="5200" dirty="0"/>
          </a:p>
        </p:txBody>
      </p:sp>
      <p:sp>
        <p:nvSpPr>
          <p:cNvPr id="6" name="Text 4"/>
          <p:cNvSpPr/>
          <p:nvPr/>
        </p:nvSpPr>
        <p:spPr>
          <a:xfrm>
            <a:off x="457200" y="3566160"/>
            <a:ext cx="6858000" cy="457200"/>
          </a:xfrm>
          <a:prstGeom prst="rect">
            <a:avLst/>
          </a:prstGeom>
          <a:noFill/>
          <a:ln/>
        </p:spPr>
        <p:txBody>
          <a:bodyPr wrap="square"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Drug Intelligence through Multi-Source Web Mining and NLP</a:t>
            </a:r>
            <a:endParaRPr lang="en-US" sz="1600" dirty="0"/>
          </a:p>
        </p:txBody>
      </p:sp>
      <p:sp>
        <p:nvSpPr>
          <p:cNvPr id="7" name="Shape 5"/>
          <p:cNvSpPr/>
          <p:nvPr/>
        </p:nvSpPr>
        <p:spPr>
          <a:xfrm>
            <a:off x="457200" y="4160520"/>
            <a:ext cx="3200400" cy="0"/>
          </a:xfrm>
          <a:prstGeom prst="line">
            <a:avLst/>
          </a:prstGeom>
          <a:noFill/>
          <a:ln w="19050">
            <a:solidFill>
              <a:srgbClr val="FFFFFF">
                <a:alpha val="40000"/>
              </a:srgbClr>
            </a:solidFill>
            <a:prstDash val="solid"/>
          </a:ln>
        </p:spPr>
        <p:txBody>
          <a:bodyPr/>
          <a:lstStyle/>
          <a:p>
            <a:endParaRPr lang="en-US"/>
          </a:p>
        </p:txBody>
      </p:sp>
      <p:sp>
        <p:nvSpPr>
          <p:cNvPr id="8" name="Text 6"/>
          <p:cNvSpPr/>
          <p:nvPr/>
        </p:nvSpPr>
        <p:spPr>
          <a:xfrm>
            <a:off x="457200" y="4297680"/>
            <a:ext cx="640080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131,843 Records  ·  6 Sources  ·  50 Drugs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365760" y="201168"/>
            <a:ext cx="2377440" cy="256032"/>
          </a:xfrm>
          <a:prstGeom prst="rect">
            <a:avLst/>
          </a:prstGeom>
          <a:solidFill>
            <a:srgbClr val="9D1535"/>
          </a:solidFill>
          <a:ln w="12700">
            <a:solidFill>
              <a:srgbClr val="9D1535"/>
            </a:solidFill>
            <a:prstDash val="solid"/>
          </a:ln>
        </p:spPr>
        <p:txBody>
          <a:bodyPr/>
          <a:lstStyle/>
          <a:p>
            <a:endParaRPr lang="en-US"/>
          </a:p>
        </p:txBody>
      </p:sp>
      <p:sp>
        <p:nvSpPr>
          <p:cNvPr id="3" name="Text 1"/>
          <p:cNvSpPr/>
          <p:nvPr/>
        </p:nvSpPr>
        <p:spPr>
          <a:xfrm>
            <a:off x="365760" y="201168"/>
            <a:ext cx="2377440"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rPr>
              <a:t> PROJECT OVERVIEW</a:t>
            </a:r>
            <a:endParaRPr lang="en-US" sz="800" dirty="0"/>
          </a:p>
        </p:txBody>
      </p:sp>
      <p:sp>
        <p:nvSpPr>
          <p:cNvPr id="4" name="Text 2"/>
          <p:cNvSpPr/>
          <p:nvPr/>
        </p:nvSpPr>
        <p:spPr>
          <a:xfrm>
            <a:off x="365760" y="566928"/>
            <a:ext cx="8412480" cy="640080"/>
          </a:xfrm>
          <a:prstGeom prst="rect">
            <a:avLst/>
          </a:prstGeom>
          <a:noFill/>
          <a:ln/>
        </p:spPr>
        <p:txBody>
          <a:bodyPr wrap="square" rtlCol="0" anchor="ctr"/>
          <a:lstStyle/>
          <a:p>
            <a:pPr marL="0" indent="0">
              <a:buNone/>
            </a:pPr>
            <a:r>
              <a:rPr lang="en-US" sz="2800" b="1" dirty="0">
                <a:solidFill>
                  <a:srgbClr val="111827"/>
                </a:solidFill>
                <a:latin typeface="Trebuchet MS" pitchFamily="34" charset="0"/>
                <a:ea typeface="Trebuchet MS" pitchFamily="34" charset="-122"/>
                <a:cs typeface="Trebuchet MS" pitchFamily="34" charset="-120"/>
              </a:rPr>
              <a:t>What Are We Trying to Answer?</a:t>
            </a:r>
            <a:endParaRPr lang="en-US" sz="2800" dirty="0"/>
          </a:p>
        </p:txBody>
      </p:sp>
      <p:sp>
        <p:nvSpPr>
          <p:cNvPr id="5" name="Shape 3"/>
          <p:cNvSpPr/>
          <p:nvPr/>
        </p:nvSpPr>
        <p:spPr>
          <a:xfrm>
            <a:off x="365760" y="1298448"/>
            <a:ext cx="8412480" cy="0"/>
          </a:xfrm>
          <a:prstGeom prst="line">
            <a:avLst/>
          </a:prstGeom>
          <a:noFill/>
          <a:ln w="12700">
            <a:solidFill>
              <a:srgbClr val="E5E7EB"/>
            </a:solidFill>
            <a:prstDash val="solid"/>
          </a:ln>
        </p:spPr>
        <p:txBody>
          <a:bodyPr/>
          <a:lstStyle/>
          <a:p>
            <a:endParaRPr lang="en-US"/>
          </a:p>
        </p:txBody>
      </p:sp>
      <p:sp>
        <p:nvSpPr>
          <p:cNvPr id="6" name="Shape 4"/>
          <p:cNvSpPr/>
          <p:nvPr/>
        </p:nvSpPr>
        <p:spPr>
          <a:xfrm>
            <a:off x="0" y="4800600"/>
            <a:ext cx="9144000" cy="347472"/>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365760" y="4809744"/>
            <a:ext cx="7315200" cy="274320"/>
          </a:xfrm>
          <a:prstGeom prst="rect">
            <a:avLst/>
          </a:prstGeom>
          <a:noFill/>
          <a:ln/>
        </p:spPr>
        <p:txBody>
          <a:bodyPr wrap="square" rtlCol="0" anchor="ctr"/>
          <a:lstStyle/>
          <a:p>
            <a:pPr marL="0" indent="0">
              <a:buNone/>
            </a:pPr>
            <a:endParaRPr lang="en-US" sz="900" dirty="0"/>
          </a:p>
        </p:txBody>
      </p:sp>
      <p:sp>
        <p:nvSpPr>
          <p:cNvPr id="8" name="Text 6"/>
          <p:cNvSpPr/>
          <p:nvPr/>
        </p:nvSpPr>
        <p:spPr>
          <a:xfrm>
            <a:off x="4572000" y="4809744"/>
            <a:ext cx="4389120" cy="274320"/>
          </a:xfrm>
          <a:prstGeom prst="rect">
            <a:avLst/>
          </a:prstGeom>
          <a:noFill/>
          <a:ln/>
        </p:spPr>
        <p:txBody>
          <a:bodyPr wrap="square" rtlCol="0" anchor="ctr"/>
          <a:lstStyle/>
          <a:p>
            <a:pPr marL="0" indent="0" algn="r">
              <a:buNone/>
            </a:pPr>
            <a:endParaRPr lang="en-US" sz="900" dirty="0"/>
          </a:p>
        </p:txBody>
      </p:sp>
      <p:sp>
        <p:nvSpPr>
          <p:cNvPr id="9" name="Text 7"/>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AAAAAA"/>
                </a:solidFill>
              </a:rPr>
              <a:t>2 / 25</a:t>
            </a:r>
            <a:endParaRPr lang="en-US" sz="900" dirty="0"/>
          </a:p>
        </p:txBody>
      </p:sp>
      <p:sp>
        <p:nvSpPr>
          <p:cNvPr id="10" name="Shape 8"/>
          <p:cNvSpPr/>
          <p:nvPr/>
        </p:nvSpPr>
        <p:spPr>
          <a:xfrm>
            <a:off x="365760" y="1417320"/>
            <a:ext cx="8412480" cy="914400"/>
          </a:xfrm>
          <a:prstGeom prst="rect">
            <a:avLst/>
          </a:prstGeom>
          <a:solidFill>
            <a:srgbClr val="F7EEF1"/>
          </a:solidFill>
          <a:ln w="25400">
            <a:solidFill>
              <a:srgbClr val="9D1535"/>
            </a:solidFill>
            <a:prstDash val="solid"/>
          </a:ln>
          <a:effectLst>
            <a:outerShdw blurRad="101600" dist="25400" dir="8100000" algn="bl" rotWithShape="0">
              <a:srgbClr val="000000">
                <a:alpha val="10000"/>
              </a:srgbClr>
            </a:outerShdw>
          </a:effectLst>
        </p:spPr>
        <p:txBody>
          <a:bodyPr/>
          <a:lstStyle/>
          <a:p>
            <a:endParaRPr lang="en-US"/>
          </a:p>
        </p:txBody>
      </p:sp>
      <p:sp>
        <p:nvSpPr>
          <p:cNvPr id="11" name="Text 9"/>
          <p:cNvSpPr/>
          <p:nvPr/>
        </p:nvSpPr>
        <p:spPr>
          <a:xfrm>
            <a:off x="548640" y="1463040"/>
            <a:ext cx="8046720" cy="274320"/>
          </a:xfrm>
          <a:prstGeom prst="rect">
            <a:avLst/>
          </a:prstGeom>
          <a:noFill/>
          <a:ln/>
        </p:spPr>
        <p:txBody>
          <a:bodyPr wrap="square" rtlCol="0" anchor="ctr"/>
          <a:lstStyle/>
          <a:p>
            <a:pPr marL="0" indent="0">
              <a:buNone/>
            </a:pPr>
            <a:r>
              <a:rPr lang="en-US" sz="1100" b="1" dirty="0">
                <a:solidFill>
                  <a:srgbClr val="9D1535"/>
                </a:solidFill>
                <a:latin typeface="Trebuchet MS" pitchFamily="34" charset="0"/>
                <a:ea typeface="Trebuchet MS" pitchFamily="34" charset="-122"/>
                <a:cs typeface="Trebuchet MS" pitchFamily="34" charset="-120"/>
              </a:rPr>
              <a:t>Primary Research Question</a:t>
            </a:r>
            <a:endParaRPr lang="en-US" sz="1100" dirty="0"/>
          </a:p>
        </p:txBody>
      </p:sp>
      <p:sp>
        <p:nvSpPr>
          <p:cNvPr id="12" name="Text 10"/>
          <p:cNvSpPr/>
          <p:nvPr/>
        </p:nvSpPr>
        <p:spPr>
          <a:xfrm>
            <a:off x="548640" y="1755648"/>
            <a:ext cx="8046720" cy="502920"/>
          </a:xfrm>
          <a:prstGeom prst="rect">
            <a:avLst/>
          </a:prstGeom>
          <a:noFill/>
          <a:ln/>
        </p:spPr>
        <p:txBody>
          <a:bodyPr wrap="square" rtlCol="0" anchor="ctr"/>
          <a:lstStyle/>
          <a:p>
            <a:pPr marL="0" indent="0">
              <a:buNone/>
            </a:pPr>
            <a:r>
              <a:rPr lang="en-US" sz="1200" i="1" dirty="0">
                <a:solidFill>
                  <a:srgbClr val="374151"/>
                </a:solidFill>
                <a:latin typeface="Calibri" pitchFamily="34" charset="0"/>
                <a:ea typeface="Calibri" pitchFamily="34" charset="-122"/>
                <a:cs typeface="Calibri" pitchFamily="34" charset="-120"/>
              </a:rPr>
              <a:t>What structural drug characteristics — acquisition cost, shortage history, adverse event burden, and clinical trial activity — predict patient-reported satisfaction with prescription medications?</a:t>
            </a:r>
            <a:endParaRPr lang="en-US" sz="1200" dirty="0"/>
          </a:p>
        </p:txBody>
      </p:sp>
      <p:sp>
        <p:nvSpPr>
          <p:cNvPr id="13" name="Shape 11"/>
          <p:cNvSpPr/>
          <p:nvPr/>
        </p:nvSpPr>
        <p:spPr>
          <a:xfrm>
            <a:off x="365760" y="2514600"/>
            <a:ext cx="2743200" cy="2011680"/>
          </a:xfrm>
          <a:prstGeom prst="rect">
            <a:avLst/>
          </a:prstGeom>
          <a:solidFill>
            <a:srgbClr val="FFFFFF"/>
          </a:solidFill>
          <a:ln w="12700">
            <a:solidFill>
              <a:srgbClr val="E5E7EB"/>
            </a:solidFill>
            <a:prstDash val="solid"/>
          </a:ln>
          <a:effectLst>
            <a:outerShdw blurRad="101600" dist="25400" dir="8100000" algn="bl" rotWithShape="0">
              <a:srgbClr val="000000">
                <a:alpha val="10000"/>
              </a:srgbClr>
            </a:outerShdw>
          </a:effectLst>
        </p:spPr>
        <p:txBody>
          <a:bodyPr/>
          <a:lstStyle/>
          <a:p>
            <a:endParaRPr lang="en-US"/>
          </a:p>
        </p:txBody>
      </p:sp>
      <p:sp>
        <p:nvSpPr>
          <p:cNvPr id="14" name="Shape 12"/>
          <p:cNvSpPr/>
          <p:nvPr/>
        </p:nvSpPr>
        <p:spPr>
          <a:xfrm>
            <a:off x="365760" y="2514600"/>
            <a:ext cx="54864" cy="2011680"/>
          </a:xfrm>
          <a:prstGeom prst="rect">
            <a:avLst/>
          </a:prstGeom>
          <a:solidFill>
            <a:srgbClr val="2563EB"/>
          </a:solidFill>
          <a:ln w="12700">
            <a:solidFill>
              <a:srgbClr val="2563EB"/>
            </a:solidFill>
            <a:prstDash val="solid"/>
          </a:ln>
        </p:spPr>
        <p:txBody>
          <a:bodyPr/>
          <a:lstStyle/>
          <a:p>
            <a:endParaRPr lang="en-US"/>
          </a:p>
        </p:txBody>
      </p:sp>
      <p:sp>
        <p:nvSpPr>
          <p:cNvPr id="15" name="Text 13"/>
          <p:cNvSpPr/>
          <p:nvPr/>
        </p:nvSpPr>
        <p:spPr>
          <a:xfrm>
            <a:off x="502920" y="2587752"/>
            <a:ext cx="2560320" cy="256032"/>
          </a:xfrm>
          <a:prstGeom prst="rect">
            <a:avLst/>
          </a:prstGeom>
          <a:noFill/>
          <a:ln/>
        </p:spPr>
        <p:txBody>
          <a:bodyPr wrap="square" rtlCol="0" anchor="ctr"/>
          <a:lstStyle/>
          <a:p>
            <a:pPr marL="0" indent="0">
              <a:buNone/>
            </a:pPr>
            <a:r>
              <a:rPr lang="en-US" sz="1100" b="1" dirty="0">
                <a:solidFill>
                  <a:srgbClr val="2563EB"/>
                </a:solidFill>
                <a:latin typeface="Trebuchet MS" pitchFamily="34" charset="0"/>
                <a:ea typeface="Trebuchet MS" pitchFamily="34" charset="-122"/>
                <a:cs typeface="Trebuchet MS" pitchFamily="34" charset="-120"/>
              </a:rPr>
              <a:t>Q2 — Shortage Prediction</a:t>
            </a:r>
            <a:endParaRPr lang="en-US" sz="1100" dirty="0"/>
          </a:p>
        </p:txBody>
      </p:sp>
      <p:sp>
        <p:nvSpPr>
          <p:cNvPr id="16" name="Text 14"/>
          <p:cNvSpPr/>
          <p:nvPr/>
        </p:nvSpPr>
        <p:spPr>
          <a:xfrm>
            <a:off x="502920" y="2862072"/>
            <a:ext cx="2542032" cy="1572768"/>
          </a:xfrm>
          <a:prstGeom prst="rect">
            <a:avLst/>
          </a:prstGeom>
          <a:noFill/>
          <a:ln/>
        </p:spPr>
        <p:txBody>
          <a:bodyPr wrap="square" rtlCol="0" anchor="t"/>
          <a:lstStyle/>
          <a:p>
            <a:pPr marL="0" indent="0">
              <a:buNone/>
            </a:pPr>
            <a:r>
              <a:rPr lang="en-US" sz="1100" dirty="0">
                <a:solidFill>
                  <a:srgbClr val="374151"/>
                </a:solidFill>
                <a:latin typeface="Calibri" pitchFamily="34" charset="0"/>
                <a:ea typeface="Calibri" pitchFamily="34" charset="-122"/>
                <a:cs typeface="Calibri" pitchFamily="34" charset="-120"/>
              </a:rPr>
              <a:t>Can structural drug features predict which drugs will experience FDA supply shortages? (Binary classification, n=50 drugs)</a:t>
            </a:r>
            <a:endParaRPr lang="en-US" sz="1100" dirty="0"/>
          </a:p>
        </p:txBody>
      </p:sp>
      <p:sp>
        <p:nvSpPr>
          <p:cNvPr id="17" name="Shape 15"/>
          <p:cNvSpPr/>
          <p:nvPr/>
        </p:nvSpPr>
        <p:spPr>
          <a:xfrm>
            <a:off x="3200400" y="2514600"/>
            <a:ext cx="2743200" cy="2011680"/>
          </a:xfrm>
          <a:prstGeom prst="rect">
            <a:avLst/>
          </a:prstGeom>
          <a:solidFill>
            <a:srgbClr val="FFFFFF"/>
          </a:solidFill>
          <a:ln w="12700">
            <a:solidFill>
              <a:srgbClr val="E5E7EB"/>
            </a:solidFill>
            <a:prstDash val="solid"/>
          </a:ln>
          <a:effectLst>
            <a:outerShdw blurRad="101600" dist="25400" dir="8100000" algn="bl" rotWithShape="0">
              <a:srgbClr val="000000">
                <a:alpha val="10000"/>
              </a:srgbClr>
            </a:outerShdw>
          </a:effectLst>
        </p:spPr>
        <p:txBody>
          <a:bodyPr/>
          <a:lstStyle/>
          <a:p>
            <a:endParaRPr lang="en-US"/>
          </a:p>
        </p:txBody>
      </p:sp>
      <p:sp>
        <p:nvSpPr>
          <p:cNvPr id="18" name="Shape 16"/>
          <p:cNvSpPr/>
          <p:nvPr/>
        </p:nvSpPr>
        <p:spPr>
          <a:xfrm>
            <a:off x="3200400" y="2514600"/>
            <a:ext cx="54864" cy="2011680"/>
          </a:xfrm>
          <a:prstGeom prst="rect">
            <a:avLst/>
          </a:prstGeom>
          <a:solidFill>
            <a:srgbClr val="059669"/>
          </a:solidFill>
          <a:ln w="12700">
            <a:solidFill>
              <a:srgbClr val="059669"/>
            </a:solidFill>
            <a:prstDash val="solid"/>
          </a:ln>
        </p:spPr>
        <p:txBody>
          <a:bodyPr/>
          <a:lstStyle/>
          <a:p>
            <a:endParaRPr lang="en-US"/>
          </a:p>
        </p:txBody>
      </p:sp>
      <p:sp>
        <p:nvSpPr>
          <p:cNvPr id="19" name="Text 17"/>
          <p:cNvSpPr/>
          <p:nvPr/>
        </p:nvSpPr>
        <p:spPr>
          <a:xfrm>
            <a:off x="3337560" y="2587752"/>
            <a:ext cx="2560320" cy="256032"/>
          </a:xfrm>
          <a:prstGeom prst="rect">
            <a:avLst/>
          </a:prstGeom>
          <a:noFill/>
          <a:ln/>
        </p:spPr>
        <p:txBody>
          <a:bodyPr wrap="square" rtlCol="0" anchor="ctr"/>
          <a:lstStyle/>
          <a:p>
            <a:pPr marL="0" indent="0">
              <a:buNone/>
            </a:pPr>
            <a:r>
              <a:rPr lang="en-US" sz="1100" b="1" dirty="0">
                <a:solidFill>
                  <a:srgbClr val="059669"/>
                </a:solidFill>
                <a:latin typeface="Trebuchet MS" pitchFamily="34" charset="0"/>
                <a:ea typeface="Trebuchet MS" pitchFamily="34" charset="-122"/>
                <a:cs typeface="Trebuchet MS" pitchFamily="34" charset="-120"/>
              </a:rPr>
              <a:t>Q3 — Rating Prediction</a:t>
            </a:r>
            <a:endParaRPr lang="en-US" sz="1100" dirty="0"/>
          </a:p>
        </p:txBody>
      </p:sp>
      <p:sp>
        <p:nvSpPr>
          <p:cNvPr id="20" name="Text 18"/>
          <p:cNvSpPr/>
          <p:nvPr/>
        </p:nvSpPr>
        <p:spPr>
          <a:xfrm>
            <a:off x="3337560" y="2862072"/>
            <a:ext cx="2542032" cy="1572768"/>
          </a:xfrm>
          <a:prstGeom prst="rect">
            <a:avLst/>
          </a:prstGeom>
          <a:noFill/>
          <a:ln/>
        </p:spPr>
        <p:txBody>
          <a:bodyPr wrap="square" rtlCol="0" anchor="t"/>
          <a:lstStyle/>
          <a:p>
            <a:pPr marL="0" indent="0">
              <a:buNone/>
            </a:pPr>
            <a:r>
              <a:rPr lang="en-US" sz="1100" dirty="0">
                <a:solidFill>
                  <a:srgbClr val="374151"/>
                </a:solidFill>
                <a:latin typeface="Calibri" pitchFamily="34" charset="0"/>
                <a:ea typeface="Calibri" pitchFamily="34" charset="-122"/>
                <a:cs typeface="Calibri" pitchFamily="34" charset="-120"/>
              </a:rPr>
              <a:t>Can TF-IDF review text alone predict the star rating a patient will assign? (Regression on 6,688 reviews)</a:t>
            </a:r>
            <a:endParaRPr lang="en-US" sz="1100" dirty="0"/>
          </a:p>
        </p:txBody>
      </p:sp>
      <p:sp>
        <p:nvSpPr>
          <p:cNvPr id="21" name="Shape 19"/>
          <p:cNvSpPr/>
          <p:nvPr/>
        </p:nvSpPr>
        <p:spPr>
          <a:xfrm>
            <a:off x="6035040" y="2514600"/>
            <a:ext cx="2743200" cy="2011680"/>
          </a:xfrm>
          <a:prstGeom prst="rect">
            <a:avLst/>
          </a:prstGeom>
          <a:solidFill>
            <a:srgbClr val="FFFFFF"/>
          </a:solidFill>
          <a:ln w="12700">
            <a:solidFill>
              <a:srgbClr val="E5E7EB"/>
            </a:solidFill>
            <a:prstDash val="solid"/>
          </a:ln>
          <a:effectLst>
            <a:outerShdw blurRad="101600" dist="25400" dir="8100000" algn="bl" rotWithShape="0">
              <a:srgbClr val="000000">
                <a:alpha val="10000"/>
              </a:srgbClr>
            </a:outerShdw>
          </a:effectLst>
        </p:spPr>
        <p:txBody>
          <a:bodyPr/>
          <a:lstStyle/>
          <a:p>
            <a:endParaRPr lang="en-US"/>
          </a:p>
        </p:txBody>
      </p:sp>
      <p:sp>
        <p:nvSpPr>
          <p:cNvPr id="22" name="Shape 20"/>
          <p:cNvSpPr/>
          <p:nvPr/>
        </p:nvSpPr>
        <p:spPr>
          <a:xfrm>
            <a:off x="6035040" y="2514600"/>
            <a:ext cx="54864" cy="2011680"/>
          </a:xfrm>
          <a:prstGeom prst="rect">
            <a:avLst/>
          </a:prstGeom>
          <a:solidFill>
            <a:srgbClr val="7C3AED"/>
          </a:solidFill>
          <a:ln w="12700">
            <a:solidFill>
              <a:srgbClr val="7C3AED"/>
            </a:solidFill>
            <a:prstDash val="solid"/>
          </a:ln>
        </p:spPr>
        <p:txBody>
          <a:bodyPr/>
          <a:lstStyle/>
          <a:p>
            <a:endParaRPr lang="en-US"/>
          </a:p>
        </p:txBody>
      </p:sp>
      <p:sp>
        <p:nvSpPr>
          <p:cNvPr id="23" name="Text 21"/>
          <p:cNvSpPr/>
          <p:nvPr/>
        </p:nvSpPr>
        <p:spPr>
          <a:xfrm>
            <a:off x="6172200" y="2587752"/>
            <a:ext cx="2560320" cy="256032"/>
          </a:xfrm>
          <a:prstGeom prst="rect">
            <a:avLst/>
          </a:prstGeom>
          <a:noFill/>
          <a:ln/>
        </p:spPr>
        <p:txBody>
          <a:bodyPr wrap="square" rtlCol="0" anchor="ctr"/>
          <a:lstStyle/>
          <a:p>
            <a:pPr marL="0" indent="0">
              <a:buNone/>
            </a:pPr>
            <a:r>
              <a:rPr lang="en-US" sz="1100" b="1" dirty="0">
                <a:solidFill>
                  <a:srgbClr val="7C3AED"/>
                </a:solidFill>
                <a:latin typeface="Trebuchet MS" pitchFamily="34" charset="0"/>
                <a:ea typeface="Trebuchet MS" pitchFamily="34" charset="-122"/>
                <a:cs typeface="Trebuchet MS" pitchFamily="34" charset="-120"/>
              </a:rPr>
              <a:t>Q4 — Clustering</a:t>
            </a:r>
            <a:endParaRPr lang="en-US" sz="1100" dirty="0"/>
          </a:p>
        </p:txBody>
      </p:sp>
      <p:sp>
        <p:nvSpPr>
          <p:cNvPr id="24" name="Text 22"/>
          <p:cNvSpPr/>
          <p:nvPr/>
        </p:nvSpPr>
        <p:spPr>
          <a:xfrm>
            <a:off x="6172200" y="2862072"/>
            <a:ext cx="2542032" cy="1572768"/>
          </a:xfrm>
          <a:prstGeom prst="rect">
            <a:avLst/>
          </a:prstGeom>
          <a:noFill/>
          <a:ln/>
        </p:spPr>
        <p:txBody>
          <a:bodyPr wrap="square" rtlCol="0" anchor="t"/>
          <a:lstStyle/>
          <a:p>
            <a:pPr marL="0" indent="0">
              <a:buNone/>
            </a:pPr>
            <a:r>
              <a:rPr lang="en-US" sz="1100" dirty="0">
                <a:solidFill>
                  <a:srgbClr val="374151"/>
                </a:solidFill>
                <a:latin typeface="Calibri" pitchFamily="34" charset="0"/>
                <a:ea typeface="Calibri" pitchFamily="34" charset="-122"/>
                <a:cs typeface="Calibri" pitchFamily="34" charset="-120"/>
              </a:rPr>
              <a:t>Do drugs cluster into pharmacologically meaningful groups based on adverse event profiles? (K-Means, FAERS data)</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BFC"/>
        </a:solidFill>
        <a:effectLst/>
      </p:bgPr>
    </p:bg>
    <p:spTree>
      <p:nvGrpSpPr>
        <p:cNvPr id="1" name=""/>
        <p:cNvGrpSpPr/>
        <p:nvPr/>
      </p:nvGrpSpPr>
      <p:grpSpPr>
        <a:xfrm>
          <a:off x="0" y="0"/>
          <a:ext cx="0" cy="0"/>
          <a:chOff x="0" y="0"/>
          <a:chExt cx="0" cy="0"/>
        </a:xfrm>
      </p:grpSpPr>
      <p:sp>
        <p:nvSpPr>
          <p:cNvPr id="51" name="Shape 49"/>
          <p:cNvSpPr/>
          <p:nvPr/>
        </p:nvSpPr>
        <p:spPr>
          <a:xfrm>
            <a:off x="3010989" y="3136392"/>
            <a:ext cx="1097280" cy="822960"/>
          </a:xfrm>
          <a:prstGeom prst="rect">
            <a:avLst/>
          </a:prstGeom>
          <a:solidFill>
            <a:srgbClr val="F7EEF1"/>
          </a:solidFill>
          <a:ln w="12700">
            <a:solidFill>
              <a:srgbClr val="9D1535"/>
            </a:solidFill>
            <a:prstDash val="solid"/>
          </a:ln>
        </p:spPr>
        <p:txBody>
          <a:bodyPr/>
          <a:lstStyle/>
          <a:p>
            <a:endParaRPr lang="en-US" dirty="0"/>
          </a:p>
        </p:txBody>
      </p:sp>
      <p:sp>
        <p:nvSpPr>
          <p:cNvPr id="53" name="Text 51"/>
          <p:cNvSpPr/>
          <p:nvPr/>
        </p:nvSpPr>
        <p:spPr>
          <a:xfrm>
            <a:off x="3108959" y="3666744"/>
            <a:ext cx="836023" cy="192024"/>
          </a:xfrm>
          <a:prstGeom prst="rect">
            <a:avLst/>
          </a:prstGeom>
          <a:noFill/>
          <a:ln/>
        </p:spPr>
        <p:txBody>
          <a:bodyPr wrap="square" rtlCol="0" anchor="ctr"/>
          <a:lstStyle/>
          <a:p>
            <a:pPr marL="0" indent="0" algn="ctr">
              <a:buNone/>
            </a:pPr>
            <a:r>
              <a:rPr lang="en-US" sz="800" dirty="0">
                <a:solidFill>
                  <a:srgbClr val="6B7280"/>
                </a:solidFill>
                <a:latin typeface="Calibri" pitchFamily="34" charset="0"/>
                <a:ea typeface="Calibri" pitchFamily="34" charset="-122"/>
                <a:cs typeface="Calibri" pitchFamily="34" charset="-120"/>
              </a:rPr>
              <a:t>Total Records</a:t>
            </a:r>
            <a:endParaRPr lang="en-US" sz="800" dirty="0"/>
          </a:p>
        </p:txBody>
      </p:sp>
      <p:sp>
        <p:nvSpPr>
          <p:cNvPr id="52" name="Text 50"/>
          <p:cNvSpPr/>
          <p:nvPr/>
        </p:nvSpPr>
        <p:spPr>
          <a:xfrm>
            <a:off x="3010985" y="3172351"/>
            <a:ext cx="1097280" cy="411480"/>
          </a:xfrm>
          <a:prstGeom prst="rect">
            <a:avLst/>
          </a:prstGeom>
          <a:noFill/>
          <a:ln/>
        </p:spPr>
        <p:txBody>
          <a:bodyPr wrap="square" rtlCol="0" anchor="ctr"/>
          <a:lstStyle/>
          <a:p>
            <a:pPr marL="0" indent="0" algn="ctr">
              <a:buNone/>
            </a:pPr>
            <a:r>
              <a:rPr lang="en-US" sz="1800" b="1" dirty="0">
                <a:solidFill>
                  <a:srgbClr val="9D1535"/>
                </a:solidFill>
                <a:latin typeface="Trebuchet MS" pitchFamily="34" charset="0"/>
                <a:ea typeface="Trebuchet MS" pitchFamily="34" charset="-122"/>
                <a:cs typeface="Trebuchet MS" pitchFamily="34" charset="-120"/>
              </a:rPr>
              <a:t>131,843</a:t>
            </a:r>
            <a:endParaRPr lang="en-US" sz="1800" dirty="0"/>
          </a:p>
        </p:txBody>
      </p:sp>
      <p:sp>
        <p:nvSpPr>
          <p:cNvPr id="2" name="Shape 0"/>
          <p:cNvSpPr/>
          <p:nvPr/>
        </p:nvSpPr>
        <p:spPr>
          <a:xfrm>
            <a:off x="365760" y="201168"/>
            <a:ext cx="2377440" cy="256032"/>
          </a:xfrm>
          <a:prstGeom prst="rect">
            <a:avLst/>
          </a:prstGeom>
          <a:solidFill>
            <a:srgbClr val="9D1535"/>
          </a:solidFill>
          <a:ln w="12700">
            <a:solidFill>
              <a:srgbClr val="9D1535"/>
            </a:solidFill>
            <a:prstDash val="solid"/>
          </a:ln>
        </p:spPr>
        <p:txBody>
          <a:bodyPr/>
          <a:lstStyle/>
          <a:p>
            <a:endParaRPr lang="en-US"/>
          </a:p>
        </p:txBody>
      </p:sp>
      <p:sp>
        <p:nvSpPr>
          <p:cNvPr id="3" name="Text 1"/>
          <p:cNvSpPr/>
          <p:nvPr/>
        </p:nvSpPr>
        <p:spPr>
          <a:xfrm>
            <a:off x="365760" y="201168"/>
            <a:ext cx="2377440"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rPr>
              <a:t>DATA ARCHITECTURE</a:t>
            </a:r>
            <a:endParaRPr lang="en-US" sz="800" dirty="0"/>
          </a:p>
        </p:txBody>
      </p:sp>
      <p:sp>
        <p:nvSpPr>
          <p:cNvPr id="4" name="Text 2"/>
          <p:cNvSpPr/>
          <p:nvPr/>
        </p:nvSpPr>
        <p:spPr>
          <a:xfrm>
            <a:off x="365760" y="566928"/>
            <a:ext cx="8412480" cy="640080"/>
          </a:xfrm>
          <a:prstGeom prst="rect">
            <a:avLst/>
          </a:prstGeom>
          <a:noFill/>
          <a:ln/>
        </p:spPr>
        <p:txBody>
          <a:bodyPr wrap="square" rtlCol="0" anchor="ctr"/>
          <a:lstStyle/>
          <a:p>
            <a:pPr marL="0" indent="0">
              <a:buNone/>
            </a:pPr>
            <a:r>
              <a:rPr lang="en-US" sz="2800" b="1" dirty="0">
                <a:solidFill>
                  <a:srgbClr val="111827"/>
                </a:solidFill>
                <a:latin typeface="Trebuchet MS" pitchFamily="34" charset="0"/>
                <a:ea typeface="Trebuchet MS" pitchFamily="34" charset="-122"/>
                <a:cs typeface="Trebuchet MS" pitchFamily="34" charset="-120"/>
              </a:rPr>
              <a:t>Data Architecture &amp; Pipeline</a:t>
            </a:r>
            <a:endParaRPr lang="en-US" sz="2800" dirty="0"/>
          </a:p>
        </p:txBody>
      </p:sp>
      <p:sp>
        <p:nvSpPr>
          <p:cNvPr id="5" name="Shape 3"/>
          <p:cNvSpPr/>
          <p:nvPr/>
        </p:nvSpPr>
        <p:spPr>
          <a:xfrm>
            <a:off x="365760" y="1298448"/>
            <a:ext cx="8412480" cy="0"/>
          </a:xfrm>
          <a:prstGeom prst="line">
            <a:avLst/>
          </a:prstGeom>
          <a:noFill/>
          <a:ln w="12700">
            <a:solidFill>
              <a:srgbClr val="E5E7EB"/>
            </a:solidFill>
            <a:prstDash val="solid"/>
          </a:ln>
        </p:spPr>
        <p:txBody>
          <a:bodyPr/>
          <a:lstStyle/>
          <a:p>
            <a:endParaRPr lang="en-US"/>
          </a:p>
        </p:txBody>
      </p:sp>
      <p:sp>
        <p:nvSpPr>
          <p:cNvPr id="6" name="Shape 4"/>
          <p:cNvSpPr/>
          <p:nvPr/>
        </p:nvSpPr>
        <p:spPr>
          <a:xfrm>
            <a:off x="0" y="4800600"/>
            <a:ext cx="9144000" cy="347472"/>
          </a:xfrm>
          <a:prstGeom prst="rect">
            <a:avLst/>
          </a:prstGeom>
          <a:solidFill>
            <a:srgbClr val="F1F5F9"/>
          </a:solidFill>
          <a:ln w="12700">
            <a:solidFill>
              <a:srgbClr val="E2E8F0"/>
            </a:solidFill>
            <a:prstDash val="solid"/>
          </a:ln>
        </p:spPr>
        <p:txBody>
          <a:bodyPr/>
          <a:lstStyle/>
          <a:p>
            <a:endParaRPr lang="en-US" dirty="0"/>
          </a:p>
        </p:txBody>
      </p:sp>
      <p:sp>
        <p:nvSpPr>
          <p:cNvPr id="7" name="Text 5"/>
          <p:cNvSpPr/>
          <p:nvPr/>
        </p:nvSpPr>
        <p:spPr>
          <a:xfrm>
            <a:off x="365760" y="4809744"/>
            <a:ext cx="7315200" cy="274320"/>
          </a:xfrm>
          <a:prstGeom prst="rect">
            <a:avLst/>
          </a:prstGeom>
          <a:noFill/>
          <a:ln/>
        </p:spPr>
        <p:txBody>
          <a:bodyPr wrap="square" rtlCol="0" anchor="ctr"/>
          <a:lstStyle/>
          <a:p>
            <a:pPr marL="0" indent="0">
              <a:buNone/>
            </a:pPr>
            <a:endParaRPr lang="en-US" sz="900" dirty="0"/>
          </a:p>
        </p:txBody>
      </p:sp>
      <p:sp>
        <p:nvSpPr>
          <p:cNvPr id="8" name="Text 6"/>
          <p:cNvSpPr/>
          <p:nvPr/>
        </p:nvSpPr>
        <p:spPr>
          <a:xfrm>
            <a:off x="4572000" y="4809744"/>
            <a:ext cx="4389120" cy="274320"/>
          </a:xfrm>
          <a:prstGeom prst="rect">
            <a:avLst/>
          </a:prstGeom>
          <a:noFill/>
          <a:ln/>
        </p:spPr>
        <p:txBody>
          <a:bodyPr wrap="square" rtlCol="0" anchor="ctr"/>
          <a:lstStyle/>
          <a:p>
            <a:pPr marL="0" indent="0" algn="r">
              <a:buNone/>
            </a:pPr>
            <a:endParaRPr lang="en-US" sz="900" dirty="0"/>
          </a:p>
        </p:txBody>
      </p:sp>
      <p:sp>
        <p:nvSpPr>
          <p:cNvPr id="9" name="Text 7"/>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AAAAAA"/>
                </a:solidFill>
              </a:rPr>
              <a:t>3 / 25</a:t>
            </a:r>
            <a:endParaRPr lang="en-US" sz="900" dirty="0"/>
          </a:p>
        </p:txBody>
      </p:sp>
      <p:sp>
        <p:nvSpPr>
          <p:cNvPr id="10" name="Shape 8"/>
          <p:cNvSpPr/>
          <p:nvPr/>
        </p:nvSpPr>
        <p:spPr>
          <a:xfrm>
            <a:off x="365760" y="1417320"/>
            <a:ext cx="1645920" cy="1371600"/>
          </a:xfrm>
          <a:prstGeom prst="rect">
            <a:avLst/>
          </a:prstGeom>
          <a:solidFill>
            <a:srgbClr val="F7EEF1"/>
          </a:solidFill>
          <a:ln w="25400">
            <a:solidFill>
              <a:srgbClr val="9D1535"/>
            </a:solidFill>
            <a:prstDash val="solid"/>
          </a:ln>
          <a:effectLst>
            <a:outerShdw blurRad="101600" dist="25400" dir="8100000" algn="bl" rotWithShape="0">
              <a:srgbClr val="000000">
                <a:alpha val="10000"/>
              </a:srgbClr>
            </a:outerShdw>
          </a:effectLst>
        </p:spPr>
        <p:txBody>
          <a:bodyPr/>
          <a:lstStyle/>
          <a:p>
            <a:endParaRPr lang="en-US"/>
          </a:p>
        </p:txBody>
      </p:sp>
      <p:sp>
        <p:nvSpPr>
          <p:cNvPr id="11" name="Text 9"/>
          <p:cNvSpPr/>
          <p:nvPr/>
        </p:nvSpPr>
        <p:spPr>
          <a:xfrm>
            <a:off x="365760" y="1463040"/>
            <a:ext cx="1645920" cy="365760"/>
          </a:xfrm>
          <a:prstGeom prst="rect">
            <a:avLst/>
          </a:prstGeom>
          <a:noFill/>
          <a:ln/>
        </p:spPr>
        <p:txBody>
          <a:bodyPr wrap="square" rtlCol="0" anchor="ctr"/>
          <a:lstStyle/>
          <a:p>
            <a:pPr marL="0" indent="0" algn="ctr">
              <a:buNone/>
            </a:pPr>
            <a:r>
              <a:rPr lang="en-US" sz="1200" b="1" dirty="0">
                <a:solidFill>
                  <a:srgbClr val="9D1535"/>
                </a:solidFill>
                <a:latin typeface="Trebuchet MS" pitchFamily="34" charset="0"/>
                <a:ea typeface="Trebuchet MS" pitchFamily="34" charset="-122"/>
                <a:cs typeface="Trebuchet MS" pitchFamily="34" charset="-120"/>
              </a:rPr>
              <a:t>6 Sources</a:t>
            </a:r>
            <a:endParaRPr lang="en-US" sz="1200" dirty="0"/>
          </a:p>
        </p:txBody>
      </p:sp>
      <p:sp>
        <p:nvSpPr>
          <p:cNvPr id="12" name="Text 10"/>
          <p:cNvSpPr/>
          <p:nvPr/>
        </p:nvSpPr>
        <p:spPr>
          <a:xfrm>
            <a:off x="365760" y="1920240"/>
            <a:ext cx="1645920" cy="777240"/>
          </a:xfrm>
          <a:prstGeom prst="rect">
            <a:avLst/>
          </a:prstGeom>
          <a:noFill/>
          <a:ln/>
        </p:spPr>
        <p:txBody>
          <a:bodyPr wrap="square" rtlCol="0" anchor="ctr"/>
          <a:lstStyle/>
          <a:p>
            <a:pPr marL="0" indent="0" algn="ctr">
              <a:buNone/>
            </a:pPr>
            <a:r>
              <a:rPr lang="en-US" sz="1000" dirty="0">
                <a:solidFill>
                  <a:srgbClr val="374151"/>
                </a:solidFill>
                <a:latin typeface="Calibri" pitchFamily="34" charset="0"/>
                <a:ea typeface="Calibri" pitchFamily="34" charset="-122"/>
                <a:cs typeface="Calibri" pitchFamily="34" charset="-120"/>
              </a:rPr>
              <a:t>131,843</a:t>
            </a:r>
            <a:endParaRPr lang="en-US" sz="1000" dirty="0"/>
          </a:p>
          <a:p>
            <a:pPr marL="0" indent="0" algn="ctr">
              <a:buNone/>
            </a:pPr>
            <a:r>
              <a:rPr lang="en-US" sz="1000" dirty="0">
                <a:solidFill>
                  <a:srgbClr val="374151"/>
                </a:solidFill>
                <a:latin typeface="Calibri" pitchFamily="34" charset="0"/>
                <a:ea typeface="Calibri" pitchFamily="34" charset="-122"/>
                <a:cs typeface="Calibri" pitchFamily="34" charset="-120"/>
              </a:rPr>
              <a:t>records</a:t>
            </a:r>
            <a:endParaRPr lang="en-US" sz="1000" dirty="0"/>
          </a:p>
        </p:txBody>
      </p:sp>
      <p:sp>
        <p:nvSpPr>
          <p:cNvPr id="13" name="Shape 11"/>
          <p:cNvSpPr/>
          <p:nvPr/>
        </p:nvSpPr>
        <p:spPr>
          <a:xfrm>
            <a:off x="2103120" y="1417320"/>
            <a:ext cx="1645920" cy="1371600"/>
          </a:xfrm>
          <a:prstGeom prst="rect">
            <a:avLst/>
          </a:prstGeom>
          <a:solidFill>
            <a:srgbClr val="E8F0FE"/>
          </a:solidFill>
          <a:ln w="25400">
            <a:solidFill>
              <a:srgbClr val="2563EB"/>
            </a:solidFill>
            <a:prstDash val="solid"/>
          </a:ln>
          <a:effectLst>
            <a:outerShdw blurRad="101600" dist="25400" dir="8100000" algn="bl" rotWithShape="0">
              <a:srgbClr val="000000">
                <a:alpha val="10000"/>
              </a:srgbClr>
            </a:outerShdw>
          </a:effectLst>
        </p:spPr>
        <p:txBody>
          <a:bodyPr/>
          <a:lstStyle/>
          <a:p>
            <a:endParaRPr lang="en-US"/>
          </a:p>
        </p:txBody>
      </p:sp>
      <p:sp>
        <p:nvSpPr>
          <p:cNvPr id="14" name="Text 12"/>
          <p:cNvSpPr/>
          <p:nvPr/>
        </p:nvSpPr>
        <p:spPr>
          <a:xfrm>
            <a:off x="2103120" y="1463040"/>
            <a:ext cx="1645920" cy="365760"/>
          </a:xfrm>
          <a:prstGeom prst="rect">
            <a:avLst/>
          </a:prstGeom>
          <a:noFill/>
          <a:ln/>
        </p:spPr>
        <p:txBody>
          <a:bodyPr wrap="square" rtlCol="0" anchor="ctr"/>
          <a:lstStyle/>
          <a:p>
            <a:pPr marL="0" indent="0" algn="ctr">
              <a:buNone/>
            </a:pPr>
            <a:r>
              <a:rPr lang="en-US" sz="1200" b="1" dirty="0">
                <a:solidFill>
                  <a:srgbClr val="2563EB"/>
                </a:solidFill>
                <a:latin typeface="Trebuchet MS" pitchFamily="34" charset="0"/>
                <a:ea typeface="Trebuchet MS" pitchFamily="34" charset="-122"/>
                <a:cs typeface="Trebuchet MS" pitchFamily="34" charset="-120"/>
              </a:rPr>
              <a:t>Phase 1</a:t>
            </a:r>
            <a:endParaRPr lang="en-US" sz="1200" dirty="0"/>
          </a:p>
        </p:txBody>
      </p:sp>
      <p:sp>
        <p:nvSpPr>
          <p:cNvPr id="15" name="Text 13"/>
          <p:cNvSpPr/>
          <p:nvPr/>
        </p:nvSpPr>
        <p:spPr>
          <a:xfrm>
            <a:off x="2103120" y="1920240"/>
            <a:ext cx="1645920" cy="777240"/>
          </a:xfrm>
          <a:prstGeom prst="rect">
            <a:avLst/>
          </a:prstGeom>
          <a:noFill/>
          <a:ln/>
        </p:spPr>
        <p:txBody>
          <a:bodyPr wrap="square" rtlCol="0" anchor="ctr"/>
          <a:lstStyle/>
          <a:p>
            <a:pPr marL="0" indent="0" algn="ctr">
              <a:buNone/>
            </a:pPr>
            <a:r>
              <a:rPr lang="en-US" sz="1000" dirty="0">
                <a:solidFill>
                  <a:srgbClr val="374151"/>
                </a:solidFill>
                <a:latin typeface="Calibri" pitchFamily="34" charset="0"/>
                <a:ea typeface="Calibri" pitchFamily="34" charset="-122"/>
                <a:cs typeface="Calibri" pitchFamily="34" charset="-120"/>
              </a:rPr>
              <a:t>Web Scraping</a:t>
            </a:r>
            <a:endParaRPr lang="en-US" sz="1000" dirty="0"/>
          </a:p>
          <a:p>
            <a:pPr marL="0" indent="0" algn="ctr">
              <a:buNone/>
            </a:pPr>
            <a:r>
              <a:rPr lang="en-US" sz="1000" dirty="0">
                <a:solidFill>
                  <a:srgbClr val="374151"/>
                </a:solidFill>
                <a:latin typeface="Calibri" pitchFamily="34" charset="0"/>
                <a:ea typeface="Calibri" pitchFamily="34" charset="-122"/>
                <a:cs typeface="Calibri" pitchFamily="34" charset="-120"/>
              </a:rPr>
              <a:t>&amp; Collection</a:t>
            </a:r>
            <a:endParaRPr lang="en-US" sz="1000" dirty="0"/>
          </a:p>
        </p:txBody>
      </p:sp>
      <p:sp>
        <p:nvSpPr>
          <p:cNvPr id="16" name="Shape 14"/>
          <p:cNvSpPr/>
          <p:nvPr/>
        </p:nvSpPr>
        <p:spPr>
          <a:xfrm>
            <a:off x="3840480" y="1417320"/>
            <a:ext cx="1645920" cy="1371600"/>
          </a:xfrm>
          <a:prstGeom prst="rect">
            <a:avLst/>
          </a:prstGeom>
          <a:solidFill>
            <a:srgbClr val="E6F4EA"/>
          </a:solidFill>
          <a:ln w="25400">
            <a:solidFill>
              <a:srgbClr val="059669"/>
            </a:solidFill>
            <a:prstDash val="solid"/>
          </a:ln>
          <a:effectLst>
            <a:outerShdw blurRad="101600" dist="25400" dir="8100000" algn="bl" rotWithShape="0">
              <a:srgbClr val="000000">
                <a:alpha val="10000"/>
              </a:srgbClr>
            </a:outerShdw>
          </a:effectLst>
        </p:spPr>
        <p:txBody>
          <a:bodyPr/>
          <a:lstStyle/>
          <a:p>
            <a:endParaRPr lang="en-US"/>
          </a:p>
        </p:txBody>
      </p:sp>
      <p:sp>
        <p:nvSpPr>
          <p:cNvPr id="17" name="Text 15"/>
          <p:cNvSpPr/>
          <p:nvPr/>
        </p:nvSpPr>
        <p:spPr>
          <a:xfrm>
            <a:off x="3840480" y="1463040"/>
            <a:ext cx="1645920" cy="365760"/>
          </a:xfrm>
          <a:prstGeom prst="rect">
            <a:avLst/>
          </a:prstGeom>
          <a:noFill/>
          <a:ln/>
        </p:spPr>
        <p:txBody>
          <a:bodyPr wrap="square" rtlCol="0" anchor="ctr"/>
          <a:lstStyle/>
          <a:p>
            <a:pPr marL="0" indent="0" algn="ctr">
              <a:buNone/>
            </a:pPr>
            <a:r>
              <a:rPr lang="en-US" sz="1200" b="1" dirty="0">
                <a:solidFill>
                  <a:srgbClr val="059669"/>
                </a:solidFill>
                <a:latin typeface="Trebuchet MS" pitchFamily="34" charset="0"/>
                <a:ea typeface="Trebuchet MS" pitchFamily="34" charset="-122"/>
                <a:cs typeface="Trebuchet MS" pitchFamily="34" charset="-120"/>
              </a:rPr>
              <a:t>Phase 2</a:t>
            </a:r>
            <a:endParaRPr lang="en-US" sz="1200" dirty="0"/>
          </a:p>
        </p:txBody>
      </p:sp>
      <p:sp>
        <p:nvSpPr>
          <p:cNvPr id="18" name="Text 16"/>
          <p:cNvSpPr/>
          <p:nvPr/>
        </p:nvSpPr>
        <p:spPr>
          <a:xfrm>
            <a:off x="3840480" y="1920240"/>
            <a:ext cx="1645920" cy="777240"/>
          </a:xfrm>
          <a:prstGeom prst="rect">
            <a:avLst/>
          </a:prstGeom>
          <a:noFill/>
          <a:ln/>
        </p:spPr>
        <p:txBody>
          <a:bodyPr wrap="square" rtlCol="0" anchor="ctr"/>
          <a:lstStyle/>
          <a:p>
            <a:pPr marL="0" indent="0" algn="ctr">
              <a:buNone/>
            </a:pPr>
            <a:r>
              <a:rPr lang="en-US" sz="1000" dirty="0">
                <a:solidFill>
                  <a:srgbClr val="374151"/>
                </a:solidFill>
                <a:latin typeface="Calibri" pitchFamily="34" charset="0"/>
                <a:ea typeface="Calibri" pitchFamily="34" charset="-122"/>
                <a:cs typeface="Calibri" pitchFamily="34" charset="-120"/>
              </a:rPr>
              <a:t>NLP Pipeline</a:t>
            </a:r>
            <a:endParaRPr lang="en-US" sz="1000" dirty="0"/>
          </a:p>
          <a:p>
            <a:pPr marL="0" indent="0" algn="ctr">
              <a:buNone/>
            </a:pPr>
            <a:r>
              <a:rPr lang="en-US" sz="1000" dirty="0">
                <a:solidFill>
                  <a:srgbClr val="374151"/>
                </a:solidFill>
                <a:latin typeface="Calibri" pitchFamily="34" charset="0"/>
                <a:ea typeface="Calibri" pitchFamily="34" charset="-122"/>
                <a:cs typeface="Calibri" pitchFamily="34" charset="-120"/>
              </a:rPr>
              <a:t>&amp; ML Models</a:t>
            </a:r>
            <a:endParaRPr lang="en-US" sz="1000" dirty="0"/>
          </a:p>
        </p:txBody>
      </p:sp>
      <p:sp>
        <p:nvSpPr>
          <p:cNvPr id="19" name="Shape 17"/>
          <p:cNvSpPr/>
          <p:nvPr/>
        </p:nvSpPr>
        <p:spPr>
          <a:xfrm>
            <a:off x="5577840" y="1417320"/>
            <a:ext cx="1645920" cy="1371600"/>
          </a:xfrm>
          <a:prstGeom prst="rect">
            <a:avLst/>
          </a:prstGeom>
          <a:solidFill>
            <a:srgbClr val="FEF9E7"/>
          </a:solidFill>
          <a:ln w="25400">
            <a:solidFill>
              <a:srgbClr val="D97706"/>
            </a:solidFill>
            <a:prstDash val="solid"/>
          </a:ln>
          <a:effectLst>
            <a:outerShdw blurRad="101600" dist="25400" dir="8100000" algn="bl" rotWithShape="0">
              <a:srgbClr val="000000">
                <a:alpha val="10000"/>
              </a:srgbClr>
            </a:outerShdw>
          </a:effectLst>
        </p:spPr>
        <p:txBody>
          <a:bodyPr/>
          <a:lstStyle/>
          <a:p>
            <a:endParaRPr lang="en-US"/>
          </a:p>
        </p:txBody>
      </p:sp>
      <p:sp>
        <p:nvSpPr>
          <p:cNvPr id="20" name="Text 18"/>
          <p:cNvSpPr/>
          <p:nvPr/>
        </p:nvSpPr>
        <p:spPr>
          <a:xfrm>
            <a:off x="5577840" y="1463040"/>
            <a:ext cx="1645920" cy="365760"/>
          </a:xfrm>
          <a:prstGeom prst="rect">
            <a:avLst/>
          </a:prstGeom>
          <a:noFill/>
          <a:ln/>
        </p:spPr>
        <p:txBody>
          <a:bodyPr wrap="square" rtlCol="0" anchor="ctr"/>
          <a:lstStyle/>
          <a:p>
            <a:pPr marL="0" indent="0" algn="ctr">
              <a:buNone/>
            </a:pPr>
            <a:r>
              <a:rPr lang="en-US" sz="1200" b="1" dirty="0">
                <a:solidFill>
                  <a:srgbClr val="D97706"/>
                </a:solidFill>
                <a:latin typeface="Trebuchet MS" pitchFamily="34" charset="0"/>
                <a:ea typeface="Trebuchet MS" pitchFamily="34" charset="-122"/>
                <a:cs typeface="Trebuchet MS" pitchFamily="34" charset="-120"/>
              </a:rPr>
              <a:t>Phase 2C</a:t>
            </a:r>
            <a:endParaRPr lang="en-US" sz="1200" dirty="0"/>
          </a:p>
        </p:txBody>
      </p:sp>
      <p:sp>
        <p:nvSpPr>
          <p:cNvPr id="21" name="Text 19"/>
          <p:cNvSpPr/>
          <p:nvPr/>
        </p:nvSpPr>
        <p:spPr>
          <a:xfrm>
            <a:off x="5577840" y="1920240"/>
            <a:ext cx="1645920" cy="777240"/>
          </a:xfrm>
          <a:prstGeom prst="rect">
            <a:avLst/>
          </a:prstGeom>
          <a:noFill/>
          <a:ln/>
        </p:spPr>
        <p:txBody>
          <a:bodyPr wrap="square" rtlCol="0" anchor="ctr"/>
          <a:lstStyle/>
          <a:p>
            <a:pPr marL="0" indent="0" algn="ctr">
              <a:buNone/>
            </a:pPr>
            <a:r>
              <a:rPr lang="en-US" sz="1000" dirty="0">
                <a:solidFill>
                  <a:srgbClr val="374151"/>
                </a:solidFill>
                <a:latin typeface="Calibri" pitchFamily="34" charset="0"/>
                <a:ea typeface="Calibri" pitchFamily="34" charset="-122"/>
                <a:cs typeface="Calibri" pitchFamily="34" charset="-120"/>
              </a:rPr>
              <a:t>New Predictions</a:t>
            </a:r>
            <a:endParaRPr lang="en-US" sz="1000" dirty="0"/>
          </a:p>
          <a:p>
            <a:pPr marL="0" indent="0" algn="ctr">
              <a:buNone/>
            </a:pPr>
            <a:r>
              <a:rPr lang="en-US" sz="1000" dirty="0">
                <a:solidFill>
                  <a:srgbClr val="374151"/>
                </a:solidFill>
                <a:latin typeface="Calibri" pitchFamily="34" charset="0"/>
                <a:ea typeface="Calibri" pitchFamily="34" charset="-122"/>
                <a:cs typeface="Calibri" pitchFamily="34" charset="-120"/>
              </a:rPr>
              <a:t>&amp; Insights</a:t>
            </a:r>
            <a:endParaRPr lang="en-US" sz="1000" dirty="0"/>
          </a:p>
        </p:txBody>
      </p:sp>
      <p:sp>
        <p:nvSpPr>
          <p:cNvPr id="22" name="Shape 20"/>
          <p:cNvSpPr/>
          <p:nvPr/>
        </p:nvSpPr>
        <p:spPr>
          <a:xfrm>
            <a:off x="7315200" y="1417320"/>
            <a:ext cx="1645920" cy="1371600"/>
          </a:xfrm>
          <a:prstGeom prst="rect">
            <a:avLst/>
          </a:prstGeom>
          <a:solidFill>
            <a:srgbClr val="E8F5F5"/>
          </a:solidFill>
          <a:ln w="25400">
            <a:solidFill>
              <a:srgbClr val="0891B2"/>
            </a:solidFill>
            <a:prstDash val="solid"/>
          </a:ln>
          <a:effectLst>
            <a:outerShdw blurRad="101600" dist="25400" dir="8100000" algn="bl" rotWithShape="0">
              <a:srgbClr val="000000">
                <a:alpha val="10000"/>
              </a:srgbClr>
            </a:outerShdw>
          </a:effectLst>
        </p:spPr>
        <p:txBody>
          <a:bodyPr/>
          <a:lstStyle/>
          <a:p>
            <a:endParaRPr lang="en-US"/>
          </a:p>
        </p:txBody>
      </p:sp>
      <p:sp>
        <p:nvSpPr>
          <p:cNvPr id="23" name="Text 21"/>
          <p:cNvSpPr/>
          <p:nvPr/>
        </p:nvSpPr>
        <p:spPr>
          <a:xfrm>
            <a:off x="7315200" y="1463040"/>
            <a:ext cx="1645920" cy="365760"/>
          </a:xfrm>
          <a:prstGeom prst="rect">
            <a:avLst/>
          </a:prstGeom>
          <a:noFill/>
          <a:ln/>
        </p:spPr>
        <p:txBody>
          <a:bodyPr wrap="square" rtlCol="0" anchor="ctr"/>
          <a:lstStyle/>
          <a:p>
            <a:pPr marL="0" indent="0" algn="ctr">
              <a:buNone/>
            </a:pPr>
            <a:r>
              <a:rPr lang="en-US" sz="1200" b="1" dirty="0">
                <a:solidFill>
                  <a:srgbClr val="0891B2"/>
                </a:solidFill>
                <a:latin typeface="Trebuchet MS" pitchFamily="34" charset="0"/>
                <a:ea typeface="Trebuchet MS" pitchFamily="34" charset="-122"/>
                <a:cs typeface="Trebuchet MS" pitchFamily="34" charset="-120"/>
              </a:rPr>
              <a:t>Phase 3</a:t>
            </a:r>
            <a:endParaRPr lang="en-US" sz="1200" dirty="0"/>
          </a:p>
        </p:txBody>
      </p:sp>
      <p:sp>
        <p:nvSpPr>
          <p:cNvPr id="24" name="Text 22"/>
          <p:cNvSpPr/>
          <p:nvPr/>
        </p:nvSpPr>
        <p:spPr>
          <a:xfrm>
            <a:off x="7315200" y="1920240"/>
            <a:ext cx="1645920" cy="777240"/>
          </a:xfrm>
          <a:prstGeom prst="rect">
            <a:avLst/>
          </a:prstGeom>
          <a:noFill/>
          <a:ln/>
        </p:spPr>
        <p:txBody>
          <a:bodyPr wrap="square" rtlCol="0" anchor="ctr"/>
          <a:lstStyle/>
          <a:p>
            <a:pPr marL="0" indent="0" algn="ctr">
              <a:buNone/>
            </a:pPr>
            <a:r>
              <a:rPr lang="en-US" sz="1000" dirty="0">
                <a:solidFill>
                  <a:srgbClr val="374151"/>
                </a:solidFill>
                <a:latin typeface="Calibri" pitchFamily="34" charset="0"/>
                <a:ea typeface="Calibri" pitchFamily="34" charset="-122"/>
                <a:cs typeface="Calibri" pitchFamily="34" charset="-120"/>
              </a:rPr>
              <a:t>Interactive</a:t>
            </a:r>
            <a:endParaRPr lang="en-US" sz="1000" dirty="0"/>
          </a:p>
          <a:p>
            <a:pPr marL="0" indent="0" algn="ctr">
              <a:buNone/>
            </a:pPr>
            <a:r>
              <a:rPr lang="en-US" sz="1000" dirty="0">
                <a:solidFill>
                  <a:srgbClr val="374151"/>
                </a:solidFill>
                <a:latin typeface="Calibri" pitchFamily="34" charset="0"/>
                <a:ea typeface="Calibri" pitchFamily="34" charset="-122"/>
                <a:cs typeface="Calibri" pitchFamily="34" charset="-120"/>
              </a:rPr>
              <a:t>Dashboard</a:t>
            </a:r>
            <a:endParaRPr lang="en-US" sz="1000" dirty="0"/>
          </a:p>
        </p:txBody>
      </p:sp>
      <p:sp>
        <p:nvSpPr>
          <p:cNvPr id="25" name="Shape 23"/>
          <p:cNvSpPr/>
          <p:nvPr/>
        </p:nvSpPr>
        <p:spPr>
          <a:xfrm>
            <a:off x="1920240" y="2103120"/>
            <a:ext cx="182880" cy="0"/>
          </a:xfrm>
          <a:prstGeom prst="line">
            <a:avLst/>
          </a:prstGeom>
          <a:noFill/>
          <a:ln w="19050">
            <a:solidFill>
              <a:srgbClr val="6B7280"/>
            </a:solidFill>
            <a:prstDash val="solid"/>
          </a:ln>
        </p:spPr>
        <p:txBody>
          <a:bodyPr/>
          <a:lstStyle/>
          <a:p>
            <a:endParaRPr lang="en-US"/>
          </a:p>
        </p:txBody>
      </p:sp>
      <p:sp>
        <p:nvSpPr>
          <p:cNvPr id="26" name="Text 24"/>
          <p:cNvSpPr/>
          <p:nvPr/>
        </p:nvSpPr>
        <p:spPr>
          <a:xfrm>
            <a:off x="1874520" y="1965960"/>
            <a:ext cx="274320" cy="274320"/>
          </a:xfrm>
          <a:prstGeom prst="rect">
            <a:avLst/>
          </a:prstGeom>
          <a:noFill/>
          <a:ln/>
        </p:spPr>
        <p:txBody>
          <a:bodyPr wrap="square" rtlCol="0" anchor="ctr"/>
          <a:lstStyle/>
          <a:p>
            <a:pPr marL="0" indent="0" algn="ctr">
              <a:buNone/>
            </a:pPr>
            <a:r>
              <a:rPr lang="en-US" sz="1400" dirty="0">
                <a:solidFill>
                  <a:srgbClr val="6B7280"/>
                </a:solidFill>
              </a:rPr>
              <a:t>→</a:t>
            </a:r>
            <a:endParaRPr lang="en-US" sz="1400" dirty="0"/>
          </a:p>
        </p:txBody>
      </p:sp>
      <p:sp>
        <p:nvSpPr>
          <p:cNvPr id="27" name="Shape 25"/>
          <p:cNvSpPr/>
          <p:nvPr/>
        </p:nvSpPr>
        <p:spPr>
          <a:xfrm>
            <a:off x="3657600" y="2103120"/>
            <a:ext cx="182880" cy="0"/>
          </a:xfrm>
          <a:prstGeom prst="line">
            <a:avLst/>
          </a:prstGeom>
          <a:noFill/>
          <a:ln w="19050">
            <a:solidFill>
              <a:srgbClr val="6B7280"/>
            </a:solidFill>
            <a:prstDash val="solid"/>
          </a:ln>
        </p:spPr>
        <p:txBody>
          <a:bodyPr/>
          <a:lstStyle/>
          <a:p>
            <a:endParaRPr lang="en-US"/>
          </a:p>
        </p:txBody>
      </p:sp>
      <p:sp>
        <p:nvSpPr>
          <p:cNvPr id="28" name="Text 26"/>
          <p:cNvSpPr/>
          <p:nvPr/>
        </p:nvSpPr>
        <p:spPr>
          <a:xfrm>
            <a:off x="3611880" y="1965960"/>
            <a:ext cx="274320" cy="274320"/>
          </a:xfrm>
          <a:prstGeom prst="rect">
            <a:avLst/>
          </a:prstGeom>
          <a:noFill/>
          <a:ln/>
        </p:spPr>
        <p:txBody>
          <a:bodyPr wrap="square" rtlCol="0" anchor="ctr"/>
          <a:lstStyle/>
          <a:p>
            <a:pPr marL="0" indent="0" algn="ctr">
              <a:buNone/>
            </a:pPr>
            <a:r>
              <a:rPr lang="en-US" sz="1400" dirty="0">
                <a:solidFill>
                  <a:srgbClr val="6B7280"/>
                </a:solidFill>
              </a:rPr>
              <a:t>→</a:t>
            </a:r>
            <a:endParaRPr lang="en-US" sz="1400" dirty="0"/>
          </a:p>
        </p:txBody>
      </p:sp>
      <p:sp>
        <p:nvSpPr>
          <p:cNvPr id="29" name="Shape 27"/>
          <p:cNvSpPr/>
          <p:nvPr/>
        </p:nvSpPr>
        <p:spPr>
          <a:xfrm>
            <a:off x="5394960" y="2103120"/>
            <a:ext cx="182880" cy="0"/>
          </a:xfrm>
          <a:prstGeom prst="line">
            <a:avLst/>
          </a:prstGeom>
          <a:noFill/>
          <a:ln w="19050">
            <a:solidFill>
              <a:srgbClr val="6B7280"/>
            </a:solidFill>
            <a:prstDash val="solid"/>
          </a:ln>
        </p:spPr>
        <p:txBody>
          <a:bodyPr/>
          <a:lstStyle/>
          <a:p>
            <a:endParaRPr lang="en-US"/>
          </a:p>
        </p:txBody>
      </p:sp>
      <p:sp>
        <p:nvSpPr>
          <p:cNvPr id="30" name="Text 28"/>
          <p:cNvSpPr/>
          <p:nvPr/>
        </p:nvSpPr>
        <p:spPr>
          <a:xfrm>
            <a:off x="5349240" y="1965960"/>
            <a:ext cx="274320" cy="274320"/>
          </a:xfrm>
          <a:prstGeom prst="rect">
            <a:avLst/>
          </a:prstGeom>
          <a:noFill/>
          <a:ln/>
        </p:spPr>
        <p:txBody>
          <a:bodyPr wrap="square" rtlCol="0" anchor="ctr"/>
          <a:lstStyle/>
          <a:p>
            <a:pPr marL="0" indent="0" algn="ctr">
              <a:buNone/>
            </a:pPr>
            <a:r>
              <a:rPr lang="en-US" sz="1400" dirty="0">
                <a:solidFill>
                  <a:srgbClr val="6B7280"/>
                </a:solidFill>
              </a:rPr>
              <a:t>→</a:t>
            </a:r>
            <a:endParaRPr lang="en-US" sz="1400" dirty="0"/>
          </a:p>
        </p:txBody>
      </p:sp>
      <p:sp>
        <p:nvSpPr>
          <p:cNvPr id="31" name="Shape 29"/>
          <p:cNvSpPr/>
          <p:nvPr/>
        </p:nvSpPr>
        <p:spPr>
          <a:xfrm>
            <a:off x="7132320" y="2103120"/>
            <a:ext cx="182880" cy="0"/>
          </a:xfrm>
          <a:prstGeom prst="line">
            <a:avLst/>
          </a:prstGeom>
          <a:noFill/>
          <a:ln w="19050">
            <a:solidFill>
              <a:srgbClr val="6B7280"/>
            </a:solidFill>
            <a:prstDash val="solid"/>
          </a:ln>
        </p:spPr>
        <p:txBody>
          <a:bodyPr/>
          <a:lstStyle/>
          <a:p>
            <a:endParaRPr lang="en-US"/>
          </a:p>
        </p:txBody>
      </p:sp>
      <p:sp>
        <p:nvSpPr>
          <p:cNvPr id="32" name="Text 30"/>
          <p:cNvSpPr/>
          <p:nvPr/>
        </p:nvSpPr>
        <p:spPr>
          <a:xfrm>
            <a:off x="7086600" y="1965960"/>
            <a:ext cx="274320" cy="274320"/>
          </a:xfrm>
          <a:prstGeom prst="rect">
            <a:avLst/>
          </a:prstGeom>
          <a:noFill/>
          <a:ln/>
        </p:spPr>
        <p:txBody>
          <a:bodyPr wrap="square" rtlCol="0" anchor="ctr"/>
          <a:lstStyle/>
          <a:p>
            <a:pPr marL="0" indent="0" algn="ctr">
              <a:buNone/>
            </a:pPr>
            <a:r>
              <a:rPr lang="en-US" sz="1400" dirty="0">
                <a:solidFill>
                  <a:srgbClr val="6B7280"/>
                </a:solidFill>
              </a:rPr>
              <a:t>→</a:t>
            </a:r>
            <a:endParaRPr lang="en-US" sz="1400" dirty="0"/>
          </a:p>
        </p:txBody>
      </p:sp>
      <p:sp>
        <p:nvSpPr>
          <p:cNvPr id="33" name="Shape 31"/>
          <p:cNvSpPr/>
          <p:nvPr/>
        </p:nvSpPr>
        <p:spPr>
          <a:xfrm>
            <a:off x="365760" y="3063240"/>
            <a:ext cx="1234440" cy="384048"/>
          </a:xfrm>
          <a:prstGeom prst="rect">
            <a:avLst/>
          </a:prstGeom>
          <a:solidFill>
            <a:srgbClr val="FFFFFF"/>
          </a:solidFill>
          <a:ln w="12700">
            <a:solidFill>
              <a:srgbClr val="9D1535"/>
            </a:solidFill>
            <a:prstDash val="solid"/>
          </a:ln>
        </p:spPr>
        <p:txBody>
          <a:bodyPr/>
          <a:lstStyle/>
          <a:p>
            <a:endParaRPr lang="en-US"/>
          </a:p>
        </p:txBody>
      </p:sp>
      <p:sp>
        <p:nvSpPr>
          <p:cNvPr id="34" name="Text 32"/>
          <p:cNvSpPr/>
          <p:nvPr/>
        </p:nvSpPr>
        <p:spPr>
          <a:xfrm>
            <a:off x="411480" y="3081528"/>
            <a:ext cx="1143000" cy="201168"/>
          </a:xfrm>
          <a:prstGeom prst="rect">
            <a:avLst/>
          </a:prstGeom>
          <a:noFill/>
          <a:ln/>
        </p:spPr>
        <p:txBody>
          <a:bodyPr wrap="square" rtlCol="0" anchor="ctr"/>
          <a:lstStyle/>
          <a:p>
            <a:pPr marL="0" indent="0">
              <a:buNone/>
            </a:pPr>
            <a:r>
              <a:rPr lang="en-US" sz="850" b="1" dirty="0">
                <a:solidFill>
                  <a:srgbClr val="9D1535"/>
                </a:solidFill>
                <a:latin typeface="Calibri" pitchFamily="34" charset="0"/>
                <a:ea typeface="Calibri" pitchFamily="34" charset="-122"/>
                <a:cs typeface="Calibri" pitchFamily="34" charset="-120"/>
              </a:rPr>
              <a:t>WebMD Reviews</a:t>
            </a:r>
            <a:endParaRPr lang="en-US" sz="850" dirty="0"/>
          </a:p>
        </p:txBody>
      </p:sp>
      <p:sp>
        <p:nvSpPr>
          <p:cNvPr id="35" name="Text 33"/>
          <p:cNvSpPr/>
          <p:nvPr/>
        </p:nvSpPr>
        <p:spPr>
          <a:xfrm>
            <a:off x="411480" y="3264408"/>
            <a:ext cx="1143000" cy="164592"/>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Selenium scraping</a:t>
            </a:r>
            <a:endParaRPr lang="en-US" sz="750" dirty="0"/>
          </a:p>
        </p:txBody>
      </p:sp>
      <p:sp>
        <p:nvSpPr>
          <p:cNvPr id="36" name="Shape 34"/>
          <p:cNvSpPr/>
          <p:nvPr/>
        </p:nvSpPr>
        <p:spPr>
          <a:xfrm>
            <a:off x="1737360" y="3063240"/>
            <a:ext cx="1234440" cy="384048"/>
          </a:xfrm>
          <a:prstGeom prst="rect">
            <a:avLst/>
          </a:prstGeom>
          <a:solidFill>
            <a:srgbClr val="FFFFFF"/>
          </a:solidFill>
          <a:ln w="12700">
            <a:solidFill>
              <a:srgbClr val="059669"/>
            </a:solidFill>
            <a:prstDash val="solid"/>
          </a:ln>
        </p:spPr>
        <p:txBody>
          <a:bodyPr/>
          <a:lstStyle/>
          <a:p>
            <a:endParaRPr lang="en-US"/>
          </a:p>
        </p:txBody>
      </p:sp>
      <p:sp>
        <p:nvSpPr>
          <p:cNvPr id="37" name="Text 35"/>
          <p:cNvSpPr/>
          <p:nvPr/>
        </p:nvSpPr>
        <p:spPr>
          <a:xfrm>
            <a:off x="1783080" y="3081528"/>
            <a:ext cx="1143000" cy="201168"/>
          </a:xfrm>
          <a:prstGeom prst="rect">
            <a:avLst/>
          </a:prstGeom>
          <a:noFill/>
          <a:ln/>
        </p:spPr>
        <p:txBody>
          <a:bodyPr wrap="square" rtlCol="0" anchor="ctr"/>
          <a:lstStyle/>
          <a:p>
            <a:pPr marL="0" indent="0">
              <a:buNone/>
            </a:pPr>
            <a:r>
              <a:rPr lang="en-US" sz="850" b="1" dirty="0">
                <a:solidFill>
                  <a:srgbClr val="059669"/>
                </a:solidFill>
                <a:latin typeface="Calibri" pitchFamily="34" charset="0"/>
                <a:ea typeface="Calibri" pitchFamily="34" charset="-122"/>
                <a:cs typeface="Calibri" pitchFamily="34" charset="-120"/>
              </a:rPr>
              <a:t>NADAC/CMS</a:t>
            </a:r>
            <a:endParaRPr lang="en-US" sz="850" dirty="0"/>
          </a:p>
        </p:txBody>
      </p:sp>
      <p:sp>
        <p:nvSpPr>
          <p:cNvPr id="38" name="Text 36"/>
          <p:cNvSpPr/>
          <p:nvPr/>
        </p:nvSpPr>
        <p:spPr>
          <a:xfrm>
            <a:off x="1783080" y="3264408"/>
            <a:ext cx="1143000" cy="164592"/>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Socrata REST API</a:t>
            </a:r>
            <a:endParaRPr lang="en-US" sz="750" dirty="0"/>
          </a:p>
        </p:txBody>
      </p:sp>
      <p:sp>
        <p:nvSpPr>
          <p:cNvPr id="39" name="Shape 37"/>
          <p:cNvSpPr/>
          <p:nvPr/>
        </p:nvSpPr>
        <p:spPr>
          <a:xfrm>
            <a:off x="365760" y="3538728"/>
            <a:ext cx="1234440" cy="384048"/>
          </a:xfrm>
          <a:prstGeom prst="rect">
            <a:avLst/>
          </a:prstGeom>
          <a:solidFill>
            <a:srgbClr val="FFFFFF"/>
          </a:solidFill>
          <a:ln w="12700">
            <a:solidFill>
              <a:srgbClr val="D97706"/>
            </a:solidFill>
            <a:prstDash val="solid"/>
          </a:ln>
        </p:spPr>
        <p:txBody>
          <a:bodyPr/>
          <a:lstStyle/>
          <a:p>
            <a:endParaRPr lang="en-US"/>
          </a:p>
        </p:txBody>
      </p:sp>
      <p:sp>
        <p:nvSpPr>
          <p:cNvPr id="40" name="Text 38"/>
          <p:cNvSpPr/>
          <p:nvPr/>
        </p:nvSpPr>
        <p:spPr>
          <a:xfrm>
            <a:off x="411480" y="3557016"/>
            <a:ext cx="1143000" cy="201168"/>
          </a:xfrm>
          <a:prstGeom prst="rect">
            <a:avLst/>
          </a:prstGeom>
          <a:noFill/>
          <a:ln/>
        </p:spPr>
        <p:txBody>
          <a:bodyPr wrap="square" rtlCol="0" anchor="ctr"/>
          <a:lstStyle/>
          <a:p>
            <a:pPr marL="0" indent="0">
              <a:buNone/>
            </a:pPr>
            <a:r>
              <a:rPr lang="en-US" sz="850" b="1" dirty="0">
                <a:solidFill>
                  <a:srgbClr val="D97706"/>
                </a:solidFill>
                <a:latin typeface="Calibri" pitchFamily="34" charset="0"/>
                <a:ea typeface="Calibri" pitchFamily="34" charset="-122"/>
                <a:cs typeface="Calibri" pitchFamily="34" charset="-120"/>
              </a:rPr>
              <a:t>ClinicalTrials</a:t>
            </a:r>
            <a:endParaRPr lang="en-US" sz="850" dirty="0"/>
          </a:p>
        </p:txBody>
      </p:sp>
      <p:sp>
        <p:nvSpPr>
          <p:cNvPr id="41" name="Text 39"/>
          <p:cNvSpPr/>
          <p:nvPr/>
        </p:nvSpPr>
        <p:spPr>
          <a:xfrm>
            <a:off x="411480" y="3739896"/>
            <a:ext cx="1143000" cy="164592"/>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REST API v2</a:t>
            </a:r>
            <a:endParaRPr lang="en-US" sz="750" dirty="0"/>
          </a:p>
        </p:txBody>
      </p:sp>
      <p:sp>
        <p:nvSpPr>
          <p:cNvPr id="42" name="Shape 40"/>
          <p:cNvSpPr/>
          <p:nvPr/>
        </p:nvSpPr>
        <p:spPr>
          <a:xfrm>
            <a:off x="1737360" y="3538728"/>
            <a:ext cx="1234440" cy="384048"/>
          </a:xfrm>
          <a:prstGeom prst="rect">
            <a:avLst/>
          </a:prstGeom>
          <a:solidFill>
            <a:srgbClr val="FFFFFF"/>
          </a:solidFill>
          <a:ln w="12700">
            <a:solidFill>
              <a:srgbClr val="9D1535"/>
            </a:solidFill>
            <a:prstDash val="solid"/>
          </a:ln>
        </p:spPr>
        <p:txBody>
          <a:bodyPr/>
          <a:lstStyle/>
          <a:p>
            <a:endParaRPr lang="en-US"/>
          </a:p>
        </p:txBody>
      </p:sp>
      <p:sp>
        <p:nvSpPr>
          <p:cNvPr id="43" name="Text 41"/>
          <p:cNvSpPr/>
          <p:nvPr/>
        </p:nvSpPr>
        <p:spPr>
          <a:xfrm>
            <a:off x="1783080" y="3557016"/>
            <a:ext cx="1143000" cy="201168"/>
          </a:xfrm>
          <a:prstGeom prst="rect">
            <a:avLst/>
          </a:prstGeom>
          <a:noFill/>
          <a:ln/>
        </p:spPr>
        <p:txBody>
          <a:bodyPr wrap="square" rtlCol="0" anchor="ctr"/>
          <a:lstStyle/>
          <a:p>
            <a:pPr marL="0" indent="0">
              <a:buNone/>
            </a:pPr>
            <a:r>
              <a:rPr lang="en-US" sz="850" b="1" dirty="0">
                <a:solidFill>
                  <a:srgbClr val="9D1535"/>
                </a:solidFill>
                <a:latin typeface="Calibri" pitchFamily="34" charset="0"/>
                <a:ea typeface="Calibri" pitchFamily="34" charset="-122"/>
                <a:cs typeface="Calibri" pitchFamily="34" charset="-120"/>
              </a:rPr>
              <a:t>FDA Shortages</a:t>
            </a:r>
            <a:endParaRPr lang="en-US" sz="850" dirty="0"/>
          </a:p>
        </p:txBody>
      </p:sp>
      <p:sp>
        <p:nvSpPr>
          <p:cNvPr id="44" name="Text 42"/>
          <p:cNvSpPr/>
          <p:nvPr/>
        </p:nvSpPr>
        <p:spPr>
          <a:xfrm>
            <a:off x="1783080" y="3739896"/>
            <a:ext cx="1143000" cy="164592"/>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OpenFDA API</a:t>
            </a:r>
            <a:endParaRPr lang="en-US" sz="750" dirty="0"/>
          </a:p>
        </p:txBody>
      </p:sp>
      <p:sp>
        <p:nvSpPr>
          <p:cNvPr id="45" name="Shape 43"/>
          <p:cNvSpPr/>
          <p:nvPr/>
        </p:nvSpPr>
        <p:spPr>
          <a:xfrm>
            <a:off x="365760" y="4014216"/>
            <a:ext cx="1234440" cy="384048"/>
          </a:xfrm>
          <a:prstGeom prst="rect">
            <a:avLst/>
          </a:prstGeom>
          <a:solidFill>
            <a:srgbClr val="FFFFFF"/>
          </a:solidFill>
          <a:ln w="12700">
            <a:solidFill>
              <a:srgbClr val="7C3AED"/>
            </a:solidFill>
            <a:prstDash val="solid"/>
          </a:ln>
        </p:spPr>
        <p:txBody>
          <a:bodyPr/>
          <a:lstStyle/>
          <a:p>
            <a:endParaRPr lang="en-US"/>
          </a:p>
        </p:txBody>
      </p:sp>
      <p:sp>
        <p:nvSpPr>
          <p:cNvPr id="46" name="Text 44"/>
          <p:cNvSpPr/>
          <p:nvPr/>
        </p:nvSpPr>
        <p:spPr>
          <a:xfrm>
            <a:off x="411480" y="4032504"/>
            <a:ext cx="1143000" cy="201168"/>
          </a:xfrm>
          <a:prstGeom prst="rect">
            <a:avLst/>
          </a:prstGeom>
          <a:noFill/>
          <a:ln/>
        </p:spPr>
        <p:txBody>
          <a:bodyPr wrap="square" rtlCol="0" anchor="ctr"/>
          <a:lstStyle/>
          <a:p>
            <a:pPr marL="0" indent="0">
              <a:buNone/>
            </a:pPr>
            <a:r>
              <a:rPr lang="en-US" sz="850" b="1" dirty="0">
                <a:solidFill>
                  <a:srgbClr val="7C3AED"/>
                </a:solidFill>
                <a:latin typeface="Calibri" pitchFamily="34" charset="0"/>
                <a:ea typeface="Calibri" pitchFamily="34" charset="-122"/>
                <a:cs typeface="Calibri" pitchFamily="34" charset="-120"/>
              </a:rPr>
              <a:t>OpenFDA FAERS</a:t>
            </a:r>
            <a:endParaRPr lang="en-US" sz="850" dirty="0"/>
          </a:p>
        </p:txBody>
      </p:sp>
      <p:sp>
        <p:nvSpPr>
          <p:cNvPr id="47" name="Text 45"/>
          <p:cNvSpPr/>
          <p:nvPr/>
        </p:nvSpPr>
        <p:spPr>
          <a:xfrm>
            <a:off x="411480" y="4215384"/>
            <a:ext cx="1143000" cy="164592"/>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REST API</a:t>
            </a:r>
            <a:endParaRPr lang="en-US" sz="750" dirty="0"/>
          </a:p>
        </p:txBody>
      </p:sp>
      <p:sp>
        <p:nvSpPr>
          <p:cNvPr id="48" name="Shape 46"/>
          <p:cNvSpPr/>
          <p:nvPr/>
        </p:nvSpPr>
        <p:spPr>
          <a:xfrm>
            <a:off x="1737360" y="4014216"/>
            <a:ext cx="1234440" cy="384048"/>
          </a:xfrm>
          <a:prstGeom prst="rect">
            <a:avLst/>
          </a:prstGeom>
          <a:solidFill>
            <a:srgbClr val="FFFFFF"/>
          </a:solidFill>
          <a:ln w="12700">
            <a:solidFill>
              <a:srgbClr val="0891B2"/>
            </a:solidFill>
            <a:prstDash val="solid"/>
          </a:ln>
        </p:spPr>
        <p:txBody>
          <a:bodyPr/>
          <a:lstStyle/>
          <a:p>
            <a:endParaRPr lang="en-US"/>
          </a:p>
        </p:txBody>
      </p:sp>
      <p:sp>
        <p:nvSpPr>
          <p:cNvPr id="49" name="Text 47"/>
          <p:cNvSpPr/>
          <p:nvPr/>
        </p:nvSpPr>
        <p:spPr>
          <a:xfrm>
            <a:off x="1783080" y="4032504"/>
            <a:ext cx="1143000" cy="201168"/>
          </a:xfrm>
          <a:prstGeom prst="rect">
            <a:avLst/>
          </a:prstGeom>
          <a:noFill/>
          <a:ln/>
        </p:spPr>
        <p:txBody>
          <a:bodyPr wrap="square" rtlCol="0" anchor="ctr"/>
          <a:lstStyle/>
          <a:p>
            <a:pPr marL="0" indent="0">
              <a:buNone/>
            </a:pPr>
            <a:r>
              <a:rPr lang="en-US" sz="850" b="1" dirty="0">
                <a:solidFill>
                  <a:srgbClr val="0891B2"/>
                </a:solidFill>
                <a:latin typeface="Calibri" pitchFamily="34" charset="0"/>
                <a:ea typeface="Calibri" pitchFamily="34" charset="-122"/>
                <a:cs typeface="Calibri" pitchFamily="34" charset="-120"/>
              </a:rPr>
              <a:t>PubMed/NCBI</a:t>
            </a:r>
            <a:endParaRPr lang="en-US" sz="850" dirty="0"/>
          </a:p>
        </p:txBody>
      </p:sp>
      <p:sp>
        <p:nvSpPr>
          <p:cNvPr id="50" name="Text 48"/>
          <p:cNvSpPr/>
          <p:nvPr/>
        </p:nvSpPr>
        <p:spPr>
          <a:xfrm>
            <a:off x="1783080" y="4215384"/>
            <a:ext cx="1143000" cy="164592"/>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Entrez E-utilities</a:t>
            </a:r>
            <a:endParaRPr lang="en-US" sz="750" dirty="0"/>
          </a:p>
        </p:txBody>
      </p:sp>
      <p:sp>
        <p:nvSpPr>
          <p:cNvPr id="54" name="Shape 52"/>
          <p:cNvSpPr/>
          <p:nvPr/>
        </p:nvSpPr>
        <p:spPr>
          <a:xfrm>
            <a:off x="4186646" y="3135086"/>
            <a:ext cx="1097280" cy="822960"/>
          </a:xfrm>
          <a:prstGeom prst="rect">
            <a:avLst/>
          </a:prstGeom>
          <a:solidFill>
            <a:srgbClr val="F7EEF1"/>
          </a:solidFill>
          <a:ln w="12700">
            <a:solidFill>
              <a:srgbClr val="9D1535"/>
            </a:solidFill>
            <a:prstDash val="solid"/>
          </a:ln>
        </p:spPr>
        <p:txBody>
          <a:bodyPr/>
          <a:lstStyle/>
          <a:p>
            <a:endParaRPr lang="en-US"/>
          </a:p>
        </p:txBody>
      </p:sp>
      <p:sp>
        <p:nvSpPr>
          <p:cNvPr id="55" name="Text 53"/>
          <p:cNvSpPr/>
          <p:nvPr/>
        </p:nvSpPr>
        <p:spPr>
          <a:xfrm>
            <a:off x="4193174" y="3063239"/>
            <a:ext cx="1097281" cy="520591"/>
          </a:xfrm>
          <a:prstGeom prst="rect">
            <a:avLst/>
          </a:prstGeom>
          <a:noFill/>
          <a:ln/>
        </p:spPr>
        <p:txBody>
          <a:bodyPr wrap="square" rtlCol="0" anchor="ctr"/>
          <a:lstStyle/>
          <a:p>
            <a:pPr marL="0" indent="0" algn="ctr">
              <a:buNone/>
            </a:pPr>
            <a:r>
              <a:rPr lang="en-US" sz="1800" b="1" dirty="0">
                <a:solidFill>
                  <a:srgbClr val="9D1535"/>
                </a:solidFill>
                <a:latin typeface="Trebuchet MS" pitchFamily="34" charset="0"/>
                <a:ea typeface="Trebuchet MS" pitchFamily="34" charset="-122"/>
                <a:cs typeface="Trebuchet MS" pitchFamily="34" charset="-120"/>
              </a:rPr>
              <a:t>6</a:t>
            </a:r>
            <a:endParaRPr lang="en-US" sz="1800" dirty="0"/>
          </a:p>
        </p:txBody>
      </p:sp>
      <p:sp>
        <p:nvSpPr>
          <p:cNvPr id="56" name="Text 54"/>
          <p:cNvSpPr/>
          <p:nvPr/>
        </p:nvSpPr>
        <p:spPr>
          <a:xfrm>
            <a:off x="4199707" y="3531580"/>
            <a:ext cx="1064622" cy="411480"/>
          </a:xfrm>
          <a:prstGeom prst="rect">
            <a:avLst/>
          </a:prstGeom>
          <a:noFill/>
          <a:ln/>
        </p:spPr>
        <p:txBody>
          <a:bodyPr wrap="square" rtlCol="0" anchor="ctr"/>
          <a:lstStyle/>
          <a:p>
            <a:pPr marL="0" indent="0" algn="ctr">
              <a:buNone/>
            </a:pPr>
            <a:r>
              <a:rPr lang="en-US" sz="800" dirty="0">
                <a:solidFill>
                  <a:srgbClr val="6B7280"/>
                </a:solidFill>
                <a:latin typeface="Calibri" pitchFamily="34" charset="0"/>
                <a:ea typeface="Calibri" pitchFamily="34" charset="-122"/>
                <a:cs typeface="Calibri" pitchFamily="34" charset="-120"/>
              </a:rPr>
              <a:t>Sources</a:t>
            </a:r>
            <a:endParaRPr lang="en-US" sz="800" dirty="0"/>
          </a:p>
        </p:txBody>
      </p:sp>
      <p:sp>
        <p:nvSpPr>
          <p:cNvPr id="57" name="Shape 55"/>
          <p:cNvSpPr/>
          <p:nvPr/>
        </p:nvSpPr>
        <p:spPr>
          <a:xfrm>
            <a:off x="5349240" y="3135086"/>
            <a:ext cx="1097280" cy="822960"/>
          </a:xfrm>
          <a:prstGeom prst="rect">
            <a:avLst/>
          </a:prstGeom>
          <a:solidFill>
            <a:srgbClr val="F7EEF1"/>
          </a:solidFill>
          <a:ln w="12700">
            <a:solidFill>
              <a:srgbClr val="9D1535"/>
            </a:solidFill>
            <a:prstDash val="solid"/>
          </a:ln>
        </p:spPr>
        <p:txBody>
          <a:bodyPr/>
          <a:lstStyle/>
          <a:p>
            <a:endParaRPr lang="en-US" dirty="0"/>
          </a:p>
        </p:txBody>
      </p:sp>
      <p:sp>
        <p:nvSpPr>
          <p:cNvPr id="58" name="Text 56"/>
          <p:cNvSpPr/>
          <p:nvPr/>
        </p:nvSpPr>
        <p:spPr>
          <a:xfrm>
            <a:off x="5394960" y="3063240"/>
            <a:ext cx="1051560" cy="529046"/>
          </a:xfrm>
          <a:prstGeom prst="rect">
            <a:avLst/>
          </a:prstGeom>
          <a:noFill/>
          <a:ln/>
        </p:spPr>
        <p:txBody>
          <a:bodyPr wrap="square" rtlCol="0" anchor="ctr"/>
          <a:lstStyle/>
          <a:p>
            <a:pPr marL="0" indent="0" algn="ctr">
              <a:buNone/>
            </a:pPr>
            <a:r>
              <a:rPr lang="en-US" sz="1800" b="1" dirty="0">
                <a:solidFill>
                  <a:srgbClr val="9D1535"/>
                </a:solidFill>
                <a:latin typeface="Trebuchet MS" pitchFamily="34" charset="0"/>
                <a:ea typeface="Trebuchet MS" pitchFamily="34" charset="-122"/>
                <a:cs typeface="Trebuchet MS" pitchFamily="34" charset="-120"/>
              </a:rPr>
              <a:t>50</a:t>
            </a:r>
            <a:endParaRPr lang="en-US" sz="1800" dirty="0"/>
          </a:p>
        </p:txBody>
      </p:sp>
      <p:sp>
        <p:nvSpPr>
          <p:cNvPr id="59" name="Text 57"/>
          <p:cNvSpPr/>
          <p:nvPr/>
        </p:nvSpPr>
        <p:spPr>
          <a:xfrm>
            <a:off x="5270863" y="3531580"/>
            <a:ext cx="1097280" cy="292608"/>
          </a:xfrm>
          <a:prstGeom prst="rect">
            <a:avLst/>
          </a:prstGeom>
          <a:noFill/>
          <a:ln/>
        </p:spPr>
        <p:txBody>
          <a:bodyPr wrap="square" rtlCol="0" anchor="ctr"/>
          <a:lstStyle/>
          <a:p>
            <a:pPr marL="0" indent="0" algn="ctr">
              <a:buNone/>
            </a:pPr>
            <a:r>
              <a:rPr lang="en-US" sz="800" dirty="0">
                <a:solidFill>
                  <a:srgbClr val="6B7280"/>
                </a:solidFill>
                <a:latin typeface="Calibri" pitchFamily="34" charset="0"/>
                <a:ea typeface="Calibri" pitchFamily="34" charset="-122"/>
                <a:cs typeface="Calibri" pitchFamily="34" charset="-120"/>
              </a:rPr>
              <a:t>Target Drugs</a:t>
            </a:r>
            <a:endParaRPr lang="en-US" sz="800" dirty="0"/>
          </a:p>
        </p:txBody>
      </p:sp>
      <p:sp>
        <p:nvSpPr>
          <p:cNvPr id="60" name="Shape 58"/>
          <p:cNvSpPr/>
          <p:nvPr/>
        </p:nvSpPr>
        <p:spPr>
          <a:xfrm>
            <a:off x="6537960" y="3120100"/>
            <a:ext cx="1097280" cy="822960"/>
          </a:xfrm>
          <a:prstGeom prst="rect">
            <a:avLst/>
          </a:prstGeom>
          <a:solidFill>
            <a:srgbClr val="F7EEF1"/>
          </a:solidFill>
          <a:ln w="12700">
            <a:solidFill>
              <a:srgbClr val="9D1535"/>
            </a:solidFill>
            <a:prstDash val="solid"/>
          </a:ln>
        </p:spPr>
        <p:txBody>
          <a:bodyPr/>
          <a:lstStyle/>
          <a:p>
            <a:endParaRPr lang="en-US"/>
          </a:p>
        </p:txBody>
      </p:sp>
      <p:sp>
        <p:nvSpPr>
          <p:cNvPr id="61" name="Text 59"/>
          <p:cNvSpPr/>
          <p:nvPr/>
        </p:nvSpPr>
        <p:spPr>
          <a:xfrm>
            <a:off x="6714308" y="3063240"/>
            <a:ext cx="692331" cy="566928"/>
          </a:xfrm>
          <a:prstGeom prst="rect">
            <a:avLst/>
          </a:prstGeom>
          <a:noFill/>
          <a:ln/>
        </p:spPr>
        <p:txBody>
          <a:bodyPr wrap="square" rtlCol="0" anchor="ctr"/>
          <a:lstStyle/>
          <a:p>
            <a:pPr marL="0" indent="0" algn="ctr">
              <a:buNone/>
            </a:pPr>
            <a:r>
              <a:rPr lang="en-US" sz="1800" b="1" dirty="0">
                <a:solidFill>
                  <a:srgbClr val="9D1535"/>
                </a:solidFill>
                <a:latin typeface="Trebuchet MS" pitchFamily="34" charset="0"/>
                <a:ea typeface="Trebuchet MS" pitchFamily="34" charset="-122"/>
                <a:cs typeface="Trebuchet MS" pitchFamily="34" charset="-120"/>
              </a:rPr>
              <a:t>9</a:t>
            </a:r>
            <a:endParaRPr lang="en-US" sz="1800" dirty="0"/>
          </a:p>
        </p:txBody>
      </p:sp>
      <p:sp>
        <p:nvSpPr>
          <p:cNvPr id="62" name="Text 60"/>
          <p:cNvSpPr/>
          <p:nvPr/>
        </p:nvSpPr>
        <p:spPr>
          <a:xfrm>
            <a:off x="6583680" y="3571385"/>
            <a:ext cx="1097280" cy="265583"/>
          </a:xfrm>
          <a:prstGeom prst="rect">
            <a:avLst/>
          </a:prstGeom>
          <a:noFill/>
          <a:ln/>
        </p:spPr>
        <p:txBody>
          <a:bodyPr wrap="square" rtlCol="0" anchor="ctr"/>
          <a:lstStyle/>
          <a:p>
            <a:pPr marL="0" indent="0" algn="ctr">
              <a:buNone/>
            </a:pPr>
            <a:r>
              <a:rPr lang="en-US" sz="800" dirty="0">
                <a:solidFill>
                  <a:srgbClr val="6B7280"/>
                </a:solidFill>
                <a:latin typeface="Calibri" pitchFamily="34" charset="0"/>
                <a:ea typeface="Calibri" pitchFamily="34" charset="-122"/>
                <a:cs typeface="Calibri" pitchFamily="34" charset="-120"/>
              </a:rPr>
              <a:t>Dashboard Pages</a:t>
            </a:r>
            <a:endParaRPr lang="en-US" sz="800" dirty="0"/>
          </a:p>
        </p:txBody>
      </p:sp>
      <p:grpSp>
        <p:nvGrpSpPr>
          <p:cNvPr id="68" name="Group 67">
            <a:extLst>
              <a:ext uri="{FF2B5EF4-FFF2-40B4-BE49-F238E27FC236}">
                <a16:creationId xmlns:a16="http://schemas.microsoft.com/office/drawing/2014/main" id="{7C1172A9-16AC-A691-E850-8BE55D5DB924}"/>
              </a:ext>
            </a:extLst>
          </p:cNvPr>
          <p:cNvGrpSpPr/>
          <p:nvPr/>
        </p:nvGrpSpPr>
        <p:grpSpPr>
          <a:xfrm>
            <a:off x="7680960" y="3114876"/>
            <a:ext cx="1280160" cy="824433"/>
            <a:chOff x="7498080" y="3017519"/>
            <a:chExt cx="1097280" cy="893963"/>
          </a:xfrm>
        </p:grpSpPr>
        <p:sp>
          <p:nvSpPr>
            <p:cNvPr id="63" name="Shape 61"/>
            <p:cNvSpPr/>
            <p:nvPr/>
          </p:nvSpPr>
          <p:spPr>
            <a:xfrm>
              <a:off x="7498080" y="3017519"/>
              <a:ext cx="1097280" cy="893963"/>
            </a:xfrm>
            <a:prstGeom prst="rect">
              <a:avLst/>
            </a:prstGeom>
            <a:solidFill>
              <a:srgbClr val="F7EEF1"/>
            </a:solidFill>
            <a:ln w="12700">
              <a:solidFill>
                <a:srgbClr val="9D1535"/>
              </a:solidFill>
              <a:prstDash val="solid"/>
            </a:ln>
          </p:spPr>
          <p:txBody>
            <a:bodyPr/>
            <a:lstStyle/>
            <a:p>
              <a:endParaRPr lang="en-US" dirty="0"/>
            </a:p>
          </p:txBody>
        </p:sp>
        <p:grpSp>
          <p:nvGrpSpPr>
            <p:cNvPr id="67" name="Group 66">
              <a:extLst>
                <a:ext uri="{FF2B5EF4-FFF2-40B4-BE49-F238E27FC236}">
                  <a16:creationId xmlns:a16="http://schemas.microsoft.com/office/drawing/2014/main" id="{9A9AF08C-0D3D-314B-7207-B27D6899D7F1}"/>
                </a:ext>
              </a:extLst>
            </p:cNvPr>
            <p:cNvGrpSpPr/>
            <p:nvPr/>
          </p:nvGrpSpPr>
          <p:grpSpPr>
            <a:xfrm>
              <a:off x="7498080" y="3063240"/>
              <a:ext cx="1097280" cy="722376"/>
              <a:chOff x="7498080" y="3063240"/>
              <a:chExt cx="1097280" cy="722376"/>
            </a:xfrm>
          </p:grpSpPr>
          <p:sp>
            <p:nvSpPr>
              <p:cNvPr id="64" name="Text 62"/>
              <p:cNvSpPr/>
              <p:nvPr/>
            </p:nvSpPr>
            <p:spPr>
              <a:xfrm>
                <a:off x="7498080" y="3063240"/>
                <a:ext cx="1097280" cy="411480"/>
              </a:xfrm>
              <a:prstGeom prst="rect">
                <a:avLst/>
              </a:prstGeom>
              <a:noFill/>
              <a:ln/>
            </p:spPr>
            <p:txBody>
              <a:bodyPr wrap="square" rtlCol="0" anchor="ctr"/>
              <a:lstStyle/>
              <a:p>
                <a:pPr marL="0" indent="0" algn="ctr">
                  <a:buNone/>
                </a:pPr>
                <a:r>
                  <a:rPr lang="en-US" sz="1800" b="1" dirty="0">
                    <a:solidFill>
                      <a:srgbClr val="9D1535"/>
                    </a:solidFill>
                    <a:latin typeface="Trebuchet MS" pitchFamily="34" charset="0"/>
                    <a:ea typeface="Trebuchet MS" pitchFamily="34" charset="-122"/>
                    <a:cs typeface="Trebuchet MS" pitchFamily="34" charset="-120"/>
                  </a:rPr>
                  <a:t>43</a:t>
                </a:r>
                <a:endParaRPr lang="en-US" sz="1800" dirty="0"/>
              </a:p>
            </p:txBody>
          </p:sp>
          <p:sp>
            <p:nvSpPr>
              <p:cNvPr id="65" name="Text 63"/>
              <p:cNvSpPr/>
              <p:nvPr/>
            </p:nvSpPr>
            <p:spPr>
              <a:xfrm>
                <a:off x="7498080" y="3493008"/>
                <a:ext cx="1097280" cy="292608"/>
              </a:xfrm>
              <a:prstGeom prst="rect">
                <a:avLst/>
              </a:prstGeom>
              <a:noFill/>
              <a:ln/>
            </p:spPr>
            <p:txBody>
              <a:bodyPr wrap="square" rtlCol="0" anchor="ctr"/>
              <a:lstStyle/>
              <a:p>
                <a:pPr marL="0" indent="0" algn="ctr">
                  <a:buNone/>
                </a:pPr>
                <a:r>
                  <a:rPr lang="en-US" sz="800" dirty="0">
                    <a:solidFill>
                      <a:srgbClr val="6B7280"/>
                    </a:solidFill>
                    <a:latin typeface="Calibri" pitchFamily="34" charset="0"/>
                    <a:ea typeface="Calibri" pitchFamily="34" charset="-122"/>
                    <a:cs typeface="Calibri" pitchFamily="34" charset="-120"/>
                  </a:rPr>
                  <a:t>ML Features</a:t>
                </a:r>
                <a:endParaRPr lang="en-US" sz="800" dirty="0"/>
              </a:p>
            </p:txBody>
          </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365760" y="201168"/>
            <a:ext cx="2377440" cy="256032"/>
          </a:xfrm>
          <a:prstGeom prst="rect">
            <a:avLst/>
          </a:prstGeom>
          <a:solidFill>
            <a:srgbClr val="9D1535"/>
          </a:solidFill>
          <a:ln w="12700">
            <a:solidFill>
              <a:srgbClr val="9D1535"/>
            </a:solidFill>
            <a:prstDash val="solid"/>
          </a:ln>
        </p:spPr>
        <p:txBody>
          <a:bodyPr/>
          <a:lstStyle/>
          <a:p>
            <a:endParaRPr lang="en-US"/>
          </a:p>
        </p:txBody>
      </p:sp>
      <p:sp>
        <p:nvSpPr>
          <p:cNvPr id="3" name="Text 1"/>
          <p:cNvSpPr/>
          <p:nvPr/>
        </p:nvSpPr>
        <p:spPr>
          <a:xfrm>
            <a:off x="365760" y="201168"/>
            <a:ext cx="2377440"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rPr>
              <a:t>SPEAKER 1 — DATA SOURCE 1</a:t>
            </a:r>
            <a:endParaRPr lang="en-US" sz="800" dirty="0"/>
          </a:p>
        </p:txBody>
      </p:sp>
      <p:sp>
        <p:nvSpPr>
          <p:cNvPr id="4" name="Text 2"/>
          <p:cNvSpPr/>
          <p:nvPr/>
        </p:nvSpPr>
        <p:spPr>
          <a:xfrm>
            <a:off x="365760" y="566928"/>
            <a:ext cx="8412480" cy="548640"/>
          </a:xfrm>
          <a:prstGeom prst="rect">
            <a:avLst/>
          </a:prstGeom>
          <a:noFill/>
          <a:ln/>
        </p:spPr>
        <p:txBody>
          <a:bodyPr wrap="square" rtlCol="0" anchor="ctr"/>
          <a:lstStyle/>
          <a:p>
            <a:pPr marL="0" indent="0">
              <a:buNone/>
            </a:pPr>
            <a:r>
              <a:rPr lang="en-US" sz="2200" b="1" dirty="0">
                <a:solidFill>
                  <a:srgbClr val="111827"/>
                </a:solidFill>
                <a:latin typeface="Trebuchet MS" pitchFamily="34" charset="0"/>
                <a:ea typeface="Trebuchet MS" pitchFamily="34" charset="-122"/>
                <a:cs typeface="Trebuchet MS" pitchFamily="34" charset="-120"/>
              </a:rPr>
              <a:t>Patient Reviews — WebMD (6,827 Records)</a:t>
            </a:r>
            <a:endParaRPr lang="en-US" sz="2200" dirty="0"/>
          </a:p>
        </p:txBody>
      </p:sp>
      <p:sp>
        <p:nvSpPr>
          <p:cNvPr id="5" name="Shape 3"/>
          <p:cNvSpPr/>
          <p:nvPr/>
        </p:nvSpPr>
        <p:spPr>
          <a:xfrm>
            <a:off x="365760" y="1298448"/>
            <a:ext cx="8412480" cy="0"/>
          </a:xfrm>
          <a:prstGeom prst="line">
            <a:avLst/>
          </a:prstGeom>
          <a:noFill/>
          <a:ln w="12700">
            <a:solidFill>
              <a:srgbClr val="E5E7EB"/>
            </a:solidFill>
            <a:prstDash val="solid"/>
          </a:ln>
        </p:spPr>
        <p:txBody>
          <a:bodyPr/>
          <a:lstStyle/>
          <a:p>
            <a:endParaRPr lang="en-US"/>
          </a:p>
        </p:txBody>
      </p:sp>
      <p:sp>
        <p:nvSpPr>
          <p:cNvPr id="6" name="Shape 4"/>
          <p:cNvSpPr/>
          <p:nvPr/>
        </p:nvSpPr>
        <p:spPr>
          <a:xfrm>
            <a:off x="0" y="4800600"/>
            <a:ext cx="9144000" cy="347472"/>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365760" y="4809744"/>
            <a:ext cx="7315200" cy="274320"/>
          </a:xfrm>
          <a:prstGeom prst="rect">
            <a:avLst/>
          </a:prstGeom>
          <a:noFill/>
          <a:ln/>
        </p:spPr>
        <p:txBody>
          <a:bodyPr wrap="square" rtlCol="0" anchor="ctr"/>
          <a:lstStyle/>
          <a:p>
            <a:pPr marL="0" indent="0">
              <a:buNone/>
            </a:pPr>
            <a:endParaRPr lang="en-US" sz="900" dirty="0"/>
          </a:p>
        </p:txBody>
      </p:sp>
      <p:sp>
        <p:nvSpPr>
          <p:cNvPr id="8" name="Text 6"/>
          <p:cNvSpPr/>
          <p:nvPr/>
        </p:nvSpPr>
        <p:spPr>
          <a:xfrm>
            <a:off x="4572000" y="4809744"/>
            <a:ext cx="4389120" cy="274320"/>
          </a:xfrm>
          <a:prstGeom prst="rect">
            <a:avLst/>
          </a:prstGeom>
          <a:noFill/>
          <a:ln/>
        </p:spPr>
        <p:txBody>
          <a:bodyPr wrap="square" rtlCol="0" anchor="ctr"/>
          <a:lstStyle/>
          <a:p>
            <a:pPr marL="0" indent="0" algn="r">
              <a:buNone/>
            </a:pPr>
            <a:endParaRPr lang="en-US" sz="900" dirty="0"/>
          </a:p>
        </p:txBody>
      </p:sp>
      <p:sp>
        <p:nvSpPr>
          <p:cNvPr id="9" name="Text 7"/>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AAAAAA"/>
                </a:solidFill>
              </a:rPr>
              <a:t>4 / 25</a:t>
            </a:r>
            <a:endParaRPr lang="en-US" sz="900" dirty="0"/>
          </a:p>
        </p:txBody>
      </p:sp>
      <p:grpSp>
        <p:nvGrpSpPr>
          <p:cNvPr id="31" name="Group 30">
            <a:extLst>
              <a:ext uri="{FF2B5EF4-FFF2-40B4-BE49-F238E27FC236}">
                <a16:creationId xmlns:a16="http://schemas.microsoft.com/office/drawing/2014/main" id="{67E9AB0A-F2FB-23B1-DC19-89E8DCCEAADE}"/>
              </a:ext>
            </a:extLst>
          </p:cNvPr>
          <p:cNvGrpSpPr/>
          <p:nvPr/>
        </p:nvGrpSpPr>
        <p:grpSpPr>
          <a:xfrm>
            <a:off x="365760" y="1417320"/>
            <a:ext cx="8229600" cy="1005840"/>
            <a:chOff x="365760" y="1417320"/>
            <a:chExt cx="5394960" cy="1005840"/>
          </a:xfrm>
        </p:grpSpPr>
        <p:sp>
          <p:nvSpPr>
            <p:cNvPr id="10" name="Shape 8"/>
            <p:cNvSpPr/>
            <p:nvPr/>
          </p:nvSpPr>
          <p:spPr>
            <a:xfrm>
              <a:off x="365760" y="1417320"/>
              <a:ext cx="1280160" cy="1005840"/>
            </a:xfrm>
            <a:prstGeom prst="rect">
              <a:avLst/>
            </a:prstGeom>
            <a:solidFill>
              <a:srgbClr val="F7EEF1"/>
            </a:solidFill>
            <a:ln w="25400">
              <a:solidFill>
                <a:srgbClr val="9D1535"/>
              </a:solidFill>
              <a:prstDash val="solid"/>
            </a:ln>
            <a:effectLst>
              <a:outerShdw blurRad="101600" dist="25400" dir="8100000" algn="bl" rotWithShape="0">
                <a:srgbClr val="000000">
                  <a:alpha val="10000"/>
                </a:srgbClr>
              </a:outerShdw>
            </a:effectLst>
          </p:spPr>
          <p:txBody>
            <a:bodyPr/>
            <a:lstStyle/>
            <a:p>
              <a:endParaRPr lang="en-US"/>
            </a:p>
          </p:txBody>
        </p:sp>
        <p:sp>
          <p:nvSpPr>
            <p:cNvPr id="11" name="Text 9"/>
            <p:cNvSpPr/>
            <p:nvPr/>
          </p:nvSpPr>
          <p:spPr>
            <a:xfrm>
              <a:off x="365760" y="1490472"/>
              <a:ext cx="1280160" cy="553212"/>
            </a:xfrm>
            <a:prstGeom prst="rect">
              <a:avLst/>
            </a:prstGeom>
            <a:noFill/>
            <a:ln/>
          </p:spPr>
          <p:txBody>
            <a:bodyPr wrap="square" rtlCol="0" anchor="ctr"/>
            <a:lstStyle/>
            <a:p>
              <a:pPr marL="0" indent="0" algn="ctr">
                <a:buNone/>
              </a:pPr>
              <a:r>
                <a:rPr lang="en-US" sz="2800" b="1" dirty="0">
                  <a:solidFill>
                    <a:srgbClr val="9D1535"/>
                  </a:solidFill>
                  <a:latin typeface="Trebuchet MS" pitchFamily="34" charset="0"/>
                  <a:ea typeface="Trebuchet MS" pitchFamily="34" charset="-122"/>
                  <a:cs typeface="Trebuchet MS" pitchFamily="34" charset="-120"/>
                </a:rPr>
                <a:t>6,827</a:t>
              </a:r>
              <a:endParaRPr lang="en-US" sz="2800" dirty="0"/>
            </a:p>
          </p:txBody>
        </p:sp>
        <p:sp>
          <p:nvSpPr>
            <p:cNvPr id="12" name="Text 10"/>
            <p:cNvSpPr/>
            <p:nvPr/>
          </p:nvSpPr>
          <p:spPr>
            <a:xfrm>
              <a:off x="365760" y="2000707"/>
              <a:ext cx="1280160" cy="382219"/>
            </a:xfrm>
            <a:prstGeom prst="rect">
              <a:avLst/>
            </a:prstGeom>
            <a:noFill/>
            <a:ln/>
          </p:spPr>
          <p:txBody>
            <a:bodyPr wrap="square" rtlCol="0" anchor="t"/>
            <a:lstStyle/>
            <a:p>
              <a:pPr marL="0" indent="0" algn="ctr">
                <a:buNone/>
              </a:pPr>
              <a:r>
                <a:rPr lang="en-US" sz="950" kern="0" spc="100" dirty="0">
                  <a:solidFill>
                    <a:srgbClr val="6B7280"/>
                  </a:solidFill>
                  <a:latin typeface="Calibri" pitchFamily="34" charset="0"/>
                  <a:ea typeface="Calibri" pitchFamily="34" charset="-122"/>
                  <a:cs typeface="Calibri" pitchFamily="34" charset="-120"/>
                </a:rPr>
                <a:t>PATIENT REVIEWS</a:t>
              </a:r>
              <a:endParaRPr lang="en-US" sz="950" dirty="0"/>
            </a:p>
          </p:txBody>
        </p:sp>
        <p:sp>
          <p:nvSpPr>
            <p:cNvPr id="13" name="Shape 11"/>
            <p:cNvSpPr/>
            <p:nvPr/>
          </p:nvSpPr>
          <p:spPr>
            <a:xfrm>
              <a:off x="1737360" y="1417320"/>
              <a:ext cx="1280160" cy="1005840"/>
            </a:xfrm>
            <a:prstGeom prst="rect">
              <a:avLst/>
            </a:prstGeom>
            <a:solidFill>
              <a:srgbClr val="E8F0FE"/>
            </a:solidFill>
            <a:ln w="25400">
              <a:solidFill>
                <a:srgbClr val="2563EB"/>
              </a:solidFill>
              <a:prstDash val="solid"/>
            </a:ln>
            <a:effectLst>
              <a:outerShdw blurRad="101600" dist="25400" dir="8100000" algn="bl" rotWithShape="0">
                <a:srgbClr val="000000">
                  <a:alpha val="10000"/>
                </a:srgbClr>
              </a:outerShdw>
            </a:effectLst>
          </p:spPr>
          <p:txBody>
            <a:bodyPr/>
            <a:lstStyle/>
            <a:p>
              <a:endParaRPr lang="en-US"/>
            </a:p>
          </p:txBody>
        </p:sp>
        <p:sp>
          <p:nvSpPr>
            <p:cNvPr id="14" name="Text 12"/>
            <p:cNvSpPr/>
            <p:nvPr/>
          </p:nvSpPr>
          <p:spPr>
            <a:xfrm>
              <a:off x="1737360" y="1490472"/>
              <a:ext cx="1280160" cy="553212"/>
            </a:xfrm>
            <a:prstGeom prst="rect">
              <a:avLst/>
            </a:prstGeom>
            <a:noFill/>
            <a:ln/>
          </p:spPr>
          <p:txBody>
            <a:bodyPr wrap="square" rtlCol="0" anchor="ctr"/>
            <a:lstStyle/>
            <a:p>
              <a:pPr marL="0" indent="0" algn="ctr">
                <a:buNone/>
              </a:pPr>
              <a:r>
                <a:rPr lang="en-US" sz="2800" b="1" dirty="0">
                  <a:solidFill>
                    <a:srgbClr val="2563EB"/>
                  </a:solidFill>
                  <a:latin typeface="Trebuchet MS" pitchFamily="34" charset="0"/>
                  <a:ea typeface="Trebuchet MS" pitchFamily="34" charset="-122"/>
                  <a:cs typeface="Trebuchet MS" pitchFamily="34" charset="-120"/>
                </a:rPr>
                <a:t>50/50</a:t>
              </a:r>
              <a:endParaRPr lang="en-US" sz="2800" dirty="0"/>
            </a:p>
          </p:txBody>
        </p:sp>
        <p:sp>
          <p:nvSpPr>
            <p:cNvPr id="15" name="Text 13"/>
            <p:cNvSpPr/>
            <p:nvPr/>
          </p:nvSpPr>
          <p:spPr>
            <a:xfrm>
              <a:off x="1737360" y="2000707"/>
              <a:ext cx="1280160" cy="382219"/>
            </a:xfrm>
            <a:prstGeom prst="rect">
              <a:avLst/>
            </a:prstGeom>
            <a:noFill/>
            <a:ln/>
          </p:spPr>
          <p:txBody>
            <a:bodyPr wrap="square" rtlCol="0" anchor="t"/>
            <a:lstStyle/>
            <a:p>
              <a:pPr marL="0" indent="0" algn="ctr">
                <a:buNone/>
              </a:pPr>
              <a:r>
                <a:rPr lang="en-US" sz="950" kern="0" spc="100" dirty="0">
                  <a:solidFill>
                    <a:srgbClr val="6B7280"/>
                  </a:solidFill>
                  <a:latin typeface="Calibri" pitchFamily="34" charset="0"/>
                  <a:ea typeface="Calibri" pitchFamily="34" charset="-122"/>
                  <a:cs typeface="Calibri" pitchFamily="34" charset="-120"/>
                </a:rPr>
                <a:t>DRUGS COVERED</a:t>
              </a:r>
              <a:endParaRPr lang="en-US" sz="950" dirty="0"/>
            </a:p>
          </p:txBody>
        </p:sp>
        <p:sp>
          <p:nvSpPr>
            <p:cNvPr id="16" name="Shape 14"/>
            <p:cNvSpPr/>
            <p:nvPr/>
          </p:nvSpPr>
          <p:spPr>
            <a:xfrm>
              <a:off x="3108960" y="1417320"/>
              <a:ext cx="1280160" cy="1005840"/>
            </a:xfrm>
            <a:prstGeom prst="rect">
              <a:avLst/>
            </a:prstGeom>
            <a:solidFill>
              <a:srgbClr val="E6F4EA"/>
            </a:solidFill>
            <a:ln w="25400">
              <a:solidFill>
                <a:srgbClr val="059669"/>
              </a:solidFill>
              <a:prstDash val="solid"/>
            </a:ln>
            <a:effectLst>
              <a:outerShdw blurRad="101600" dist="25400" dir="8100000" algn="bl" rotWithShape="0">
                <a:srgbClr val="000000">
                  <a:alpha val="10000"/>
                </a:srgbClr>
              </a:outerShdw>
            </a:effectLst>
          </p:spPr>
          <p:txBody>
            <a:bodyPr/>
            <a:lstStyle/>
            <a:p>
              <a:endParaRPr lang="en-US"/>
            </a:p>
          </p:txBody>
        </p:sp>
        <p:sp>
          <p:nvSpPr>
            <p:cNvPr id="17" name="Text 15"/>
            <p:cNvSpPr/>
            <p:nvPr/>
          </p:nvSpPr>
          <p:spPr>
            <a:xfrm>
              <a:off x="3108960" y="1490472"/>
              <a:ext cx="1280160" cy="553212"/>
            </a:xfrm>
            <a:prstGeom prst="rect">
              <a:avLst/>
            </a:prstGeom>
            <a:noFill/>
            <a:ln/>
          </p:spPr>
          <p:txBody>
            <a:bodyPr wrap="square" rtlCol="0" anchor="ctr"/>
            <a:lstStyle/>
            <a:p>
              <a:pPr marL="0" indent="0" algn="ctr">
                <a:buNone/>
              </a:pPr>
              <a:r>
                <a:rPr lang="en-US" sz="2800" b="1" dirty="0">
                  <a:solidFill>
                    <a:srgbClr val="059669"/>
                  </a:solidFill>
                  <a:latin typeface="Trebuchet MS" pitchFamily="34" charset="0"/>
                  <a:ea typeface="Trebuchet MS" pitchFamily="34" charset="-122"/>
                  <a:cs typeface="Trebuchet MS" pitchFamily="34" charset="-120"/>
                </a:rPr>
                <a:t>Selenium</a:t>
              </a:r>
              <a:endParaRPr lang="en-US" sz="2800" dirty="0"/>
            </a:p>
          </p:txBody>
        </p:sp>
        <p:sp>
          <p:nvSpPr>
            <p:cNvPr id="18" name="Text 16"/>
            <p:cNvSpPr/>
            <p:nvPr/>
          </p:nvSpPr>
          <p:spPr>
            <a:xfrm>
              <a:off x="3108960" y="2000707"/>
              <a:ext cx="1280160" cy="382219"/>
            </a:xfrm>
            <a:prstGeom prst="rect">
              <a:avLst/>
            </a:prstGeom>
            <a:noFill/>
            <a:ln/>
          </p:spPr>
          <p:txBody>
            <a:bodyPr wrap="square" rtlCol="0" anchor="t"/>
            <a:lstStyle/>
            <a:p>
              <a:pPr marL="0" indent="0" algn="ctr">
                <a:buNone/>
              </a:pPr>
              <a:r>
                <a:rPr lang="en-US" sz="950" kern="0" spc="100" dirty="0">
                  <a:solidFill>
                    <a:srgbClr val="6B7280"/>
                  </a:solidFill>
                  <a:latin typeface="Calibri" pitchFamily="34" charset="0"/>
                  <a:ea typeface="Calibri" pitchFamily="34" charset="-122"/>
                  <a:cs typeface="Calibri" pitchFamily="34" charset="-120"/>
                </a:rPr>
                <a:t>SCRAPING METHOD</a:t>
              </a:r>
              <a:endParaRPr lang="en-US" sz="950" dirty="0"/>
            </a:p>
          </p:txBody>
        </p:sp>
        <p:sp>
          <p:nvSpPr>
            <p:cNvPr id="19" name="Shape 17"/>
            <p:cNvSpPr/>
            <p:nvPr/>
          </p:nvSpPr>
          <p:spPr>
            <a:xfrm>
              <a:off x="4480560" y="1417320"/>
              <a:ext cx="1280160" cy="1005840"/>
            </a:xfrm>
            <a:prstGeom prst="rect">
              <a:avLst/>
            </a:prstGeom>
            <a:solidFill>
              <a:srgbClr val="FEF9E7"/>
            </a:solidFill>
            <a:ln w="25400">
              <a:solidFill>
                <a:srgbClr val="D97706"/>
              </a:solidFill>
              <a:prstDash val="solid"/>
            </a:ln>
            <a:effectLst>
              <a:outerShdw blurRad="101600" dist="25400" dir="8100000" algn="bl" rotWithShape="0">
                <a:srgbClr val="000000">
                  <a:alpha val="10000"/>
                </a:srgbClr>
              </a:outerShdw>
            </a:effectLst>
          </p:spPr>
          <p:txBody>
            <a:bodyPr/>
            <a:lstStyle/>
            <a:p>
              <a:endParaRPr lang="en-US" dirty="0"/>
            </a:p>
          </p:txBody>
        </p:sp>
        <p:sp>
          <p:nvSpPr>
            <p:cNvPr id="20" name="Text 18"/>
            <p:cNvSpPr/>
            <p:nvPr/>
          </p:nvSpPr>
          <p:spPr>
            <a:xfrm>
              <a:off x="4480560" y="1490472"/>
              <a:ext cx="1280160" cy="553212"/>
            </a:xfrm>
            <a:prstGeom prst="rect">
              <a:avLst/>
            </a:prstGeom>
            <a:noFill/>
            <a:ln/>
          </p:spPr>
          <p:txBody>
            <a:bodyPr wrap="square" rtlCol="0" anchor="ctr"/>
            <a:lstStyle/>
            <a:p>
              <a:pPr marL="0" indent="0" algn="ctr">
                <a:buNone/>
              </a:pPr>
              <a:r>
                <a:rPr lang="en-US" sz="2800" b="1" dirty="0">
                  <a:solidFill>
                    <a:srgbClr val="D97706"/>
                  </a:solidFill>
                  <a:latin typeface="Trebuchet MS" pitchFamily="34" charset="0"/>
                  <a:ea typeface="Trebuchet MS" pitchFamily="34" charset="-122"/>
                  <a:cs typeface="Trebuchet MS" pitchFamily="34" charset="-120"/>
                </a:rPr>
                <a:t>5 pages</a:t>
              </a:r>
              <a:endParaRPr lang="en-US" sz="2800" dirty="0"/>
            </a:p>
          </p:txBody>
        </p:sp>
        <p:sp>
          <p:nvSpPr>
            <p:cNvPr id="21" name="Text 19"/>
            <p:cNvSpPr/>
            <p:nvPr/>
          </p:nvSpPr>
          <p:spPr>
            <a:xfrm>
              <a:off x="4480560" y="2000707"/>
              <a:ext cx="1280160" cy="382219"/>
            </a:xfrm>
            <a:prstGeom prst="rect">
              <a:avLst/>
            </a:prstGeom>
            <a:noFill/>
            <a:ln/>
          </p:spPr>
          <p:txBody>
            <a:bodyPr wrap="square" rtlCol="0" anchor="t"/>
            <a:lstStyle/>
            <a:p>
              <a:pPr marL="0" indent="0" algn="ctr">
                <a:buNone/>
              </a:pPr>
              <a:r>
                <a:rPr lang="en-US" sz="950" kern="0" spc="100" dirty="0">
                  <a:solidFill>
                    <a:srgbClr val="6B7280"/>
                  </a:solidFill>
                  <a:latin typeface="Calibri" pitchFamily="34" charset="0"/>
                  <a:ea typeface="Calibri" pitchFamily="34" charset="-122"/>
                  <a:cs typeface="Calibri" pitchFamily="34" charset="-120"/>
                </a:rPr>
                <a:t>PER DRUG MAX</a:t>
              </a:r>
              <a:endParaRPr lang="en-US" sz="950" dirty="0"/>
            </a:p>
          </p:txBody>
        </p:sp>
      </p:grpSp>
      <p:sp>
        <p:nvSpPr>
          <p:cNvPr id="22" name="Shape 20"/>
          <p:cNvSpPr/>
          <p:nvPr/>
        </p:nvSpPr>
        <p:spPr>
          <a:xfrm>
            <a:off x="365760" y="2606040"/>
            <a:ext cx="4114800" cy="1965960"/>
          </a:xfrm>
          <a:prstGeom prst="rect">
            <a:avLst/>
          </a:prstGeom>
          <a:solidFill>
            <a:srgbClr val="FFFFFF"/>
          </a:solidFill>
          <a:ln w="12700">
            <a:solidFill>
              <a:srgbClr val="E5E7EB"/>
            </a:solidFill>
            <a:prstDash val="solid"/>
          </a:ln>
          <a:effectLst>
            <a:outerShdw blurRad="101600" dist="25400" dir="8100000" algn="bl" rotWithShape="0">
              <a:srgbClr val="000000">
                <a:alpha val="10000"/>
              </a:srgbClr>
            </a:outerShdw>
          </a:effectLst>
        </p:spPr>
        <p:txBody>
          <a:bodyPr/>
          <a:lstStyle/>
          <a:p>
            <a:endParaRPr lang="en-US"/>
          </a:p>
        </p:txBody>
      </p:sp>
      <p:sp>
        <p:nvSpPr>
          <p:cNvPr id="23" name="Shape 21"/>
          <p:cNvSpPr/>
          <p:nvPr/>
        </p:nvSpPr>
        <p:spPr>
          <a:xfrm>
            <a:off x="365760" y="2606040"/>
            <a:ext cx="54864" cy="1965960"/>
          </a:xfrm>
          <a:prstGeom prst="rect">
            <a:avLst/>
          </a:prstGeom>
          <a:solidFill>
            <a:srgbClr val="9D1535"/>
          </a:solidFill>
          <a:ln w="12700">
            <a:solidFill>
              <a:srgbClr val="9D1535"/>
            </a:solidFill>
            <a:prstDash val="solid"/>
          </a:ln>
        </p:spPr>
        <p:txBody>
          <a:bodyPr/>
          <a:lstStyle/>
          <a:p>
            <a:endParaRPr lang="en-US"/>
          </a:p>
        </p:txBody>
      </p:sp>
      <p:sp>
        <p:nvSpPr>
          <p:cNvPr id="24" name="Text 22"/>
          <p:cNvSpPr/>
          <p:nvPr/>
        </p:nvSpPr>
        <p:spPr>
          <a:xfrm>
            <a:off x="502920" y="2679192"/>
            <a:ext cx="3931920" cy="256032"/>
          </a:xfrm>
          <a:prstGeom prst="rect">
            <a:avLst/>
          </a:prstGeom>
          <a:noFill/>
          <a:ln/>
        </p:spPr>
        <p:txBody>
          <a:bodyPr wrap="square" rtlCol="0" anchor="ctr"/>
          <a:lstStyle/>
          <a:p>
            <a:pPr marL="0" indent="0">
              <a:buNone/>
            </a:pPr>
            <a:r>
              <a:rPr lang="en-US" sz="1100" b="1" dirty="0">
                <a:solidFill>
                  <a:srgbClr val="9D1535"/>
                </a:solidFill>
                <a:latin typeface="Trebuchet MS" pitchFamily="34" charset="0"/>
                <a:ea typeface="Trebuchet MS" pitchFamily="34" charset="-122"/>
                <a:cs typeface="Trebuchet MS" pitchFamily="34" charset="-120"/>
              </a:rPr>
              <a:t>Why Selenium (not requests)?</a:t>
            </a:r>
            <a:endParaRPr lang="en-US" sz="1100" dirty="0"/>
          </a:p>
        </p:txBody>
      </p:sp>
      <p:sp>
        <p:nvSpPr>
          <p:cNvPr id="25" name="Text 23"/>
          <p:cNvSpPr/>
          <p:nvPr/>
        </p:nvSpPr>
        <p:spPr>
          <a:xfrm>
            <a:off x="502920" y="2953512"/>
            <a:ext cx="3913632" cy="1527048"/>
          </a:xfrm>
          <a:prstGeom prst="rect">
            <a:avLst/>
          </a:prstGeom>
          <a:noFill/>
          <a:ln/>
        </p:spPr>
        <p:txBody>
          <a:bodyPr wrap="square" rtlCol="0" anchor="t"/>
          <a:lstStyle/>
          <a:p>
            <a:pPr marL="0" indent="0">
              <a:buNone/>
            </a:pPr>
            <a:r>
              <a:rPr lang="en-US" sz="1100" dirty="0">
                <a:solidFill>
                  <a:srgbClr val="374151"/>
                </a:solidFill>
                <a:latin typeface="Calibri" pitchFamily="34" charset="0"/>
                <a:ea typeface="Calibri" pitchFamily="34" charset="-122"/>
                <a:cs typeface="Calibri" pitchFamily="34" charset="-120"/>
              </a:rPr>
              <a:t>WebMD renders reviews dynamically with JavaScript — plain HTTP requests return empty pages. Chrome headless with Selenium executes the JS and returns fully rendered HTML. URL pattern: reviews.webmd.com/drugs/drugreview-{slug}?pageIndex={n}</a:t>
            </a:r>
            <a:endParaRPr lang="en-US" sz="1100" dirty="0"/>
          </a:p>
        </p:txBody>
      </p:sp>
      <p:sp>
        <p:nvSpPr>
          <p:cNvPr id="26" name="Shape 24"/>
          <p:cNvSpPr/>
          <p:nvPr/>
        </p:nvSpPr>
        <p:spPr>
          <a:xfrm>
            <a:off x="4663440" y="2606040"/>
            <a:ext cx="4114800" cy="1965960"/>
          </a:xfrm>
          <a:prstGeom prst="rect">
            <a:avLst/>
          </a:prstGeom>
          <a:solidFill>
            <a:srgbClr val="FFFFFF"/>
          </a:solidFill>
          <a:ln w="12700">
            <a:solidFill>
              <a:srgbClr val="E5E7EB"/>
            </a:solidFill>
            <a:prstDash val="solid"/>
          </a:ln>
          <a:effectLst>
            <a:outerShdw blurRad="101600" dist="25400" dir="8100000" algn="bl" rotWithShape="0">
              <a:srgbClr val="000000">
                <a:alpha val="10000"/>
              </a:srgbClr>
            </a:outerShdw>
          </a:effectLst>
        </p:spPr>
        <p:txBody>
          <a:bodyPr/>
          <a:lstStyle/>
          <a:p>
            <a:endParaRPr lang="en-US"/>
          </a:p>
        </p:txBody>
      </p:sp>
      <p:sp>
        <p:nvSpPr>
          <p:cNvPr id="27" name="Shape 25"/>
          <p:cNvSpPr/>
          <p:nvPr/>
        </p:nvSpPr>
        <p:spPr>
          <a:xfrm>
            <a:off x="4663440" y="2606040"/>
            <a:ext cx="54864" cy="1965960"/>
          </a:xfrm>
          <a:prstGeom prst="rect">
            <a:avLst/>
          </a:prstGeom>
          <a:solidFill>
            <a:srgbClr val="2563EB"/>
          </a:solidFill>
          <a:ln w="12700">
            <a:solidFill>
              <a:srgbClr val="2563EB"/>
            </a:solidFill>
            <a:prstDash val="solid"/>
          </a:ln>
        </p:spPr>
        <p:txBody>
          <a:bodyPr/>
          <a:lstStyle/>
          <a:p>
            <a:endParaRPr lang="en-US"/>
          </a:p>
        </p:txBody>
      </p:sp>
      <p:sp>
        <p:nvSpPr>
          <p:cNvPr id="28" name="Text 26"/>
          <p:cNvSpPr/>
          <p:nvPr/>
        </p:nvSpPr>
        <p:spPr>
          <a:xfrm>
            <a:off x="4800600" y="2679192"/>
            <a:ext cx="3931920" cy="256032"/>
          </a:xfrm>
          <a:prstGeom prst="rect">
            <a:avLst/>
          </a:prstGeom>
          <a:noFill/>
          <a:ln/>
        </p:spPr>
        <p:txBody>
          <a:bodyPr wrap="square" rtlCol="0" anchor="ctr"/>
          <a:lstStyle/>
          <a:p>
            <a:pPr marL="0" indent="0">
              <a:buNone/>
            </a:pPr>
            <a:r>
              <a:rPr lang="en-US" sz="1100" b="1" dirty="0">
                <a:solidFill>
                  <a:srgbClr val="2563EB"/>
                </a:solidFill>
                <a:latin typeface="Trebuchet MS" pitchFamily="34" charset="0"/>
                <a:ea typeface="Trebuchet MS" pitchFamily="34" charset="-122"/>
                <a:cs typeface="Trebuchet MS" pitchFamily="34" charset="-120"/>
              </a:rPr>
              <a:t>Key Challenge: URL Slugs Changed</a:t>
            </a:r>
            <a:endParaRPr lang="en-US" sz="1100" dirty="0"/>
          </a:p>
        </p:txBody>
      </p:sp>
      <p:sp>
        <p:nvSpPr>
          <p:cNvPr id="29" name="Text 27"/>
          <p:cNvSpPr/>
          <p:nvPr/>
        </p:nvSpPr>
        <p:spPr>
          <a:xfrm>
            <a:off x="4800600" y="2953512"/>
            <a:ext cx="3913632" cy="1527048"/>
          </a:xfrm>
          <a:prstGeom prst="rect">
            <a:avLst/>
          </a:prstGeom>
          <a:noFill/>
          <a:ln/>
        </p:spPr>
        <p:txBody>
          <a:bodyPr wrap="square" rtlCol="0" anchor="t"/>
          <a:lstStyle/>
          <a:p>
            <a:pPr marL="0" indent="0">
              <a:buNone/>
            </a:pPr>
            <a:r>
              <a:rPr lang="en-US" sz="1100" dirty="0">
                <a:solidFill>
                  <a:srgbClr val="374151"/>
                </a:solidFill>
                <a:latin typeface="Calibri" pitchFamily="34" charset="0"/>
                <a:ea typeface="Calibri" pitchFamily="34" charset="-122"/>
                <a:cs typeface="Calibri" pitchFamily="34" charset="-120"/>
              </a:rPr>
              <a:t>37 of 50 drugs required manual slug discovery via browser DevTools inspection. Original slugs like 'lisinopril-prinivil-zestril' returned 404. Correct format: '{drug}-{brand}-others'. Example: lisinopril-prinivil-zestril-others.</a:t>
            </a:r>
            <a:endParaRPr lang="en-US" sz="1100" dirty="0"/>
          </a:p>
        </p:txBody>
      </p:sp>
      <p:sp>
        <p:nvSpPr>
          <p:cNvPr id="30" name="Text 28"/>
          <p:cNvSpPr/>
          <p:nvPr/>
        </p:nvSpPr>
        <p:spPr>
          <a:xfrm>
            <a:off x="365760" y="4617720"/>
            <a:ext cx="8412480" cy="201168"/>
          </a:xfrm>
          <a:prstGeom prst="rect">
            <a:avLst/>
          </a:prstGeom>
          <a:noFill/>
          <a:ln/>
        </p:spPr>
        <p:txBody>
          <a:bodyPr wrap="square"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Fields captured: Drug name  ·  Star rating (1-10)  ·  Review text  ·  Condition treated  ·  Date posted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365760" y="201168"/>
            <a:ext cx="2377440" cy="256032"/>
          </a:xfrm>
          <a:prstGeom prst="rect">
            <a:avLst/>
          </a:prstGeom>
          <a:solidFill>
            <a:srgbClr val="9D1535"/>
          </a:solidFill>
          <a:ln w="12700">
            <a:solidFill>
              <a:srgbClr val="9D1535"/>
            </a:solidFill>
            <a:prstDash val="solid"/>
          </a:ln>
        </p:spPr>
        <p:txBody>
          <a:bodyPr/>
          <a:lstStyle/>
          <a:p>
            <a:endParaRPr lang="en-US"/>
          </a:p>
        </p:txBody>
      </p:sp>
      <p:sp>
        <p:nvSpPr>
          <p:cNvPr id="3" name="Text 1"/>
          <p:cNvSpPr/>
          <p:nvPr/>
        </p:nvSpPr>
        <p:spPr>
          <a:xfrm>
            <a:off x="365760" y="201168"/>
            <a:ext cx="2377440"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rPr>
              <a:t>DATA SOURCE 2</a:t>
            </a:r>
            <a:endParaRPr lang="en-US" sz="800" dirty="0"/>
          </a:p>
        </p:txBody>
      </p:sp>
      <p:sp>
        <p:nvSpPr>
          <p:cNvPr id="4" name="Text 2"/>
          <p:cNvSpPr/>
          <p:nvPr/>
        </p:nvSpPr>
        <p:spPr>
          <a:xfrm>
            <a:off x="365760" y="566928"/>
            <a:ext cx="8412480" cy="548640"/>
          </a:xfrm>
          <a:prstGeom prst="rect">
            <a:avLst/>
          </a:prstGeom>
          <a:noFill/>
          <a:ln/>
        </p:spPr>
        <p:txBody>
          <a:bodyPr wrap="square" rtlCol="0" anchor="ctr"/>
          <a:lstStyle/>
          <a:p>
            <a:pPr marL="0" indent="0">
              <a:buNone/>
            </a:pPr>
            <a:r>
              <a:rPr lang="en-US" sz="2200" b="1" dirty="0">
                <a:solidFill>
                  <a:srgbClr val="111827"/>
                </a:solidFill>
                <a:latin typeface="Trebuchet MS" pitchFamily="34" charset="0"/>
                <a:ea typeface="Trebuchet MS" pitchFamily="34" charset="-122"/>
                <a:cs typeface="Trebuchet MS" pitchFamily="34" charset="-120"/>
              </a:rPr>
              <a:t>Drug Pricing — NADAC/CMS (86,742 Records)</a:t>
            </a:r>
            <a:endParaRPr lang="en-US" sz="2200" dirty="0"/>
          </a:p>
        </p:txBody>
      </p:sp>
      <p:sp>
        <p:nvSpPr>
          <p:cNvPr id="5" name="Shape 3"/>
          <p:cNvSpPr/>
          <p:nvPr/>
        </p:nvSpPr>
        <p:spPr>
          <a:xfrm>
            <a:off x="365760" y="1298448"/>
            <a:ext cx="8412480" cy="0"/>
          </a:xfrm>
          <a:prstGeom prst="line">
            <a:avLst/>
          </a:prstGeom>
          <a:noFill/>
          <a:ln w="12700">
            <a:solidFill>
              <a:srgbClr val="E5E7EB"/>
            </a:solidFill>
            <a:prstDash val="solid"/>
          </a:ln>
        </p:spPr>
        <p:txBody>
          <a:bodyPr/>
          <a:lstStyle/>
          <a:p>
            <a:endParaRPr lang="en-US"/>
          </a:p>
        </p:txBody>
      </p:sp>
      <p:sp>
        <p:nvSpPr>
          <p:cNvPr id="6" name="Shape 4"/>
          <p:cNvSpPr/>
          <p:nvPr/>
        </p:nvSpPr>
        <p:spPr>
          <a:xfrm>
            <a:off x="0" y="4800600"/>
            <a:ext cx="9144000" cy="347472"/>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365760" y="4809744"/>
            <a:ext cx="731520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Speaker 1  ·  NADAC — National Average Drug Acquisition Cost</a:t>
            </a:r>
            <a:endParaRPr lang="en-US" sz="900" dirty="0"/>
          </a:p>
        </p:txBody>
      </p:sp>
      <p:sp>
        <p:nvSpPr>
          <p:cNvPr id="8" name="Text 6"/>
          <p:cNvSpPr/>
          <p:nvPr/>
        </p:nvSpPr>
        <p:spPr>
          <a:xfrm>
            <a:off x="4572000" y="4809744"/>
            <a:ext cx="438912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Stevens Institute of Technology  ·  BIA-660 Web Mining</a:t>
            </a:r>
            <a:endParaRPr lang="en-US" sz="900" dirty="0"/>
          </a:p>
        </p:txBody>
      </p:sp>
      <p:sp>
        <p:nvSpPr>
          <p:cNvPr id="9" name="Text 7"/>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AAAAAA"/>
                </a:solidFill>
              </a:rPr>
              <a:t>5 / 25</a:t>
            </a:r>
            <a:endParaRPr lang="en-US" sz="900" dirty="0"/>
          </a:p>
        </p:txBody>
      </p:sp>
      <p:grpSp>
        <p:nvGrpSpPr>
          <p:cNvPr id="28" name="Group 27">
            <a:extLst>
              <a:ext uri="{FF2B5EF4-FFF2-40B4-BE49-F238E27FC236}">
                <a16:creationId xmlns:a16="http://schemas.microsoft.com/office/drawing/2014/main" id="{632502CA-41FD-DC3B-FBA8-C43B8B33D988}"/>
              </a:ext>
            </a:extLst>
          </p:cNvPr>
          <p:cNvGrpSpPr/>
          <p:nvPr/>
        </p:nvGrpSpPr>
        <p:grpSpPr>
          <a:xfrm>
            <a:off x="365760" y="1417320"/>
            <a:ext cx="8412480" cy="1005840"/>
            <a:chOff x="365760" y="1417320"/>
            <a:chExt cx="5897880" cy="1005840"/>
          </a:xfrm>
        </p:grpSpPr>
        <p:sp>
          <p:nvSpPr>
            <p:cNvPr id="10" name="Shape 8"/>
            <p:cNvSpPr/>
            <p:nvPr/>
          </p:nvSpPr>
          <p:spPr>
            <a:xfrm>
              <a:off x="365760" y="1417320"/>
              <a:ext cx="1371600" cy="1005840"/>
            </a:xfrm>
            <a:prstGeom prst="rect">
              <a:avLst/>
            </a:prstGeom>
            <a:solidFill>
              <a:srgbClr val="E6F4EA"/>
            </a:solidFill>
            <a:ln w="25400">
              <a:solidFill>
                <a:srgbClr val="059669"/>
              </a:solidFill>
              <a:prstDash val="solid"/>
            </a:ln>
            <a:effectLst>
              <a:outerShdw blurRad="101600" dist="25400" dir="8100000" algn="bl" rotWithShape="0">
                <a:srgbClr val="000000">
                  <a:alpha val="10000"/>
                </a:srgbClr>
              </a:outerShdw>
            </a:effectLst>
          </p:spPr>
          <p:txBody>
            <a:bodyPr/>
            <a:lstStyle/>
            <a:p>
              <a:endParaRPr lang="en-US"/>
            </a:p>
          </p:txBody>
        </p:sp>
        <p:sp>
          <p:nvSpPr>
            <p:cNvPr id="11" name="Text 9"/>
            <p:cNvSpPr/>
            <p:nvPr/>
          </p:nvSpPr>
          <p:spPr>
            <a:xfrm>
              <a:off x="365760" y="1490472"/>
              <a:ext cx="1371600" cy="553212"/>
            </a:xfrm>
            <a:prstGeom prst="rect">
              <a:avLst/>
            </a:prstGeom>
            <a:noFill/>
            <a:ln/>
          </p:spPr>
          <p:txBody>
            <a:bodyPr wrap="square" rtlCol="0" anchor="ctr"/>
            <a:lstStyle/>
            <a:p>
              <a:pPr marL="0" indent="0" algn="ctr">
                <a:buNone/>
              </a:pPr>
              <a:r>
                <a:rPr lang="en-US" sz="2800" b="1" dirty="0">
                  <a:solidFill>
                    <a:srgbClr val="059669"/>
                  </a:solidFill>
                  <a:latin typeface="Trebuchet MS" pitchFamily="34" charset="0"/>
                  <a:ea typeface="Trebuchet MS" pitchFamily="34" charset="-122"/>
                  <a:cs typeface="Trebuchet MS" pitchFamily="34" charset="-120"/>
                </a:rPr>
                <a:t>86,742</a:t>
              </a:r>
              <a:endParaRPr lang="en-US" sz="2800" dirty="0"/>
            </a:p>
          </p:txBody>
        </p:sp>
        <p:sp>
          <p:nvSpPr>
            <p:cNvPr id="12" name="Text 10"/>
            <p:cNvSpPr/>
            <p:nvPr/>
          </p:nvSpPr>
          <p:spPr>
            <a:xfrm>
              <a:off x="365760" y="2000707"/>
              <a:ext cx="1371600" cy="382219"/>
            </a:xfrm>
            <a:prstGeom prst="rect">
              <a:avLst/>
            </a:prstGeom>
            <a:noFill/>
            <a:ln/>
          </p:spPr>
          <p:txBody>
            <a:bodyPr wrap="square" rtlCol="0" anchor="t"/>
            <a:lstStyle/>
            <a:p>
              <a:pPr marL="0" indent="0" algn="ctr">
                <a:buNone/>
              </a:pPr>
              <a:r>
                <a:rPr lang="en-US" sz="950" kern="0" spc="100" dirty="0">
                  <a:solidFill>
                    <a:srgbClr val="6B7280"/>
                  </a:solidFill>
                  <a:latin typeface="Calibri" pitchFamily="34" charset="0"/>
                  <a:ea typeface="Calibri" pitchFamily="34" charset="-122"/>
                  <a:cs typeface="Calibri" pitchFamily="34" charset="-120"/>
                </a:rPr>
                <a:t>PRICE RECORDS</a:t>
              </a:r>
              <a:endParaRPr lang="en-US" sz="950" dirty="0"/>
            </a:p>
          </p:txBody>
        </p:sp>
        <p:sp>
          <p:nvSpPr>
            <p:cNvPr id="13" name="Shape 11"/>
            <p:cNvSpPr/>
            <p:nvPr/>
          </p:nvSpPr>
          <p:spPr>
            <a:xfrm>
              <a:off x="1874520" y="1417320"/>
              <a:ext cx="1371600" cy="1005840"/>
            </a:xfrm>
            <a:prstGeom prst="rect">
              <a:avLst/>
            </a:prstGeom>
            <a:solidFill>
              <a:srgbClr val="E8F0FE"/>
            </a:solidFill>
            <a:ln w="25400">
              <a:solidFill>
                <a:srgbClr val="2563EB"/>
              </a:solidFill>
              <a:prstDash val="solid"/>
            </a:ln>
            <a:effectLst>
              <a:outerShdw blurRad="101600" dist="25400" dir="8100000" algn="bl" rotWithShape="0">
                <a:srgbClr val="000000">
                  <a:alpha val="10000"/>
                </a:srgbClr>
              </a:outerShdw>
            </a:effectLst>
          </p:spPr>
          <p:txBody>
            <a:bodyPr/>
            <a:lstStyle/>
            <a:p>
              <a:endParaRPr lang="en-US"/>
            </a:p>
          </p:txBody>
        </p:sp>
        <p:sp>
          <p:nvSpPr>
            <p:cNvPr id="14" name="Text 12"/>
            <p:cNvSpPr/>
            <p:nvPr/>
          </p:nvSpPr>
          <p:spPr>
            <a:xfrm>
              <a:off x="1874520" y="1490472"/>
              <a:ext cx="1371600" cy="553212"/>
            </a:xfrm>
            <a:prstGeom prst="rect">
              <a:avLst/>
            </a:prstGeom>
            <a:noFill/>
            <a:ln/>
          </p:spPr>
          <p:txBody>
            <a:bodyPr wrap="square" rtlCol="0" anchor="ctr"/>
            <a:lstStyle/>
            <a:p>
              <a:pPr marL="0" indent="0" algn="ctr">
                <a:buNone/>
              </a:pPr>
              <a:r>
                <a:rPr lang="en-US" sz="2800" b="1" dirty="0">
                  <a:solidFill>
                    <a:srgbClr val="2563EB"/>
                  </a:solidFill>
                  <a:latin typeface="Trebuchet MS" pitchFamily="34" charset="0"/>
                  <a:ea typeface="Trebuchet MS" pitchFamily="34" charset="-122"/>
                  <a:cs typeface="Trebuchet MS" pitchFamily="34" charset="-120"/>
                </a:rPr>
                <a:t>$0.57</a:t>
              </a:r>
              <a:endParaRPr lang="en-US" sz="2800" dirty="0"/>
            </a:p>
          </p:txBody>
        </p:sp>
        <p:sp>
          <p:nvSpPr>
            <p:cNvPr id="15" name="Text 13"/>
            <p:cNvSpPr/>
            <p:nvPr/>
          </p:nvSpPr>
          <p:spPr>
            <a:xfrm>
              <a:off x="1874520" y="2000707"/>
              <a:ext cx="1371600" cy="382219"/>
            </a:xfrm>
            <a:prstGeom prst="rect">
              <a:avLst/>
            </a:prstGeom>
            <a:noFill/>
            <a:ln/>
          </p:spPr>
          <p:txBody>
            <a:bodyPr wrap="square" rtlCol="0" anchor="t"/>
            <a:lstStyle/>
            <a:p>
              <a:pPr marL="0" indent="0" algn="ctr">
                <a:buNone/>
              </a:pPr>
              <a:r>
                <a:rPr lang="en-US" sz="950" kern="0" spc="100" dirty="0">
                  <a:solidFill>
                    <a:srgbClr val="6B7280"/>
                  </a:solidFill>
                  <a:latin typeface="Calibri" pitchFamily="34" charset="0"/>
                  <a:ea typeface="Calibri" pitchFamily="34" charset="-122"/>
                  <a:cs typeface="Calibri" pitchFamily="34" charset="-120"/>
                </a:rPr>
                <a:t>CHEAPEST 30-DAY</a:t>
              </a:r>
              <a:endParaRPr lang="en-US" sz="950" dirty="0"/>
            </a:p>
          </p:txBody>
        </p:sp>
        <p:sp>
          <p:nvSpPr>
            <p:cNvPr id="16" name="Shape 14"/>
            <p:cNvSpPr/>
            <p:nvPr/>
          </p:nvSpPr>
          <p:spPr>
            <a:xfrm>
              <a:off x="3383280" y="1417320"/>
              <a:ext cx="1371600" cy="1005840"/>
            </a:xfrm>
            <a:prstGeom prst="rect">
              <a:avLst/>
            </a:prstGeom>
            <a:solidFill>
              <a:srgbClr val="F7EEF1"/>
            </a:solidFill>
            <a:ln w="25400">
              <a:solidFill>
                <a:srgbClr val="9D1535"/>
              </a:solidFill>
              <a:prstDash val="solid"/>
            </a:ln>
            <a:effectLst>
              <a:outerShdw blurRad="101600" dist="25400" dir="8100000" algn="bl" rotWithShape="0">
                <a:srgbClr val="000000">
                  <a:alpha val="10000"/>
                </a:srgbClr>
              </a:outerShdw>
            </a:effectLst>
          </p:spPr>
          <p:txBody>
            <a:bodyPr/>
            <a:lstStyle/>
            <a:p>
              <a:endParaRPr lang="en-US"/>
            </a:p>
          </p:txBody>
        </p:sp>
        <p:sp>
          <p:nvSpPr>
            <p:cNvPr id="17" name="Text 15"/>
            <p:cNvSpPr/>
            <p:nvPr/>
          </p:nvSpPr>
          <p:spPr>
            <a:xfrm>
              <a:off x="3383280" y="1490472"/>
              <a:ext cx="1371600" cy="553212"/>
            </a:xfrm>
            <a:prstGeom prst="rect">
              <a:avLst/>
            </a:prstGeom>
            <a:noFill/>
            <a:ln/>
          </p:spPr>
          <p:txBody>
            <a:bodyPr wrap="square" rtlCol="0" anchor="ctr"/>
            <a:lstStyle/>
            <a:p>
              <a:pPr marL="0" indent="0" algn="ctr">
                <a:buNone/>
              </a:pPr>
              <a:r>
                <a:rPr lang="en-US" sz="2800" b="1" dirty="0">
                  <a:solidFill>
                    <a:srgbClr val="9D1535"/>
                  </a:solidFill>
                  <a:latin typeface="Trebuchet MS" pitchFamily="34" charset="0"/>
                  <a:ea typeface="Trebuchet MS" pitchFamily="34" charset="-122"/>
                  <a:cs typeface="Trebuchet MS" pitchFamily="34" charset="-120"/>
                </a:rPr>
                <a:t>$1,109</a:t>
              </a:r>
              <a:endParaRPr lang="en-US" sz="2800" dirty="0"/>
            </a:p>
          </p:txBody>
        </p:sp>
        <p:sp>
          <p:nvSpPr>
            <p:cNvPr id="18" name="Text 16"/>
            <p:cNvSpPr/>
            <p:nvPr/>
          </p:nvSpPr>
          <p:spPr>
            <a:xfrm>
              <a:off x="3383280" y="2000707"/>
              <a:ext cx="1371600" cy="382219"/>
            </a:xfrm>
            <a:prstGeom prst="rect">
              <a:avLst/>
            </a:prstGeom>
            <a:noFill/>
            <a:ln/>
          </p:spPr>
          <p:txBody>
            <a:bodyPr wrap="square" rtlCol="0" anchor="t"/>
            <a:lstStyle/>
            <a:p>
              <a:pPr marL="0" indent="0" algn="ctr">
                <a:buNone/>
              </a:pPr>
              <a:r>
                <a:rPr lang="en-US" sz="950" kern="0" spc="100" dirty="0">
                  <a:solidFill>
                    <a:srgbClr val="6B7280"/>
                  </a:solidFill>
                  <a:latin typeface="Calibri" pitchFamily="34" charset="0"/>
                  <a:ea typeface="Calibri" pitchFamily="34" charset="-122"/>
                  <a:cs typeface="Calibri" pitchFamily="34" charset="-120"/>
                </a:rPr>
                <a:t>MOST EXPENSIVE</a:t>
              </a:r>
              <a:endParaRPr lang="en-US" sz="950" dirty="0"/>
            </a:p>
          </p:txBody>
        </p:sp>
        <p:sp>
          <p:nvSpPr>
            <p:cNvPr id="19" name="Shape 17"/>
            <p:cNvSpPr/>
            <p:nvPr/>
          </p:nvSpPr>
          <p:spPr>
            <a:xfrm>
              <a:off x="4892040" y="1417320"/>
              <a:ext cx="1371600" cy="1005840"/>
            </a:xfrm>
            <a:prstGeom prst="rect">
              <a:avLst/>
            </a:prstGeom>
            <a:solidFill>
              <a:srgbClr val="FEF9E7"/>
            </a:solidFill>
            <a:ln w="25400">
              <a:solidFill>
                <a:srgbClr val="D97706"/>
              </a:solidFill>
              <a:prstDash val="solid"/>
            </a:ln>
            <a:effectLst>
              <a:outerShdw blurRad="101600" dist="25400" dir="8100000" algn="bl" rotWithShape="0">
                <a:srgbClr val="000000">
                  <a:alpha val="10000"/>
                </a:srgbClr>
              </a:outerShdw>
            </a:effectLst>
          </p:spPr>
          <p:txBody>
            <a:bodyPr/>
            <a:lstStyle/>
            <a:p>
              <a:endParaRPr lang="en-US"/>
            </a:p>
          </p:txBody>
        </p:sp>
        <p:sp>
          <p:nvSpPr>
            <p:cNvPr id="20" name="Text 18"/>
            <p:cNvSpPr/>
            <p:nvPr/>
          </p:nvSpPr>
          <p:spPr>
            <a:xfrm>
              <a:off x="4892040" y="1490472"/>
              <a:ext cx="1371600" cy="553212"/>
            </a:xfrm>
            <a:prstGeom prst="rect">
              <a:avLst/>
            </a:prstGeom>
            <a:noFill/>
            <a:ln/>
          </p:spPr>
          <p:txBody>
            <a:bodyPr wrap="square" rtlCol="0" anchor="ctr"/>
            <a:lstStyle/>
            <a:p>
              <a:pPr marL="0" indent="0" algn="ctr">
                <a:buNone/>
              </a:pPr>
              <a:r>
                <a:rPr lang="en-US" sz="2800" b="1" dirty="0">
                  <a:solidFill>
                    <a:srgbClr val="D97706"/>
                  </a:solidFill>
                  <a:latin typeface="Trebuchet MS" pitchFamily="34" charset="0"/>
                  <a:ea typeface="Trebuchet MS" pitchFamily="34" charset="-122"/>
                  <a:cs typeface="Trebuchet MS" pitchFamily="34" charset="-120"/>
                </a:rPr>
                <a:t>4 drugs</a:t>
              </a:r>
              <a:endParaRPr lang="en-US" sz="2800" dirty="0"/>
            </a:p>
          </p:txBody>
        </p:sp>
        <p:sp>
          <p:nvSpPr>
            <p:cNvPr id="21" name="Text 19"/>
            <p:cNvSpPr/>
            <p:nvPr/>
          </p:nvSpPr>
          <p:spPr>
            <a:xfrm>
              <a:off x="4892040" y="2000707"/>
              <a:ext cx="1371600" cy="382219"/>
            </a:xfrm>
            <a:prstGeom prst="rect">
              <a:avLst/>
            </a:prstGeom>
            <a:noFill/>
            <a:ln/>
          </p:spPr>
          <p:txBody>
            <a:bodyPr wrap="square" rtlCol="0" anchor="t"/>
            <a:lstStyle/>
            <a:p>
              <a:pPr marL="0" indent="0" algn="ctr">
                <a:buNone/>
              </a:pPr>
              <a:r>
                <a:rPr lang="en-US" sz="950" kern="0" spc="100" dirty="0">
                  <a:solidFill>
                    <a:srgbClr val="6B7280"/>
                  </a:solidFill>
                  <a:latin typeface="Calibri" pitchFamily="34" charset="0"/>
                  <a:ea typeface="Calibri" pitchFamily="34" charset="-122"/>
                  <a:cs typeface="Calibri" pitchFamily="34" charset="-120"/>
                </a:rPr>
                <a:t>MISSING FROM NADAC</a:t>
              </a:r>
              <a:endParaRPr lang="en-US" sz="950" dirty="0"/>
            </a:p>
          </p:txBody>
        </p:sp>
      </p:grpSp>
      <p:sp>
        <p:nvSpPr>
          <p:cNvPr id="22" name="Text 20"/>
          <p:cNvSpPr/>
          <p:nvPr/>
        </p:nvSpPr>
        <p:spPr>
          <a:xfrm>
            <a:off x="365760" y="2565806"/>
            <a:ext cx="8412480" cy="274320"/>
          </a:xfrm>
          <a:prstGeom prst="rect">
            <a:avLst/>
          </a:prstGeom>
          <a:noFill/>
          <a:ln/>
        </p:spPr>
        <p:txBody>
          <a:bodyPr wrap="square" rtlCol="0" anchor="ctr"/>
          <a:lstStyle/>
          <a:p>
            <a:pPr marL="0" indent="0">
              <a:buNone/>
            </a:pPr>
            <a:r>
              <a:rPr lang="en-US" sz="1300" b="1" dirty="0">
                <a:solidFill>
                  <a:srgbClr val="9D1535"/>
                </a:solidFill>
                <a:latin typeface="Trebuchet MS" pitchFamily="34" charset="0"/>
                <a:ea typeface="Trebuchet MS" pitchFamily="34" charset="-122"/>
                <a:cs typeface="Trebuchet MS" pitchFamily="34" charset="-120"/>
              </a:rPr>
              <a:t>What is NADAC?</a:t>
            </a:r>
            <a:endParaRPr lang="en-US" sz="1300" dirty="0"/>
          </a:p>
        </p:txBody>
      </p:sp>
      <p:sp>
        <p:nvSpPr>
          <p:cNvPr id="23" name="Text 21"/>
          <p:cNvSpPr/>
          <p:nvPr/>
        </p:nvSpPr>
        <p:spPr>
          <a:xfrm>
            <a:off x="365760" y="2880360"/>
            <a:ext cx="8412480" cy="548640"/>
          </a:xfrm>
          <a:prstGeom prst="rect">
            <a:avLst/>
          </a:prstGeom>
          <a:noFill/>
          <a:ln/>
        </p:spPr>
        <p:txBody>
          <a:bodyPr wrap="square" rtlCol="0" anchor="ctr"/>
          <a:lstStyle/>
          <a:p>
            <a:pPr marL="0" indent="0">
              <a:buNone/>
            </a:pPr>
            <a:r>
              <a:rPr lang="en-US" sz="1200" dirty="0">
                <a:solidFill>
                  <a:srgbClr val="374151"/>
                </a:solidFill>
                <a:latin typeface="Calibri" pitchFamily="34" charset="0"/>
                <a:ea typeface="Calibri" pitchFamily="34" charset="-122"/>
                <a:cs typeface="Calibri" pitchFamily="34" charset="-120"/>
              </a:rPr>
              <a:t>NADAC = National Average Drug Acquisition Cost — published every Wednesday by CMS. This is what pharmacies pay wholesalers before markup. Queried via Socrata REST API with LIKE queries on NDC descriptions (e.g. ndc_description LIKE '%METFORMIN%'), paginated at 500 records per call.</a:t>
            </a:r>
            <a:endParaRPr lang="en-US" sz="1200" dirty="0"/>
          </a:p>
        </p:txBody>
      </p:sp>
      <p:sp>
        <p:nvSpPr>
          <p:cNvPr id="24" name="Shape 22"/>
          <p:cNvSpPr/>
          <p:nvPr/>
        </p:nvSpPr>
        <p:spPr>
          <a:xfrm>
            <a:off x="365760" y="3520440"/>
            <a:ext cx="8412480" cy="1097280"/>
          </a:xfrm>
          <a:prstGeom prst="rect">
            <a:avLst/>
          </a:prstGeom>
          <a:solidFill>
            <a:srgbClr val="FEF9E7"/>
          </a:solidFill>
          <a:ln w="19050">
            <a:solidFill>
              <a:srgbClr val="D97706"/>
            </a:solidFill>
            <a:prstDash val="solid"/>
          </a:ln>
          <a:effectLst>
            <a:outerShdw blurRad="101600" dist="25400" dir="8100000" algn="bl" rotWithShape="0">
              <a:srgbClr val="000000">
                <a:alpha val="10000"/>
              </a:srgbClr>
            </a:outerShdw>
          </a:effectLst>
        </p:spPr>
        <p:txBody>
          <a:bodyPr/>
          <a:lstStyle/>
          <a:p>
            <a:endParaRPr lang="en-US"/>
          </a:p>
        </p:txBody>
      </p:sp>
      <p:sp>
        <p:nvSpPr>
          <p:cNvPr id="25" name="Text 23"/>
          <p:cNvSpPr/>
          <p:nvPr/>
        </p:nvSpPr>
        <p:spPr>
          <a:xfrm>
            <a:off x="548640" y="3566160"/>
            <a:ext cx="8046720" cy="274320"/>
          </a:xfrm>
          <a:prstGeom prst="rect">
            <a:avLst/>
          </a:prstGeom>
          <a:noFill/>
          <a:ln/>
        </p:spPr>
        <p:txBody>
          <a:bodyPr wrap="square" rtlCol="0" anchor="ctr"/>
          <a:lstStyle/>
          <a:p>
            <a:pPr marL="0" indent="0">
              <a:buNone/>
            </a:pPr>
            <a:r>
              <a:rPr lang="en-US" sz="1200" b="1" dirty="0">
                <a:solidFill>
                  <a:srgbClr val="D97706"/>
                </a:solidFill>
                <a:latin typeface="Trebuchet MS" pitchFamily="34" charset="0"/>
                <a:ea typeface="Trebuchet MS" pitchFamily="34" charset="-122"/>
                <a:cs typeface="Trebuchet MS" pitchFamily="34" charset="-120"/>
              </a:rPr>
              <a:t>Key Limitation — 4 Brand-Only Drugs Missing</a:t>
            </a:r>
            <a:endParaRPr lang="en-US" sz="1200" dirty="0"/>
          </a:p>
        </p:txBody>
      </p:sp>
      <p:sp>
        <p:nvSpPr>
          <p:cNvPr id="26" name="Text 24"/>
          <p:cNvSpPr/>
          <p:nvPr/>
        </p:nvSpPr>
        <p:spPr>
          <a:xfrm>
            <a:off x="548640" y="3858768"/>
            <a:ext cx="8046720" cy="594360"/>
          </a:xfrm>
          <a:prstGeom prst="rect">
            <a:avLst/>
          </a:prstGeom>
          <a:noFill/>
          <a:ln/>
        </p:spPr>
        <p:txBody>
          <a:bodyPr wrap="square" rtlCol="0" anchor="ctr"/>
          <a:lstStyle/>
          <a:p>
            <a:pPr marL="0" indent="0">
              <a:buNone/>
            </a:pPr>
            <a:r>
              <a:rPr lang="en-US" sz="1100" b="1" dirty="0">
                <a:solidFill>
                  <a:srgbClr val="D97706"/>
                </a:solidFill>
                <a:latin typeface="Calibri" pitchFamily="34" charset="0"/>
                <a:ea typeface="Calibri" pitchFamily="34" charset="-122"/>
                <a:cs typeface="Calibri" pitchFamily="34" charset="-120"/>
              </a:rPr>
              <a:t>Empagliflozin (Jardiance): </a:t>
            </a:r>
            <a:r>
              <a:rPr lang="en-US" sz="1100" dirty="0">
                <a:solidFill>
                  <a:srgbClr val="374151"/>
                </a:solidFill>
                <a:latin typeface="Calibri" pitchFamily="34" charset="0"/>
                <a:ea typeface="Calibri" pitchFamily="34" charset="-122"/>
                <a:cs typeface="Calibri" pitchFamily="34" charset="-120"/>
              </a:rPr>
              <a:t>$369.20  </a:t>
            </a:r>
            <a:r>
              <a:rPr lang="en-US" sz="1100" b="1" dirty="0">
                <a:solidFill>
                  <a:srgbClr val="D97706"/>
                </a:solidFill>
                <a:latin typeface="Calibri" pitchFamily="34" charset="0"/>
                <a:ea typeface="Calibri" pitchFamily="34" charset="-122"/>
                <a:cs typeface="Calibri" pitchFamily="34" charset="-120"/>
              </a:rPr>
              <a:t>Semaglutide (Ozempic): </a:t>
            </a:r>
            <a:r>
              <a:rPr lang="en-US" sz="1100" dirty="0">
                <a:solidFill>
                  <a:srgbClr val="374151"/>
                </a:solidFill>
                <a:latin typeface="Calibri" pitchFamily="34" charset="0"/>
                <a:ea typeface="Calibri" pitchFamily="34" charset="-122"/>
                <a:cs typeface="Calibri" pitchFamily="34" charset="-120"/>
              </a:rPr>
              <a:t>$1,109  </a:t>
            </a:r>
            <a:r>
              <a:rPr lang="en-US" sz="1100" b="1" dirty="0">
                <a:solidFill>
                  <a:srgbClr val="D97706"/>
                </a:solidFill>
                <a:latin typeface="Calibri" pitchFamily="34" charset="0"/>
                <a:ea typeface="Calibri" pitchFamily="34" charset="-122"/>
                <a:cs typeface="Calibri" pitchFamily="34" charset="-120"/>
              </a:rPr>
              <a:t>Dulaglutide (Trulicity): </a:t>
            </a:r>
            <a:r>
              <a:rPr lang="en-US" sz="1100" dirty="0">
                <a:solidFill>
                  <a:srgbClr val="374151"/>
                </a:solidFill>
                <a:latin typeface="Calibri" pitchFamily="34" charset="0"/>
                <a:ea typeface="Calibri" pitchFamily="34" charset="-122"/>
                <a:cs typeface="Calibri" pitchFamily="34" charset="-120"/>
              </a:rPr>
              <a:t>$1,087  </a:t>
            </a:r>
            <a:r>
              <a:rPr lang="en-US" sz="1100" b="1" dirty="0">
                <a:solidFill>
                  <a:srgbClr val="D97706"/>
                </a:solidFill>
                <a:latin typeface="Calibri" pitchFamily="34" charset="0"/>
                <a:ea typeface="Calibri" pitchFamily="34" charset="-122"/>
                <a:cs typeface="Calibri" pitchFamily="34" charset="-120"/>
              </a:rPr>
              <a:t>Apixaban (Eliquis): </a:t>
            </a:r>
            <a:r>
              <a:rPr lang="en-US" sz="1100" dirty="0">
                <a:solidFill>
                  <a:srgbClr val="374151"/>
                </a:solidFill>
                <a:latin typeface="Calibri" pitchFamily="34" charset="0"/>
                <a:ea typeface="Calibri" pitchFamily="34" charset="-122"/>
                <a:cs typeface="Calibri" pitchFamily="34" charset="-120"/>
              </a:rPr>
              <a:t>$260</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365760" y="201168"/>
            <a:ext cx="2377440" cy="256032"/>
          </a:xfrm>
          <a:prstGeom prst="rect">
            <a:avLst/>
          </a:prstGeom>
          <a:solidFill>
            <a:srgbClr val="9D1535"/>
          </a:solidFill>
          <a:ln w="12700">
            <a:solidFill>
              <a:srgbClr val="9D1535"/>
            </a:solidFill>
            <a:prstDash val="solid"/>
          </a:ln>
        </p:spPr>
        <p:txBody>
          <a:bodyPr/>
          <a:lstStyle/>
          <a:p>
            <a:endParaRPr lang="en-US"/>
          </a:p>
        </p:txBody>
      </p:sp>
      <p:sp>
        <p:nvSpPr>
          <p:cNvPr id="3" name="Text 1"/>
          <p:cNvSpPr/>
          <p:nvPr/>
        </p:nvSpPr>
        <p:spPr>
          <a:xfrm>
            <a:off x="365760" y="201168"/>
            <a:ext cx="2377440"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rPr>
              <a:t>DATA SOURCES 3 &amp; 4</a:t>
            </a:r>
            <a:endParaRPr lang="en-US" sz="800" dirty="0"/>
          </a:p>
        </p:txBody>
      </p:sp>
      <p:sp>
        <p:nvSpPr>
          <p:cNvPr id="4" name="Text 2"/>
          <p:cNvSpPr/>
          <p:nvPr/>
        </p:nvSpPr>
        <p:spPr>
          <a:xfrm>
            <a:off x="365760" y="566928"/>
            <a:ext cx="8412480" cy="548640"/>
          </a:xfrm>
          <a:prstGeom prst="rect">
            <a:avLst/>
          </a:prstGeom>
          <a:noFill/>
          <a:ln/>
        </p:spPr>
        <p:txBody>
          <a:bodyPr wrap="square" rtlCol="0" anchor="ctr"/>
          <a:lstStyle/>
          <a:p>
            <a:pPr marL="0" indent="0">
              <a:buNone/>
            </a:pPr>
            <a:r>
              <a:rPr lang="en-US" sz="2200" b="1" dirty="0">
                <a:solidFill>
                  <a:srgbClr val="111827"/>
                </a:solidFill>
                <a:latin typeface="Trebuchet MS" pitchFamily="34" charset="0"/>
                <a:ea typeface="Trebuchet MS" pitchFamily="34" charset="-122"/>
                <a:cs typeface="Trebuchet MS" pitchFamily="34" charset="-120"/>
              </a:rPr>
              <a:t>Clinical Trials &amp; FDA Drug Shortages</a:t>
            </a:r>
            <a:endParaRPr lang="en-US" sz="2200" dirty="0"/>
          </a:p>
        </p:txBody>
      </p:sp>
      <p:sp>
        <p:nvSpPr>
          <p:cNvPr id="5" name="Shape 3"/>
          <p:cNvSpPr/>
          <p:nvPr/>
        </p:nvSpPr>
        <p:spPr>
          <a:xfrm>
            <a:off x="365760" y="1298448"/>
            <a:ext cx="8412480" cy="0"/>
          </a:xfrm>
          <a:prstGeom prst="line">
            <a:avLst/>
          </a:prstGeom>
          <a:noFill/>
          <a:ln w="12700">
            <a:solidFill>
              <a:srgbClr val="E5E7EB"/>
            </a:solidFill>
            <a:prstDash val="solid"/>
          </a:ln>
        </p:spPr>
        <p:txBody>
          <a:bodyPr/>
          <a:lstStyle/>
          <a:p>
            <a:endParaRPr lang="en-US"/>
          </a:p>
        </p:txBody>
      </p:sp>
      <p:sp>
        <p:nvSpPr>
          <p:cNvPr id="6" name="Shape 4"/>
          <p:cNvSpPr/>
          <p:nvPr/>
        </p:nvSpPr>
        <p:spPr>
          <a:xfrm>
            <a:off x="0" y="4800600"/>
            <a:ext cx="9144000" cy="347472"/>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365760" y="4809744"/>
            <a:ext cx="7315200" cy="274320"/>
          </a:xfrm>
          <a:prstGeom prst="rect">
            <a:avLst/>
          </a:prstGeom>
          <a:noFill/>
          <a:ln/>
        </p:spPr>
        <p:txBody>
          <a:bodyPr wrap="square" rtlCol="0" anchor="ctr"/>
          <a:lstStyle/>
          <a:p>
            <a:pPr marL="0" indent="0">
              <a:buNone/>
            </a:pPr>
            <a:endParaRPr lang="en-US" sz="900" dirty="0"/>
          </a:p>
        </p:txBody>
      </p:sp>
      <p:sp>
        <p:nvSpPr>
          <p:cNvPr id="8" name="Text 6"/>
          <p:cNvSpPr/>
          <p:nvPr/>
        </p:nvSpPr>
        <p:spPr>
          <a:xfrm>
            <a:off x="4572000" y="4809744"/>
            <a:ext cx="4389120" cy="274320"/>
          </a:xfrm>
          <a:prstGeom prst="rect">
            <a:avLst/>
          </a:prstGeom>
          <a:noFill/>
          <a:ln/>
        </p:spPr>
        <p:txBody>
          <a:bodyPr wrap="square" rtlCol="0" anchor="ctr"/>
          <a:lstStyle/>
          <a:p>
            <a:pPr marL="0" indent="0" algn="r">
              <a:buNone/>
            </a:pPr>
            <a:endParaRPr lang="en-US" sz="900" dirty="0"/>
          </a:p>
        </p:txBody>
      </p:sp>
      <p:sp>
        <p:nvSpPr>
          <p:cNvPr id="9" name="Text 7"/>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AAAAAA"/>
                </a:solidFill>
              </a:rPr>
              <a:t>6 / 25</a:t>
            </a:r>
            <a:endParaRPr lang="en-US" sz="900" dirty="0"/>
          </a:p>
        </p:txBody>
      </p:sp>
      <p:sp>
        <p:nvSpPr>
          <p:cNvPr id="10" name="Shape 8"/>
          <p:cNvSpPr/>
          <p:nvPr/>
        </p:nvSpPr>
        <p:spPr>
          <a:xfrm>
            <a:off x="365760" y="1417320"/>
            <a:ext cx="4114800" cy="3291840"/>
          </a:xfrm>
          <a:prstGeom prst="rect">
            <a:avLst/>
          </a:prstGeom>
          <a:solidFill>
            <a:srgbClr val="E8F0FE"/>
          </a:solidFill>
          <a:ln w="25400">
            <a:solidFill>
              <a:srgbClr val="2563EB"/>
            </a:solidFill>
            <a:prstDash val="solid"/>
          </a:ln>
          <a:effectLst>
            <a:outerShdw blurRad="101600" dist="25400" dir="8100000" algn="bl" rotWithShape="0">
              <a:srgbClr val="000000">
                <a:alpha val="10000"/>
              </a:srgbClr>
            </a:outerShdw>
          </a:effectLst>
        </p:spPr>
        <p:txBody>
          <a:bodyPr/>
          <a:lstStyle/>
          <a:p>
            <a:endParaRPr lang="en-US"/>
          </a:p>
        </p:txBody>
      </p:sp>
      <p:sp>
        <p:nvSpPr>
          <p:cNvPr id="11" name="Text 9"/>
          <p:cNvSpPr/>
          <p:nvPr/>
        </p:nvSpPr>
        <p:spPr>
          <a:xfrm>
            <a:off x="548640" y="1481328"/>
            <a:ext cx="3749040" cy="320040"/>
          </a:xfrm>
          <a:prstGeom prst="rect">
            <a:avLst/>
          </a:prstGeom>
          <a:noFill/>
          <a:ln/>
        </p:spPr>
        <p:txBody>
          <a:bodyPr wrap="square" rtlCol="0" anchor="ctr"/>
          <a:lstStyle/>
          <a:p>
            <a:pPr marL="0" indent="0">
              <a:buNone/>
            </a:pPr>
            <a:r>
              <a:rPr lang="en-US" sz="1300" b="1" dirty="0">
                <a:solidFill>
                  <a:srgbClr val="2563EB"/>
                </a:solidFill>
                <a:latin typeface="Trebuchet MS" pitchFamily="34" charset="0"/>
                <a:ea typeface="Trebuchet MS" pitchFamily="34" charset="-122"/>
                <a:cs typeface="Trebuchet MS" pitchFamily="34" charset="-120"/>
              </a:rPr>
              <a:t>Clinical Trials — 9,331 Records</a:t>
            </a:r>
            <a:endParaRPr lang="en-US" sz="1300" dirty="0"/>
          </a:p>
        </p:txBody>
      </p:sp>
      <p:sp>
        <p:nvSpPr>
          <p:cNvPr id="12" name="Text 10"/>
          <p:cNvSpPr/>
          <p:nvPr/>
        </p:nvSpPr>
        <p:spPr>
          <a:xfrm>
            <a:off x="548640" y="1920240"/>
            <a:ext cx="3749040" cy="411480"/>
          </a:xfrm>
          <a:prstGeom prst="rect">
            <a:avLst/>
          </a:prstGeom>
          <a:noFill/>
          <a:ln/>
        </p:spPr>
        <p:txBody>
          <a:bodyPr wrap="square" rtlCol="0" anchor="ctr"/>
          <a:lstStyle/>
          <a:p>
            <a:pPr marL="0" indent="0">
              <a:buNone/>
            </a:pPr>
            <a:r>
              <a:rPr lang="en-US" sz="1100" b="1" dirty="0">
                <a:solidFill>
                  <a:srgbClr val="2563EB"/>
                </a:solidFill>
                <a:latin typeface="Calibri" pitchFamily="34" charset="0"/>
                <a:ea typeface="Calibri" pitchFamily="34" charset="-122"/>
                <a:cs typeface="Calibri" pitchFamily="34" charset="-120"/>
              </a:rPr>
              <a:t>Source:  </a:t>
            </a:r>
            <a:r>
              <a:rPr lang="en-US" sz="1100" dirty="0">
                <a:solidFill>
                  <a:srgbClr val="374151"/>
                </a:solidFill>
                <a:latin typeface="Calibri" pitchFamily="34" charset="0"/>
                <a:ea typeface="Calibri" pitchFamily="34" charset="-122"/>
                <a:cs typeface="Calibri" pitchFamily="34" charset="-120"/>
              </a:rPr>
              <a:t>ClinicalTrials.gov REST API v2</a:t>
            </a:r>
            <a:endParaRPr lang="en-US" sz="1100" dirty="0"/>
          </a:p>
        </p:txBody>
      </p:sp>
      <p:sp>
        <p:nvSpPr>
          <p:cNvPr id="13" name="Text 11"/>
          <p:cNvSpPr/>
          <p:nvPr/>
        </p:nvSpPr>
        <p:spPr>
          <a:xfrm>
            <a:off x="548640" y="2423160"/>
            <a:ext cx="3749040" cy="411480"/>
          </a:xfrm>
          <a:prstGeom prst="rect">
            <a:avLst/>
          </a:prstGeom>
          <a:noFill/>
          <a:ln/>
        </p:spPr>
        <p:txBody>
          <a:bodyPr wrap="square" rtlCol="0" anchor="ctr"/>
          <a:lstStyle/>
          <a:p>
            <a:pPr marL="0" indent="0">
              <a:buNone/>
            </a:pPr>
            <a:r>
              <a:rPr lang="en-US" sz="1100" b="1" dirty="0">
                <a:solidFill>
                  <a:srgbClr val="2563EB"/>
                </a:solidFill>
                <a:latin typeface="Calibri" pitchFamily="34" charset="0"/>
                <a:ea typeface="Calibri" pitchFamily="34" charset="-122"/>
                <a:cs typeface="Calibri" pitchFamily="34" charset="-120"/>
              </a:rPr>
              <a:t>Method:  </a:t>
            </a:r>
            <a:r>
              <a:rPr lang="en-US" sz="1100" dirty="0">
                <a:solidFill>
                  <a:srgbClr val="374151"/>
                </a:solidFill>
                <a:latin typeface="Calibri" pitchFamily="34" charset="0"/>
                <a:ea typeface="Calibri" pitchFamily="34" charset="-122"/>
                <a:cs typeface="Calibri" pitchFamily="34" charset="-120"/>
              </a:rPr>
              <a:t>Paginated JSON, 100 records per call</a:t>
            </a:r>
            <a:endParaRPr lang="en-US" sz="1100" dirty="0"/>
          </a:p>
        </p:txBody>
      </p:sp>
      <p:sp>
        <p:nvSpPr>
          <p:cNvPr id="14" name="Text 12"/>
          <p:cNvSpPr/>
          <p:nvPr/>
        </p:nvSpPr>
        <p:spPr>
          <a:xfrm>
            <a:off x="548640" y="2926080"/>
            <a:ext cx="3749040" cy="411480"/>
          </a:xfrm>
          <a:prstGeom prst="rect">
            <a:avLst/>
          </a:prstGeom>
          <a:noFill/>
          <a:ln/>
        </p:spPr>
        <p:txBody>
          <a:bodyPr wrap="square" rtlCol="0" anchor="ctr"/>
          <a:lstStyle/>
          <a:p>
            <a:pPr marL="0" indent="0">
              <a:buNone/>
            </a:pPr>
            <a:r>
              <a:rPr lang="en-US" sz="1100" b="1" dirty="0">
                <a:solidFill>
                  <a:srgbClr val="2563EB"/>
                </a:solidFill>
                <a:latin typeface="Calibri" pitchFamily="34" charset="0"/>
                <a:ea typeface="Calibri" pitchFamily="34" charset="-122"/>
                <a:cs typeface="Calibri" pitchFamily="34" charset="-120"/>
              </a:rPr>
              <a:t>Status values:  </a:t>
            </a:r>
            <a:r>
              <a:rPr lang="en-US" sz="1100" dirty="0">
                <a:solidFill>
                  <a:srgbClr val="374151"/>
                </a:solidFill>
                <a:latin typeface="Calibri" pitchFamily="34" charset="0"/>
                <a:ea typeface="Calibri" pitchFamily="34" charset="-122"/>
                <a:cs typeface="Calibri" pitchFamily="34" charset="-120"/>
              </a:rPr>
              <a:t>COMPLETED · RECRUITING · TERMINATED · WITHDRAWN</a:t>
            </a:r>
            <a:endParaRPr lang="en-US" sz="1100" dirty="0"/>
          </a:p>
        </p:txBody>
      </p:sp>
      <p:sp>
        <p:nvSpPr>
          <p:cNvPr id="15" name="Text 13"/>
          <p:cNvSpPr/>
          <p:nvPr/>
        </p:nvSpPr>
        <p:spPr>
          <a:xfrm>
            <a:off x="548640" y="3429000"/>
            <a:ext cx="3749040" cy="411480"/>
          </a:xfrm>
          <a:prstGeom prst="rect">
            <a:avLst/>
          </a:prstGeom>
          <a:noFill/>
          <a:ln/>
        </p:spPr>
        <p:txBody>
          <a:bodyPr wrap="square" rtlCol="0" anchor="ctr"/>
          <a:lstStyle/>
          <a:p>
            <a:pPr marL="0" indent="0">
              <a:buNone/>
            </a:pPr>
            <a:r>
              <a:rPr lang="en-US" sz="1100" b="1" dirty="0">
                <a:solidFill>
                  <a:srgbClr val="2563EB"/>
                </a:solidFill>
                <a:latin typeface="Calibri" pitchFamily="34" charset="0"/>
                <a:ea typeface="Calibri" pitchFamily="34" charset="-122"/>
                <a:cs typeface="Calibri" pitchFamily="34" charset="-120"/>
              </a:rPr>
              <a:t>Key features:  </a:t>
            </a:r>
            <a:r>
              <a:rPr lang="en-US" sz="1100" dirty="0">
                <a:solidFill>
                  <a:srgbClr val="374151"/>
                </a:solidFill>
                <a:latin typeface="Calibri" pitchFamily="34" charset="0"/>
                <a:ea typeface="Calibri" pitchFamily="34" charset="-122"/>
                <a:cs typeface="Calibri" pitchFamily="34" charset="-120"/>
              </a:rPr>
              <a:t>trial_completion_rate = completed ÷ total</a:t>
            </a:r>
            <a:endParaRPr lang="en-US" sz="1100" dirty="0"/>
          </a:p>
        </p:txBody>
      </p:sp>
      <p:sp>
        <p:nvSpPr>
          <p:cNvPr id="16" name="Text 14"/>
          <p:cNvSpPr/>
          <p:nvPr/>
        </p:nvSpPr>
        <p:spPr>
          <a:xfrm>
            <a:off x="548640" y="3931920"/>
            <a:ext cx="3749040" cy="411480"/>
          </a:xfrm>
          <a:prstGeom prst="rect">
            <a:avLst/>
          </a:prstGeom>
          <a:noFill/>
          <a:ln/>
        </p:spPr>
        <p:txBody>
          <a:bodyPr wrap="square" rtlCol="0" anchor="ctr"/>
          <a:lstStyle/>
          <a:p>
            <a:pPr marL="0" indent="0">
              <a:buNone/>
            </a:pPr>
            <a:r>
              <a:rPr lang="en-US" sz="1100" b="1" dirty="0">
                <a:solidFill>
                  <a:srgbClr val="2563EB"/>
                </a:solidFill>
                <a:latin typeface="Calibri" pitchFamily="34" charset="0"/>
                <a:ea typeface="Calibri" pitchFamily="34" charset="-122"/>
                <a:cs typeface="Calibri" pitchFamily="34" charset="-120"/>
              </a:rPr>
              <a:t>Finding:  </a:t>
            </a:r>
            <a:r>
              <a:rPr lang="en-US" sz="1100" dirty="0">
                <a:solidFill>
                  <a:srgbClr val="374151"/>
                </a:solidFill>
                <a:latin typeface="Calibri" pitchFamily="34" charset="0"/>
                <a:ea typeface="Calibri" pitchFamily="34" charset="-122"/>
                <a:cs typeface="Calibri" pitchFamily="34" charset="-120"/>
              </a:rPr>
              <a:t>Semaglutide has lowest completion (0.40), HCT highest (0.83)</a:t>
            </a:r>
            <a:endParaRPr lang="en-US" sz="1100" dirty="0"/>
          </a:p>
        </p:txBody>
      </p:sp>
      <p:sp>
        <p:nvSpPr>
          <p:cNvPr id="17" name="Shape 15"/>
          <p:cNvSpPr/>
          <p:nvPr/>
        </p:nvSpPr>
        <p:spPr>
          <a:xfrm>
            <a:off x="4663440" y="1417320"/>
            <a:ext cx="4114800" cy="3291840"/>
          </a:xfrm>
          <a:prstGeom prst="rect">
            <a:avLst/>
          </a:prstGeom>
          <a:solidFill>
            <a:srgbClr val="F7EEF1"/>
          </a:solidFill>
          <a:ln w="25400">
            <a:solidFill>
              <a:srgbClr val="9D1535"/>
            </a:solidFill>
            <a:prstDash val="solid"/>
          </a:ln>
          <a:effectLst>
            <a:outerShdw blurRad="101600" dist="25400" dir="8100000" algn="bl" rotWithShape="0">
              <a:srgbClr val="000000">
                <a:alpha val="10000"/>
              </a:srgbClr>
            </a:outerShdw>
          </a:effectLst>
        </p:spPr>
        <p:txBody>
          <a:bodyPr/>
          <a:lstStyle/>
          <a:p>
            <a:endParaRPr lang="en-US"/>
          </a:p>
        </p:txBody>
      </p:sp>
      <p:sp>
        <p:nvSpPr>
          <p:cNvPr id="18" name="Text 16"/>
          <p:cNvSpPr/>
          <p:nvPr/>
        </p:nvSpPr>
        <p:spPr>
          <a:xfrm>
            <a:off x="4846320" y="1481328"/>
            <a:ext cx="3749040" cy="320040"/>
          </a:xfrm>
          <a:prstGeom prst="rect">
            <a:avLst/>
          </a:prstGeom>
          <a:noFill/>
          <a:ln/>
        </p:spPr>
        <p:txBody>
          <a:bodyPr wrap="square" rtlCol="0" anchor="ctr"/>
          <a:lstStyle/>
          <a:p>
            <a:pPr marL="0" indent="0">
              <a:buNone/>
            </a:pPr>
            <a:r>
              <a:rPr lang="en-US" sz="1300" b="1" dirty="0">
                <a:solidFill>
                  <a:srgbClr val="9D1535"/>
                </a:solidFill>
                <a:latin typeface="Trebuchet MS" pitchFamily="34" charset="0"/>
                <a:ea typeface="Trebuchet MS" pitchFamily="34" charset="-122"/>
                <a:cs typeface="Trebuchet MS" pitchFamily="34" charset="-120"/>
              </a:rPr>
              <a:t>Drug Shortages — 1,215 Records</a:t>
            </a:r>
            <a:endParaRPr lang="en-US" sz="1300" dirty="0"/>
          </a:p>
        </p:txBody>
      </p:sp>
      <p:sp>
        <p:nvSpPr>
          <p:cNvPr id="19" name="Text 17"/>
          <p:cNvSpPr/>
          <p:nvPr/>
        </p:nvSpPr>
        <p:spPr>
          <a:xfrm>
            <a:off x="4846320" y="1920240"/>
            <a:ext cx="3749040" cy="411480"/>
          </a:xfrm>
          <a:prstGeom prst="rect">
            <a:avLst/>
          </a:prstGeom>
          <a:noFill/>
          <a:ln/>
        </p:spPr>
        <p:txBody>
          <a:bodyPr wrap="square" rtlCol="0" anchor="ctr"/>
          <a:lstStyle/>
          <a:p>
            <a:pPr marL="0" indent="0">
              <a:buNone/>
            </a:pPr>
            <a:r>
              <a:rPr lang="en-US" sz="1100" b="1" dirty="0">
                <a:solidFill>
                  <a:srgbClr val="9D1535"/>
                </a:solidFill>
                <a:latin typeface="Calibri" pitchFamily="34" charset="0"/>
                <a:ea typeface="Calibri" pitchFamily="34" charset="-122"/>
                <a:cs typeface="Calibri" pitchFamily="34" charset="-120"/>
              </a:rPr>
              <a:t>Source:  </a:t>
            </a:r>
            <a:r>
              <a:rPr lang="en-US" sz="1100" dirty="0">
                <a:solidFill>
                  <a:srgbClr val="374151"/>
                </a:solidFill>
                <a:latin typeface="Calibri" pitchFamily="34" charset="0"/>
                <a:ea typeface="Calibri" pitchFamily="34" charset="-122"/>
                <a:cs typeface="Calibri" pitchFamily="34" charset="-120"/>
              </a:rPr>
              <a:t>OpenFDA drug shortage API</a:t>
            </a:r>
            <a:endParaRPr lang="en-US" sz="1100" dirty="0"/>
          </a:p>
        </p:txBody>
      </p:sp>
      <p:sp>
        <p:nvSpPr>
          <p:cNvPr id="20" name="Text 18"/>
          <p:cNvSpPr/>
          <p:nvPr/>
        </p:nvSpPr>
        <p:spPr>
          <a:xfrm>
            <a:off x="4846320" y="2423160"/>
            <a:ext cx="3749040" cy="411480"/>
          </a:xfrm>
          <a:prstGeom prst="rect">
            <a:avLst/>
          </a:prstGeom>
          <a:noFill/>
          <a:ln/>
        </p:spPr>
        <p:txBody>
          <a:bodyPr wrap="square" rtlCol="0" anchor="ctr"/>
          <a:lstStyle/>
          <a:p>
            <a:pPr marL="0" indent="0">
              <a:buNone/>
            </a:pPr>
            <a:r>
              <a:rPr lang="en-US" sz="1100" b="1" dirty="0">
                <a:solidFill>
                  <a:srgbClr val="9D1535"/>
                </a:solidFill>
                <a:latin typeface="Calibri" pitchFamily="34" charset="0"/>
                <a:ea typeface="Calibri" pitchFamily="34" charset="-122"/>
                <a:cs typeface="Calibri" pitchFamily="34" charset="-120"/>
              </a:rPr>
              <a:t>Challenge:  </a:t>
            </a:r>
            <a:r>
              <a:rPr lang="en-US" sz="1100" dirty="0">
                <a:solidFill>
                  <a:srgbClr val="374151"/>
                </a:solidFill>
                <a:latin typeface="Calibri" pitchFamily="34" charset="0"/>
                <a:ea typeface="Calibri" pitchFamily="34" charset="-122"/>
                <a:cs typeface="Calibri" pitchFamily="34" charset="-120"/>
              </a:rPr>
              <a:t>Names like 'Albuterol Sulfate Solution' — substring matching required</a:t>
            </a:r>
            <a:endParaRPr lang="en-US" sz="1100" dirty="0"/>
          </a:p>
        </p:txBody>
      </p:sp>
      <p:sp>
        <p:nvSpPr>
          <p:cNvPr id="21" name="Text 19"/>
          <p:cNvSpPr/>
          <p:nvPr/>
        </p:nvSpPr>
        <p:spPr>
          <a:xfrm>
            <a:off x="4846320" y="2926080"/>
            <a:ext cx="3749040" cy="411480"/>
          </a:xfrm>
          <a:prstGeom prst="rect">
            <a:avLst/>
          </a:prstGeom>
          <a:noFill/>
          <a:ln/>
        </p:spPr>
        <p:txBody>
          <a:bodyPr wrap="square" rtlCol="0" anchor="ctr"/>
          <a:lstStyle/>
          <a:p>
            <a:pPr marL="0" indent="0">
              <a:buNone/>
            </a:pPr>
            <a:r>
              <a:rPr lang="en-US" sz="1100" b="1" dirty="0">
                <a:solidFill>
                  <a:srgbClr val="9D1535"/>
                </a:solidFill>
                <a:latin typeface="Calibri" pitchFamily="34" charset="0"/>
                <a:ea typeface="Calibri" pitchFamily="34" charset="-122"/>
                <a:cs typeface="Calibri" pitchFamily="34" charset="-120"/>
              </a:rPr>
              <a:t>Key stat:  </a:t>
            </a:r>
            <a:r>
              <a:rPr lang="en-US" sz="1100" dirty="0">
                <a:solidFill>
                  <a:srgbClr val="374151"/>
                </a:solidFill>
                <a:latin typeface="Calibri" pitchFamily="34" charset="0"/>
                <a:ea typeface="Calibri" pitchFamily="34" charset="-122"/>
                <a:cs typeface="Calibri" pitchFamily="34" charset="-120"/>
              </a:rPr>
              <a:t>97.6% of all shortage records are ACTIVE</a:t>
            </a:r>
            <a:endParaRPr lang="en-US" sz="1100" dirty="0"/>
          </a:p>
        </p:txBody>
      </p:sp>
      <p:sp>
        <p:nvSpPr>
          <p:cNvPr id="22" name="Text 20"/>
          <p:cNvSpPr/>
          <p:nvPr/>
        </p:nvSpPr>
        <p:spPr>
          <a:xfrm>
            <a:off x="4846320" y="3429000"/>
            <a:ext cx="3749040" cy="411480"/>
          </a:xfrm>
          <a:prstGeom prst="rect">
            <a:avLst/>
          </a:prstGeom>
          <a:noFill/>
          <a:ln/>
        </p:spPr>
        <p:txBody>
          <a:bodyPr wrap="square" rtlCol="0" anchor="ctr"/>
          <a:lstStyle/>
          <a:p>
            <a:pPr marL="0" indent="0">
              <a:buNone/>
            </a:pPr>
            <a:r>
              <a:rPr lang="en-US" sz="1100" b="1" dirty="0">
                <a:solidFill>
                  <a:srgbClr val="9D1535"/>
                </a:solidFill>
                <a:latin typeface="Calibri" pitchFamily="34" charset="0"/>
                <a:ea typeface="Calibri" pitchFamily="34" charset="-122"/>
                <a:cs typeface="Calibri" pitchFamily="34" charset="-120"/>
              </a:rPr>
              <a:t>Our 50 drugs:  </a:t>
            </a:r>
            <a:r>
              <a:rPr lang="en-US" sz="1100" dirty="0">
                <a:solidFill>
                  <a:srgbClr val="374151"/>
                </a:solidFill>
                <a:latin typeface="Calibri" pitchFamily="34" charset="0"/>
                <a:ea typeface="Calibri" pitchFamily="34" charset="-122"/>
                <a:cs typeface="Calibri" pitchFamily="34" charset="-120"/>
              </a:rPr>
              <a:t>20 of 50 have shortage records; 30 have zero</a:t>
            </a:r>
            <a:endParaRPr lang="en-US" sz="1100" dirty="0"/>
          </a:p>
        </p:txBody>
      </p:sp>
      <p:sp>
        <p:nvSpPr>
          <p:cNvPr id="23" name="Text 21"/>
          <p:cNvSpPr/>
          <p:nvPr/>
        </p:nvSpPr>
        <p:spPr>
          <a:xfrm>
            <a:off x="4846320" y="3931920"/>
            <a:ext cx="3749040" cy="411480"/>
          </a:xfrm>
          <a:prstGeom prst="rect">
            <a:avLst/>
          </a:prstGeom>
          <a:noFill/>
          <a:ln/>
        </p:spPr>
        <p:txBody>
          <a:bodyPr wrap="square" rtlCol="0" anchor="ctr"/>
          <a:lstStyle/>
          <a:p>
            <a:pPr marL="0" indent="0">
              <a:buNone/>
            </a:pPr>
            <a:r>
              <a:rPr lang="en-US" sz="1100" b="1" dirty="0">
                <a:solidFill>
                  <a:srgbClr val="9D1535"/>
                </a:solidFill>
                <a:latin typeface="Calibri" pitchFamily="34" charset="0"/>
                <a:ea typeface="Calibri" pitchFamily="34" charset="-122"/>
                <a:cs typeface="Calibri" pitchFamily="34" charset="-120"/>
              </a:rPr>
              <a:t>Finding:  </a:t>
            </a:r>
            <a:r>
              <a:rPr lang="en-US" sz="1100" dirty="0">
                <a:solidFill>
                  <a:srgbClr val="374151"/>
                </a:solidFill>
                <a:latin typeface="Calibri" pitchFamily="34" charset="0"/>
                <a:ea typeface="Calibri" pitchFamily="34" charset="-122"/>
                <a:cs typeface="Calibri" pitchFamily="34" charset="-120"/>
              </a:rPr>
              <a:t>Common generics never shortage — too many manufacturers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365760" y="201168"/>
            <a:ext cx="2377440" cy="256032"/>
          </a:xfrm>
          <a:prstGeom prst="rect">
            <a:avLst/>
          </a:prstGeom>
          <a:solidFill>
            <a:srgbClr val="9D1535"/>
          </a:solidFill>
          <a:ln w="12700">
            <a:solidFill>
              <a:srgbClr val="9D1535"/>
            </a:solidFill>
            <a:prstDash val="solid"/>
          </a:ln>
        </p:spPr>
        <p:txBody>
          <a:bodyPr/>
          <a:lstStyle/>
          <a:p>
            <a:endParaRPr lang="en-US"/>
          </a:p>
        </p:txBody>
      </p:sp>
      <p:sp>
        <p:nvSpPr>
          <p:cNvPr id="3" name="Text 1"/>
          <p:cNvSpPr/>
          <p:nvPr/>
        </p:nvSpPr>
        <p:spPr>
          <a:xfrm>
            <a:off x="365760" y="201168"/>
            <a:ext cx="2377440"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rPr>
              <a:t>DATA SOURCES 5 &amp; 6</a:t>
            </a:r>
            <a:endParaRPr lang="en-US" sz="800" dirty="0"/>
          </a:p>
        </p:txBody>
      </p:sp>
      <p:sp>
        <p:nvSpPr>
          <p:cNvPr id="4" name="Text 2"/>
          <p:cNvSpPr/>
          <p:nvPr/>
        </p:nvSpPr>
        <p:spPr>
          <a:xfrm>
            <a:off x="365760" y="566928"/>
            <a:ext cx="8412480" cy="548640"/>
          </a:xfrm>
          <a:prstGeom prst="rect">
            <a:avLst/>
          </a:prstGeom>
          <a:noFill/>
          <a:ln/>
        </p:spPr>
        <p:txBody>
          <a:bodyPr wrap="square" rtlCol="0" anchor="ctr"/>
          <a:lstStyle/>
          <a:p>
            <a:pPr marL="0" indent="0">
              <a:buNone/>
            </a:pPr>
            <a:r>
              <a:rPr lang="en-US" sz="2200" b="1" dirty="0">
                <a:solidFill>
                  <a:srgbClr val="111827"/>
                </a:solidFill>
                <a:latin typeface="Trebuchet MS" pitchFamily="34" charset="0"/>
                <a:ea typeface="Trebuchet MS" pitchFamily="34" charset="-122"/>
                <a:cs typeface="Trebuchet MS" pitchFamily="34" charset="-120"/>
              </a:rPr>
              <a:t>Adverse Events &amp; PubMed Research</a:t>
            </a:r>
            <a:endParaRPr lang="en-US" sz="2200" dirty="0"/>
          </a:p>
        </p:txBody>
      </p:sp>
      <p:sp>
        <p:nvSpPr>
          <p:cNvPr id="5" name="Shape 3"/>
          <p:cNvSpPr/>
          <p:nvPr/>
        </p:nvSpPr>
        <p:spPr>
          <a:xfrm>
            <a:off x="365760" y="1298448"/>
            <a:ext cx="8412480" cy="0"/>
          </a:xfrm>
          <a:prstGeom prst="line">
            <a:avLst/>
          </a:prstGeom>
          <a:noFill/>
          <a:ln w="12700">
            <a:solidFill>
              <a:srgbClr val="E5E7EB"/>
            </a:solidFill>
            <a:prstDash val="solid"/>
          </a:ln>
        </p:spPr>
        <p:txBody>
          <a:bodyPr/>
          <a:lstStyle/>
          <a:p>
            <a:endParaRPr lang="en-US"/>
          </a:p>
        </p:txBody>
      </p:sp>
      <p:sp>
        <p:nvSpPr>
          <p:cNvPr id="6" name="Shape 4"/>
          <p:cNvSpPr/>
          <p:nvPr/>
        </p:nvSpPr>
        <p:spPr>
          <a:xfrm>
            <a:off x="0" y="4800600"/>
            <a:ext cx="9144000" cy="347472"/>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365760" y="4809744"/>
            <a:ext cx="7315200" cy="274320"/>
          </a:xfrm>
          <a:prstGeom prst="rect">
            <a:avLst/>
          </a:prstGeom>
          <a:noFill/>
          <a:ln/>
        </p:spPr>
        <p:txBody>
          <a:bodyPr wrap="square" rtlCol="0" anchor="ctr"/>
          <a:lstStyle/>
          <a:p>
            <a:pPr marL="0" indent="0">
              <a:buNone/>
            </a:pPr>
            <a:endParaRPr lang="en-US" sz="900" dirty="0"/>
          </a:p>
        </p:txBody>
      </p:sp>
      <p:sp>
        <p:nvSpPr>
          <p:cNvPr id="8" name="Text 6"/>
          <p:cNvSpPr/>
          <p:nvPr/>
        </p:nvSpPr>
        <p:spPr>
          <a:xfrm>
            <a:off x="4572000" y="4809744"/>
            <a:ext cx="4389120" cy="274320"/>
          </a:xfrm>
          <a:prstGeom prst="rect">
            <a:avLst/>
          </a:prstGeom>
          <a:noFill/>
          <a:ln/>
        </p:spPr>
        <p:txBody>
          <a:bodyPr wrap="square" rtlCol="0" anchor="ctr"/>
          <a:lstStyle/>
          <a:p>
            <a:pPr marL="0" indent="0" algn="r">
              <a:buNone/>
            </a:pPr>
            <a:endParaRPr lang="en-US" sz="900" dirty="0"/>
          </a:p>
        </p:txBody>
      </p:sp>
      <p:sp>
        <p:nvSpPr>
          <p:cNvPr id="9" name="Text 7"/>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AAAAAA"/>
                </a:solidFill>
              </a:rPr>
              <a:t>7 / 25</a:t>
            </a:r>
            <a:endParaRPr lang="en-US" sz="900" dirty="0"/>
          </a:p>
        </p:txBody>
      </p:sp>
      <p:sp>
        <p:nvSpPr>
          <p:cNvPr id="10" name="Shape 8"/>
          <p:cNvSpPr/>
          <p:nvPr/>
        </p:nvSpPr>
        <p:spPr>
          <a:xfrm>
            <a:off x="365760" y="1417320"/>
            <a:ext cx="4114800" cy="3246120"/>
          </a:xfrm>
          <a:prstGeom prst="rect">
            <a:avLst/>
          </a:prstGeom>
          <a:solidFill>
            <a:srgbClr val="FFFFFF"/>
          </a:solidFill>
          <a:ln w="12700">
            <a:solidFill>
              <a:srgbClr val="E5E7EB"/>
            </a:solidFill>
            <a:prstDash val="solid"/>
          </a:ln>
          <a:effectLst>
            <a:outerShdw blurRad="101600" dist="25400" dir="8100000" algn="bl" rotWithShape="0">
              <a:srgbClr val="000000">
                <a:alpha val="10000"/>
              </a:srgbClr>
            </a:outerShdw>
          </a:effectLst>
        </p:spPr>
        <p:txBody>
          <a:bodyPr/>
          <a:lstStyle/>
          <a:p>
            <a:endParaRPr lang="en-US"/>
          </a:p>
        </p:txBody>
      </p:sp>
      <p:sp>
        <p:nvSpPr>
          <p:cNvPr id="11" name="Shape 9"/>
          <p:cNvSpPr/>
          <p:nvPr/>
        </p:nvSpPr>
        <p:spPr>
          <a:xfrm>
            <a:off x="365760" y="1417320"/>
            <a:ext cx="54864" cy="3246120"/>
          </a:xfrm>
          <a:prstGeom prst="rect">
            <a:avLst/>
          </a:prstGeom>
          <a:solidFill>
            <a:srgbClr val="7C3AED"/>
          </a:solidFill>
          <a:ln w="12700">
            <a:solidFill>
              <a:srgbClr val="7C3AED"/>
            </a:solidFill>
            <a:prstDash val="solid"/>
          </a:ln>
        </p:spPr>
        <p:txBody>
          <a:bodyPr/>
          <a:lstStyle/>
          <a:p>
            <a:endParaRPr lang="en-US"/>
          </a:p>
        </p:txBody>
      </p:sp>
      <p:sp>
        <p:nvSpPr>
          <p:cNvPr id="12" name="Text 10"/>
          <p:cNvSpPr/>
          <p:nvPr/>
        </p:nvSpPr>
        <p:spPr>
          <a:xfrm>
            <a:off x="502920" y="1490472"/>
            <a:ext cx="3931920" cy="256032"/>
          </a:xfrm>
          <a:prstGeom prst="rect">
            <a:avLst/>
          </a:prstGeom>
          <a:noFill/>
          <a:ln/>
        </p:spPr>
        <p:txBody>
          <a:bodyPr wrap="square" rtlCol="0" anchor="ctr"/>
          <a:lstStyle/>
          <a:p>
            <a:pPr marL="0" indent="0">
              <a:buNone/>
            </a:pPr>
            <a:r>
              <a:rPr lang="en-US" sz="1100" b="1" dirty="0">
                <a:solidFill>
                  <a:srgbClr val="7C3AED"/>
                </a:solidFill>
                <a:latin typeface="Trebuchet MS" pitchFamily="34" charset="0"/>
                <a:ea typeface="Trebuchet MS" pitchFamily="34" charset="-122"/>
                <a:cs typeface="Trebuchet MS" pitchFamily="34" charset="-120"/>
              </a:rPr>
              <a:t>OpenFDA FAERS — 24,100 Adverse Event Reports</a:t>
            </a:r>
            <a:endParaRPr lang="en-US" sz="1100" dirty="0"/>
          </a:p>
        </p:txBody>
      </p:sp>
      <p:sp>
        <p:nvSpPr>
          <p:cNvPr id="13" name="Text 11"/>
          <p:cNvSpPr/>
          <p:nvPr/>
        </p:nvSpPr>
        <p:spPr>
          <a:xfrm>
            <a:off x="502920" y="1764792"/>
            <a:ext cx="3913632" cy="2807208"/>
          </a:xfrm>
          <a:prstGeom prst="rect">
            <a:avLst/>
          </a:prstGeom>
          <a:noFill/>
          <a:ln/>
        </p:spPr>
        <p:txBody>
          <a:bodyPr wrap="square" rtlCol="0" anchor="t"/>
          <a:lstStyle/>
          <a:p>
            <a:pPr marL="0" indent="0">
              <a:buNone/>
            </a:pPr>
            <a:r>
              <a:rPr lang="en-US" sz="1100" dirty="0">
                <a:solidFill>
                  <a:srgbClr val="374151"/>
                </a:solidFill>
                <a:latin typeface="Calibri" pitchFamily="34" charset="0"/>
                <a:ea typeface="Calibri" pitchFamily="34" charset="-122"/>
                <a:cs typeface="Calibri" pitchFamily="34" charset="-120"/>
              </a:rPr>
              <a:t>Source: FDA Adverse Event Reporting System — voluntary reports submitted by doctors and patients.</a:t>
            </a:r>
            <a:endParaRPr lang="en-US" sz="1100" dirty="0"/>
          </a:p>
          <a:p>
            <a:pPr marL="0" indent="0">
              <a:buNone/>
            </a:pPr>
            <a:endParaRPr lang="en-US" sz="1100" dirty="0"/>
          </a:p>
          <a:p>
            <a:pPr marL="0" indent="0">
              <a:buNone/>
            </a:pPr>
            <a:r>
              <a:rPr lang="en-US" sz="1100" dirty="0">
                <a:solidFill>
                  <a:srgbClr val="374151"/>
                </a:solidFill>
                <a:latin typeface="Calibri" pitchFamily="34" charset="0"/>
                <a:ea typeface="Calibri" pitchFamily="34" charset="-122"/>
                <a:cs typeface="Calibri" pitchFamily="34" charset="-120"/>
              </a:rPr>
              <a:t>Key limitation: 100% of records classified as 'serious' — reporters are biased toward severe events. Minor side effects rarely get reported.</a:t>
            </a:r>
            <a:endParaRPr lang="en-US" sz="1100" dirty="0"/>
          </a:p>
          <a:p>
            <a:pPr marL="0" indent="0">
              <a:buNone/>
            </a:pPr>
            <a:endParaRPr lang="en-US" sz="1100" dirty="0"/>
          </a:p>
          <a:p>
            <a:pPr marL="0" indent="0">
              <a:buNone/>
            </a:pPr>
            <a:r>
              <a:rPr lang="en-US" sz="1100" dirty="0">
                <a:solidFill>
                  <a:srgbClr val="374151"/>
                </a:solidFill>
                <a:latin typeface="Calibri" pitchFamily="34" charset="0"/>
                <a:ea typeface="Calibri" pitchFamily="34" charset="-122"/>
                <a:cs typeface="Calibri" pitchFamily="34" charset="-120"/>
              </a:rPr>
              <a:t>Feature used: adverse_unique_types (how many different event types per drug, range 73-370). NOT adverse_serious_ratio which = 1.0 for all drugs.</a:t>
            </a:r>
            <a:endParaRPr lang="en-US" sz="1100" dirty="0"/>
          </a:p>
          <a:p>
            <a:pPr marL="0" indent="0">
              <a:buNone/>
            </a:pPr>
            <a:endParaRPr lang="en-US" sz="1100" dirty="0"/>
          </a:p>
          <a:p>
            <a:pPr marL="0" indent="0">
              <a:buNone/>
            </a:pPr>
            <a:r>
              <a:rPr lang="en-US" sz="1100" dirty="0">
                <a:solidFill>
                  <a:srgbClr val="374151"/>
                </a:solidFill>
                <a:latin typeface="Calibri" pitchFamily="34" charset="0"/>
                <a:ea typeface="Calibri" pitchFamily="34" charset="-122"/>
                <a:cs typeface="Calibri" pitchFamily="34" charset="-120"/>
              </a:rPr>
              <a:t>Example: Amoxicillin has 370 unique event types — widest side effect profile as a broad-spectrum antibiotic.</a:t>
            </a:r>
            <a:endParaRPr lang="en-US" sz="1100" dirty="0"/>
          </a:p>
        </p:txBody>
      </p:sp>
      <p:sp>
        <p:nvSpPr>
          <p:cNvPr id="14" name="Shape 12"/>
          <p:cNvSpPr/>
          <p:nvPr/>
        </p:nvSpPr>
        <p:spPr>
          <a:xfrm>
            <a:off x="4663440" y="1417320"/>
            <a:ext cx="4114800" cy="3246120"/>
          </a:xfrm>
          <a:prstGeom prst="rect">
            <a:avLst/>
          </a:prstGeom>
          <a:solidFill>
            <a:srgbClr val="FFFFFF"/>
          </a:solidFill>
          <a:ln w="12700">
            <a:solidFill>
              <a:srgbClr val="E5E7EB"/>
            </a:solidFill>
            <a:prstDash val="solid"/>
          </a:ln>
          <a:effectLst>
            <a:outerShdw blurRad="101600" dist="25400" dir="8100000" algn="bl" rotWithShape="0">
              <a:srgbClr val="000000">
                <a:alpha val="10000"/>
              </a:srgbClr>
            </a:outerShdw>
          </a:effectLst>
        </p:spPr>
        <p:txBody>
          <a:bodyPr/>
          <a:lstStyle/>
          <a:p>
            <a:endParaRPr lang="en-US"/>
          </a:p>
        </p:txBody>
      </p:sp>
      <p:sp>
        <p:nvSpPr>
          <p:cNvPr id="15" name="Shape 13"/>
          <p:cNvSpPr/>
          <p:nvPr/>
        </p:nvSpPr>
        <p:spPr>
          <a:xfrm>
            <a:off x="4663440" y="1417320"/>
            <a:ext cx="54864" cy="3246120"/>
          </a:xfrm>
          <a:prstGeom prst="rect">
            <a:avLst/>
          </a:prstGeom>
          <a:solidFill>
            <a:srgbClr val="0891B2"/>
          </a:solidFill>
          <a:ln w="12700">
            <a:solidFill>
              <a:srgbClr val="0891B2"/>
            </a:solidFill>
            <a:prstDash val="solid"/>
          </a:ln>
        </p:spPr>
        <p:txBody>
          <a:bodyPr/>
          <a:lstStyle/>
          <a:p>
            <a:endParaRPr lang="en-US"/>
          </a:p>
        </p:txBody>
      </p:sp>
      <p:sp>
        <p:nvSpPr>
          <p:cNvPr id="16" name="Text 14"/>
          <p:cNvSpPr/>
          <p:nvPr/>
        </p:nvSpPr>
        <p:spPr>
          <a:xfrm>
            <a:off x="4800600" y="1490472"/>
            <a:ext cx="3931920" cy="256032"/>
          </a:xfrm>
          <a:prstGeom prst="rect">
            <a:avLst/>
          </a:prstGeom>
          <a:noFill/>
          <a:ln/>
        </p:spPr>
        <p:txBody>
          <a:bodyPr wrap="square" rtlCol="0" anchor="ctr"/>
          <a:lstStyle/>
          <a:p>
            <a:pPr marL="0" indent="0">
              <a:buNone/>
            </a:pPr>
            <a:r>
              <a:rPr lang="en-US" sz="1100" b="1" dirty="0">
                <a:solidFill>
                  <a:srgbClr val="0891B2"/>
                </a:solidFill>
                <a:latin typeface="Trebuchet MS" pitchFamily="34" charset="0"/>
                <a:ea typeface="Trebuchet MS" pitchFamily="34" charset="-122"/>
                <a:cs typeface="Trebuchet MS" pitchFamily="34" charset="-120"/>
              </a:rPr>
              <a:t>PubMed/NCBI — 7,181 Abstracts</a:t>
            </a:r>
            <a:endParaRPr lang="en-US" sz="1100" dirty="0"/>
          </a:p>
        </p:txBody>
      </p:sp>
      <p:sp>
        <p:nvSpPr>
          <p:cNvPr id="17" name="Text 15"/>
          <p:cNvSpPr/>
          <p:nvPr/>
        </p:nvSpPr>
        <p:spPr>
          <a:xfrm>
            <a:off x="4800600" y="1764792"/>
            <a:ext cx="3913632" cy="2807208"/>
          </a:xfrm>
          <a:prstGeom prst="rect">
            <a:avLst/>
          </a:prstGeom>
          <a:noFill/>
          <a:ln/>
        </p:spPr>
        <p:txBody>
          <a:bodyPr wrap="square" rtlCol="0" anchor="t"/>
          <a:lstStyle/>
          <a:p>
            <a:pPr marL="0" indent="0">
              <a:buNone/>
            </a:pPr>
            <a:r>
              <a:rPr lang="en-US" sz="1100" dirty="0">
                <a:solidFill>
                  <a:srgbClr val="374151"/>
                </a:solidFill>
                <a:latin typeface="Calibri" pitchFamily="34" charset="0"/>
                <a:ea typeface="Calibri" pitchFamily="34" charset="-122"/>
                <a:cs typeface="Calibri" pitchFamily="34" charset="-120"/>
              </a:rPr>
              <a:t>Source: NCBI Entrez E-utilities. Two-step: esearch (get PMIDs) → efetch (get abstracts). Up to 150 abstracts per drug.</a:t>
            </a:r>
            <a:endParaRPr lang="en-US" sz="1100" dirty="0"/>
          </a:p>
          <a:p>
            <a:pPr marL="0" indent="0">
              <a:buNone/>
            </a:pPr>
            <a:endParaRPr lang="en-US" sz="1100" dirty="0"/>
          </a:p>
          <a:p>
            <a:pPr marL="0" indent="0">
              <a:buNone/>
            </a:pPr>
            <a:r>
              <a:rPr lang="en-US" sz="1100" dirty="0">
                <a:solidFill>
                  <a:srgbClr val="374151"/>
                </a:solidFill>
                <a:latin typeface="Calibri" pitchFamily="34" charset="0"/>
                <a:ea typeface="Calibri" pitchFamily="34" charset="-122"/>
                <a:cs typeface="Calibri" pitchFamily="34" charset="-120"/>
              </a:rPr>
              <a:t>Dual role in project:</a:t>
            </a:r>
            <a:endParaRPr lang="en-US" sz="1100" dirty="0"/>
          </a:p>
          <a:p>
            <a:pPr marL="0" indent="0">
              <a:buNone/>
            </a:pPr>
            <a:r>
              <a:rPr lang="en-US" sz="1100" dirty="0">
                <a:solidFill>
                  <a:srgbClr val="374151"/>
                </a:solidFill>
                <a:latin typeface="Calibri" pitchFamily="34" charset="0"/>
                <a:ea typeface="Calibri" pitchFamily="34" charset="-122"/>
                <a:cs typeface="Calibri" pitchFamily="34" charset="-120"/>
              </a:rPr>
              <a:t>1. Feature engineering — pubmed_recency_ratio (papers since 2020 ÷ total) fed into ML model</a:t>
            </a:r>
            <a:endParaRPr lang="en-US" sz="1100" dirty="0"/>
          </a:p>
          <a:p>
            <a:pPr marL="0" indent="0">
              <a:buNone/>
            </a:pPr>
            <a:r>
              <a:rPr lang="en-US" sz="1100" dirty="0">
                <a:solidFill>
                  <a:srgbClr val="374151"/>
                </a:solidFill>
                <a:latin typeface="Calibri" pitchFamily="34" charset="0"/>
                <a:ea typeface="Calibri" pitchFamily="34" charset="-122"/>
                <a:cs typeface="Calibri" pitchFamily="34" charset="-120"/>
              </a:rPr>
              <a:t>2. NLP corpus — abstracts enriched Word2Vec training with clinical terminology</a:t>
            </a:r>
            <a:endParaRPr lang="en-US" sz="1100" dirty="0"/>
          </a:p>
          <a:p>
            <a:pPr marL="0" indent="0">
              <a:buNone/>
            </a:pPr>
            <a:endParaRPr lang="en-US" sz="1100" dirty="0"/>
          </a:p>
          <a:p>
            <a:pPr marL="0" indent="0">
              <a:buNone/>
            </a:pPr>
            <a:r>
              <a:rPr lang="en-US" sz="1100" dirty="0">
                <a:solidFill>
                  <a:srgbClr val="374151"/>
                </a:solidFill>
                <a:latin typeface="Calibri" pitchFamily="34" charset="0"/>
                <a:ea typeface="Calibri" pitchFamily="34" charset="-122"/>
                <a:cs typeface="Calibri" pitchFamily="34" charset="-120"/>
              </a:rPr>
              <a:t>Finding: Newer drugs (semaglutide, empagliflozin) have high recency ratios and negative patient sentiment — growing research reflects unknown side effects.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365760" y="201168"/>
            <a:ext cx="2377440" cy="256032"/>
          </a:xfrm>
          <a:prstGeom prst="rect">
            <a:avLst/>
          </a:prstGeom>
          <a:solidFill>
            <a:srgbClr val="9D1535"/>
          </a:solidFill>
          <a:ln w="12700">
            <a:solidFill>
              <a:srgbClr val="9D1535"/>
            </a:solidFill>
            <a:prstDash val="solid"/>
          </a:ln>
        </p:spPr>
        <p:txBody>
          <a:bodyPr/>
          <a:lstStyle/>
          <a:p>
            <a:endParaRPr lang="en-US"/>
          </a:p>
        </p:txBody>
      </p:sp>
      <p:sp>
        <p:nvSpPr>
          <p:cNvPr id="3" name="Text 1"/>
          <p:cNvSpPr/>
          <p:nvPr/>
        </p:nvSpPr>
        <p:spPr>
          <a:xfrm>
            <a:off x="365760" y="201168"/>
            <a:ext cx="2377440"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rPr>
              <a:t>SPEAKER 1 — DATA SUMMARY</a:t>
            </a:r>
            <a:endParaRPr lang="en-US" sz="800" dirty="0"/>
          </a:p>
        </p:txBody>
      </p:sp>
      <p:sp>
        <p:nvSpPr>
          <p:cNvPr id="4" name="Text 2"/>
          <p:cNvSpPr/>
          <p:nvPr/>
        </p:nvSpPr>
        <p:spPr>
          <a:xfrm>
            <a:off x="365760" y="566928"/>
            <a:ext cx="8412480" cy="640080"/>
          </a:xfrm>
          <a:prstGeom prst="rect">
            <a:avLst/>
          </a:prstGeom>
          <a:noFill/>
          <a:ln/>
        </p:spPr>
        <p:txBody>
          <a:bodyPr wrap="square" rtlCol="0" anchor="ctr"/>
          <a:lstStyle/>
          <a:p>
            <a:pPr marL="0" indent="0">
              <a:buNone/>
            </a:pPr>
            <a:r>
              <a:rPr lang="en-US" sz="2800" b="1" dirty="0">
                <a:solidFill>
                  <a:srgbClr val="111827"/>
                </a:solidFill>
                <a:latin typeface="Trebuchet MS" pitchFamily="34" charset="0"/>
                <a:ea typeface="Trebuchet MS" pitchFamily="34" charset="-122"/>
                <a:cs typeface="Trebuchet MS" pitchFamily="34" charset="-120"/>
              </a:rPr>
              <a:t>Data Collection Summary</a:t>
            </a:r>
            <a:endParaRPr lang="en-US" sz="2800" dirty="0"/>
          </a:p>
        </p:txBody>
      </p:sp>
      <p:sp>
        <p:nvSpPr>
          <p:cNvPr id="5" name="Shape 3"/>
          <p:cNvSpPr/>
          <p:nvPr/>
        </p:nvSpPr>
        <p:spPr>
          <a:xfrm>
            <a:off x="365760" y="1298448"/>
            <a:ext cx="8412480" cy="0"/>
          </a:xfrm>
          <a:prstGeom prst="line">
            <a:avLst/>
          </a:prstGeom>
          <a:noFill/>
          <a:ln w="12700">
            <a:solidFill>
              <a:srgbClr val="E5E7EB"/>
            </a:solidFill>
            <a:prstDash val="solid"/>
          </a:ln>
        </p:spPr>
        <p:txBody>
          <a:bodyPr/>
          <a:lstStyle/>
          <a:p>
            <a:endParaRPr lang="en-US"/>
          </a:p>
        </p:txBody>
      </p:sp>
      <p:sp>
        <p:nvSpPr>
          <p:cNvPr id="6" name="Shape 4"/>
          <p:cNvSpPr/>
          <p:nvPr/>
        </p:nvSpPr>
        <p:spPr>
          <a:xfrm>
            <a:off x="0" y="5038344"/>
            <a:ext cx="9144000" cy="119608"/>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365760" y="4809744"/>
            <a:ext cx="7315200" cy="274320"/>
          </a:xfrm>
          <a:prstGeom prst="rect">
            <a:avLst/>
          </a:prstGeom>
          <a:noFill/>
          <a:ln/>
        </p:spPr>
        <p:txBody>
          <a:bodyPr wrap="square" rtlCol="0" anchor="ctr"/>
          <a:lstStyle/>
          <a:p>
            <a:pPr marL="0" indent="0">
              <a:buNone/>
            </a:pPr>
            <a:endParaRPr lang="en-US" sz="900" dirty="0"/>
          </a:p>
        </p:txBody>
      </p:sp>
      <p:sp>
        <p:nvSpPr>
          <p:cNvPr id="8" name="Text 6"/>
          <p:cNvSpPr/>
          <p:nvPr/>
        </p:nvSpPr>
        <p:spPr>
          <a:xfrm>
            <a:off x="4572000" y="4809744"/>
            <a:ext cx="4389120" cy="274320"/>
          </a:xfrm>
          <a:prstGeom prst="rect">
            <a:avLst/>
          </a:prstGeom>
          <a:noFill/>
          <a:ln/>
        </p:spPr>
        <p:txBody>
          <a:bodyPr wrap="square" rtlCol="0" anchor="ctr"/>
          <a:lstStyle/>
          <a:p>
            <a:pPr marL="0" indent="0" algn="r">
              <a:buNone/>
            </a:pPr>
            <a:endParaRPr lang="en-US" sz="900" dirty="0"/>
          </a:p>
        </p:txBody>
      </p:sp>
      <p:sp>
        <p:nvSpPr>
          <p:cNvPr id="9" name="Text 7"/>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AAAAAA"/>
                </a:solidFill>
              </a:rPr>
              <a:t>8 / 25</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063144044"/>
              </p:ext>
            </p:extLst>
          </p:nvPr>
        </p:nvGraphicFramePr>
        <p:xfrm>
          <a:off x="365760" y="1289304"/>
          <a:ext cx="8412480" cy="3511296"/>
        </p:xfrm>
        <a:graphic>
          <a:graphicData uri="http://schemas.openxmlformats.org/drawingml/2006/table">
            <a:tbl>
              <a:tblPr/>
              <a:tblGrid>
                <a:gridCol w="192024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2011680">
                  <a:extLst>
                    <a:ext uri="{9D8B030D-6E8A-4147-A177-3AD203B41FA5}">
                      <a16:colId xmlns:a16="http://schemas.microsoft.com/office/drawing/2014/main" val="20005"/>
                    </a:ext>
                  </a:extLst>
                </a:gridCol>
              </a:tblGrid>
              <a:tr h="438912">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Source</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9D153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Records</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9D153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Method</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9D153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Auth?</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9D153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Key Feature</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9D153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Challenge</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9D1535"/>
                    </a:solidFill>
                  </a:tcPr>
                </a:tc>
                <a:extLst>
                  <a:ext uri="{0D108BD9-81ED-4DB2-BD59-A6C34878D82A}">
                    <a16:rowId xmlns:a16="http://schemas.microsoft.com/office/drawing/2014/main" val="10000"/>
                  </a:ext>
                </a:extLst>
              </a:tr>
              <a:tr h="438912">
                <a:tc>
                  <a:txBody>
                    <a:bodyPr/>
                    <a:lstStyle/>
                    <a:p>
                      <a:pPr marL="0" indent="0" algn="l">
                        <a:buNone/>
                      </a:pPr>
                      <a:r>
                        <a:rPr lang="en-US" sz="1000" dirty="0">
                          <a:solidFill>
                            <a:srgbClr val="9D1535"/>
                          </a:solidFill>
                          <a:latin typeface="Calibri" pitchFamily="34" charset="0"/>
                          <a:ea typeface="Calibri" pitchFamily="34" charset="-122"/>
                          <a:cs typeface="Calibri" pitchFamily="34" charset="-120"/>
                        </a:rPr>
                        <a:t>WebMD Reviews</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000" dirty="0">
                          <a:solidFill>
                            <a:srgbClr val="374151"/>
                          </a:solidFill>
                          <a:latin typeface="Calibri" pitchFamily="34" charset="0"/>
                          <a:ea typeface="Calibri" pitchFamily="34" charset="-122"/>
                          <a:cs typeface="Calibri" pitchFamily="34" charset="-120"/>
                        </a:rPr>
                        <a:t>6,827</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000" dirty="0">
                          <a:solidFill>
                            <a:srgbClr val="374151"/>
                          </a:solidFill>
                          <a:latin typeface="Calibri" pitchFamily="34" charset="0"/>
                          <a:ea typeface="Calibri" pitchFamily="34" charset="-122"/>
                          <a:cs typeface="Calibri" pitchFamily="34" charset="-120"/>
                        </a:rPr>
                        <a:t>Selenium + Chrome</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000" dirty="0">
                          <a:solidFill>
                            <a:srgbClr val="374151"/>
                          </a:solidFill>
                          <a:latin typeface="Calibri" pitchFamily="34" charset="0"/>
                          <a:ea typeface="Calibri" pitchFamily="34" charset="-122"/>
                          <a:cs typeface="Calibri" pitchFamily="34" charset="-120"/>
                        </a:rPr>
                        <a:t>None</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000" dirty="0">
                          <a:solidFill>
                            <a:srgbClr val="374151"/>
                          </a:solidFill>
                          <a:latin typeface="Calibri" pitchFamily="34" charset="0"/>
                          <a:ea typeface="Calibri" pitchFamily="34" charset="-122"/>
                          <a:cs typeface="Calibri" pitchFamily="34" charset="-120"/>
                        </a:rPr>
                        <a:t>avg_sentiment (Y)</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000" dirty="0">
                          <a:solidFill>
                            <a:srgbClr val="374151"/>
                          </a:solidFill>
                          <a:latin typeface="Calibri" pitchFamily="34" charset="0"/>
                          <a:ea typeface="Calibri" pitchFamily="34" charset="-122"/>
                          <a:cs typeface="Calibri" pitchFamily="34" charset="-120"/>
                        </a:rPr>
                        <a:t>URL slugs, JS rendering</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extLst>
                  <a:ext uri="{0D108BD9-81ED-4DB2-BD59-A6C34878D82A}">
                    <a16:rowId xmlns:a16="http://schemas.microsoft.com/office/drawing/2014/main" val="10001"/>
                  </a:ext>
                </a:extLst>
              </a:tr>
              <a:tr h="438912">
                <a:tc>
                  <a:txBody>
                    <a:bodyPr/>
                    <a:lstStyle/>
                    <a:p>
                      <a:pPr marL="0" indent="0" algn="l">
                        <a:buNone/>
                      </a:pPr>
                      <a:r>
                        <a:rPr lang="en-US" sz="1000" dirty="0">
                          <a:solidFill>
                            <a:srgbClr val="9D1535"/>
                          </a:solidFill>
                          <a:latin typeface="Calibri" pitchFamily="34" charset="0"/>
                          <a:ea typeface="Calibri" pitchFamily="34" charset="-122"/>
                          <a:cs typeface="Calibri" pitchFamily="34" charset="-120"/>
                        </a:rPr>
                        <a:t>NADAC/CMS Pricing</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74151"/>
                          </a:solidFill>
                          <a:latin typeface="Calibri" pitchFamily="34" charset="0"/>
                          <a:ea typeface="Calibri" pitchFamily="34" charset="-122"/>
                          <a:cs typeface="Calibri" pitchFamily="34" charset="-120"/>
                        </a:rPr>
                        <a:t>86,742</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74151"/>
                          </a:solidFill>
                          <a:latin typeface="Calibri" pitchFamily="34" charset="0"/>
                          <a:ea typeface="Calibri" pitchFamily="34" charset="-122"/>
                          <a:cs typeface="Calibri" pitchFamily="34" charset="-120"/>
                        </a:rPr>
                        <a:t>Socrata REST API</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74151"/>
                          </a:solidFill>
                          <a:latin typeface="Calibri" pitchFamily="34" charset="0"/>
                          <a:ea typeface="Calibri" pitchFamily="34" charset="-122"/>
                          <a:cs typeface="Calibri" pitchFamily="34" charset="-120"/>
                        </a:rPr>
                        <a:t>None</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74151"/>
                          </a:solidFill>
                          <a:latin typeface="Calibri" pitchFamily="34" charset="0"/>
                          <a:ea typeface="Calibri" pitchFamily="34" charset="-122"/>
                          <a:cs typeface="Calibri" pitchFamily="34" charset="-120"/>
                        </a:rPr>
                        <a:t>price_30day</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74151"/>
                          </a:solidFill>
                          <a:latin typeface="Calibri" pitchFamily="34" charset="0"/>
                          <a:ea typeface="Calibri" pitchFamily="34" charset="-122"/>
                          <a:cs typeface="Calibri" pitchFamily="34" charset="-120"/>
                        </a:rPr>
                        <a:t>4 brand drugs missing</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8912">
                <a:tc>
                  <a:txBody>
                    <a:bodyPr/>
                    <a:lstStyle/>
                    <a:p>
                      <a:pPr marL="0" indent="0" algn="l">
                        <a:buNone/>
                      </a:pPr>
                      <a:r>
                        <a:rPr lang="en-US" sz="1000" dirty="0">
                          <a:solidFill>
                            <a:srgbClr val="9D1535"/>
                          </a:solidFill>
                          <a:latin typeface="Calibri" pitchFamily="34" charset="0"/>
                          <a:ea typeface="Calibri" pitchFamily="34" charset="-122"/>
                          <a:cs typeface="Calibri" pitchFamily="34" charset="-120"/>
                        </a:rPr>
                        <a:t>ClinicalTrials</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000" dirty="0">
                          <a:solidFill>
                            <a:srgbClr val="374151"/>
                          </a:solidFill>
                          <a:latin typeface="Calibri" pitchFamily="34" charset="0"/>
                          <a:ea typeface="Calibri" pitchFamily="34" charset="-122"/>
                          <a:cs typeface="Calibri" pitchFamily="34" charset="-120"/>
                        </a:rPr>
                        <a:t>9,331</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000" dirty="0">
                          <a:solidFill>
                            <a:srgbClr val="374151"/>
                          </a:solidFill>
                          <a:latin typeface="Calibri" pitchFamily="34" charset="0"/>
                          <a:ea typeface="Calibri" pitchFamily="34" charset="-122"/>
                          <a:cs typeface="Calibri" pitchFamily="34" charset="-120"/>
                        </a:rPr>
                        <a:t>REST API v2</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000" dirty="0">
                          <a:solidFill>
                            <a:srgbClr val="374151"/>
                          </a:solidFill>
                          <a:latin typeface="Calibri" pitchFamily="34" charset="0"/>
                          <a:ea typeface="Calibri" pitchFamily="34" charset="-122"/>
                          <a:cs typeface="Calibri" pitchFamily="34" charset="-120"/>
                        </a:rPr>
                        <a:t>None</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000" dirty="0">
                          <a:solidFill>
                            <a:srgbClr val="374151"/>
                          </a:solidFill>
                          <a:latin typeface="Calibri" pitchFamily="34" charset="0"/>
                          <a:ea typeface="Calibri" pitchFamily="34" charset="-122"/>
                          <a:cs typeface="Calibri" pitchFamily="34" charset="-120"/>
                        </a:rPr>
                        <a:t>trial_completion_rate</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000" dirty="0">
                          <a:solidFill>
                            <a:srgbClr val="374151"/>
                          </a:solidFill>
                          <a:latin typeface="Calibri" pitchFamily="34" charset="0"/>
                          <a:ea typeface="Calibri" pitchFamily="34" charset="-122"/>
                          <a:cs typeface="Calibri" pitchFamily="34" charset="-120"/>
                        </a:rPr>
                        <a:t>Status = ALL CAPS</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extLst>
                  <a:ext uri="{0D108BD9-81ED-4DB2-BD59-A6C34878D82A}">
                    <a16:rowId xmlns:a16="http://schemas.microsoft.com/office/drawing/2014/main" val="10003"/>
                  </a:ext>
                </a:extLst>
              </a:tr>
              <a:tr h="438912">
                <a:tc>
                  <a:txBody>
                    <a:bodyPr/>
                    <a:lstStyle/>
                    <a:p>
                      <a:pPr marL="0" indent="0" algn="l">
                        <a:buNone/>
                      </a:pPr>
                      <a:r>
                        <a:rPr lang="en-US" sz="1000" dirty="0">
                          <a:solidFill>
                            <a:srgbClr val="9D1535"/>
                          </a:solidFill>
                          <a:latin typeface="Calibri" pitchFamily="34" charset="0"/>
                          <a:ea typeface="Calibri" pitchFamily="34" charset="-122"/>
                          <a:cs typeface="Calibri" pitchFamily="34" charset="-120"/>
                        </a:rPr>
                        <a:t>FDA Shortages</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74151"/>
                          </a:solidFill>
                          <a:latin typeface="Calibri" pitchFamily="34" charset="0"/>
                          <a:ea typeface="Calibri" pitchFamily="34" charset="-122"/>
                          <a:cs typeface="Calibri" pitchFamily="34" charset="-120"/>
                        </a:rPr>
                        <a:t>1,215</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74151"/>
                          </a:solidFill>
                          <a:latin typeface="Calibri" pitchFamily="34" charset="0"/>
                          <a:ea typeface="Calibri" pitchFamily="34" charset="-122"/>
                          <a:cs typeface="Calibri" pitchFamily="34" charset="-120"/>
                        </a:rPr>
                        <a:t>OpenFDA API + HTML</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74151"/>
                          </a:solidFill>
                          <a:latin typeface="Calibri" pitchFamily="34" charset="0"/>
                          <a:ea typeface="Calibri" pitchFamily="34" charset="-122"/>
                          <a:cs typeface="Calibri" pitchFamily="34" charset="-120"/>
                        </a:rPr>
                        <a:t>None</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74151"/>
                          </a:solidFill>
                          <a:latin typeface="Calibri" pitchFamily="34" charset="0"/>
                          <a:ea typeface="Calibri" pitchFamily="34" charset="-122"/>
                          <a:cs typeface="Calibri" pitchFamily="34" charset="-120"/>
                        </a:rPr>
                        <a:t>has_active_shortage</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74151"/>
                          </a:solidFill>
                          <a:latin typeface="Calibri" pitchFamily="34" charset="0"/>
                          <a:ea typeface="Calibri" pitchFamily="34" charset="-122"/>
                          <a:cs typeface="Calibri" pitchFamily="34" charset="-120"/>
                        </a:rPr>
                        <a:t>Substring name matching</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8912">
                <a:tc>
                  <a:txBody>
                    <a:bodyPr/>
                    <a:lstStyle/>
                    <a:p>
                      <a:pPr marL="0" indent="0" algn="l">
                        <a:buNone/>
                      </a:pPr>
                      <a:r>
                        <a:rPr lang="en-US" sz="1000" dirty="0">
                          <a:solidFill>
                            <a:srgbClr val="9D1535"/>
                          </a:solidFill>
                          <a:latin typeface="Calibri" pitchFamily="34" charset="0"/>
                          <a:ea typeface="Calibri" pitchFamily="34" charset="-122"/>
                          <a:cs typeface="Calibri" pitchFamily="34" charset="-120"/>
                        </a:rPr>
                        <a:t>OpenFDA FAERS</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000" dirty="0">
                          <a:solidFill>
                            <a:srgbClr val="374151"/>
                          </a:solidFill>
                          <a:latin typeface="Calibri" pitchFamily="34" charset="0"/>
                          <a:ea typeface="Calibri" pitchFamily="34" charset="-122"/>
                          <a:cs typeface="Calibri" pitchFamily="34" charset="-120"/>
                        </a:rPr>
                        <a:t>24,100</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000" dirty="0">
                          <a:solidFill>
                            <a:srgbClr val="374151"/>
                          </a:solidFill>
                          <a:latin typeface="Calibri" pitchFamily="34" charset="0"/>
                          <a:ea typeface="Calibri" pitchFamily="34" charset="-122"/>
                          <a:cs typeface="Calibri" pitchFamily="34" charset="-120"/>
                        </a:rPr>
                        <a:t>OpenFDA REST API</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000" dirty="0">
                          <a:solidFill>
                            <a:srgbClr val="374151"/>
                          </a:solidFill>
                          <a:latin typeface="Calibri" pitchFamily="34" charset="0"/>
                          <a:ea typeface="Calibri" pitchFamily="34" charset="-122"/>
                          <a:cs typeface="Calibri" pitchFamily="34" charset="-120"/>
                        </a:rPr>
                        <a:t>None</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000" dirty="0">
                          <a:solidFill>
                            <a:srgbClr val="374151"/>
                          </a:solidFill>
                          <a:latin typeface="Calibri" pitchFamily="34" charset="0"/>
                          <a:ea typeface="Calibri" pitchFamily="34" charset="-122"/>
                          <a:cs typeface="Calibri" pitchFamily="34" charset="-120"/>
                        </a:rPr>
                        <a:t>adverse_unique_types</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000" dirty="0">
                          <a:solidFill>
                            <a:srgbClr val="374151"/>
                          </a:solidFill>
                          <a:latin typeface="Calibri" pitchFamily="34" charset="0"/>
                          <a:ea typeface="Calibri" pitchFamily="34" charset="-122"/>
                          <a:cs typeface="Calibri" pitchFamily="34" charset="-120"/>
                        </a:rPr>
                        <a:t>serious_ratio = 1.0 all</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extLst>
                  <a:ext uri="{0D108BD9-81ED-4DB2-BD59-A6C34878D82A}">
                    <a16:rowId xmlns:a16="http://schemas.microsoft.com/office/drawing/2014/main" val="10005"/>
                  </a:ext>
                </a:extLst>
              </a:tr>
              <a:tr h="438912">
                <a:tc>
                  <a:txBody>
                    <a:bodyPr/>
                    <a:lstStyle/>
                    <a:p>
                      <a:pPr marL="0" indent="0" algn="l">
                        <a:buNone/>
                      </a:pPr>
                      <a:r>
                        <a:rPr lang="en-US" sz="1000" dirty="0">
                          <a:solidFill>
                            <a:srgbClr val="9D1535"/>
                          </a:solidFill>
                          <a:latin typeface="Calibri" pitchFamily="34" charset="0"/>
                          <a:ea typeface="Calibri" pitchFamily="34" charset="-122"/>
                          <a:cs typeface="Calibri" pitchFamily="34" charset="-120"/>
                        </a:rPr>
                        <a:t>PubMed/NCBI</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74151"/>
                          </a:solidFill>
                          <a:latin typeface="Calibri" pitchFamily="34" charset="0"/>
                          <a:ea typeface="Calibri" pitchFamily="34" charset="-122"/>
                          <a:cs typeface="Calibri" pitchFamily="34" charset="-120"/>
                        </a:rPr>
                        <a:t>7,181</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74151"/>
                          </a:solidFill>
                          <a:latin typeface="Calibri" pitchFamily="34" charset="0"/>
                          <a:ea typeface="Calibri" pitchFamily="34" charset="-122"/>
                          <a:cs typeface="Calibri" pitchFamily="34" charset="-120"/>
                        </a:rPr>
                        <a:t>Entrez E-utilities</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74151"/>
                          </a:solidFill>
                          <a:latin typeface="Calibri" pitchFamily="34" charset="0"/>
                          <a:ea typeface="Calibri" pitchFamily="34" charset="-122"/>
                          <a:cs typeface="Calibri" pitchFamily="34" charset="-120"/>
                        </a:rPr>
                        <a:t>Free</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74151"/>
                          </a:solidFill>
                          <a:latin typeface="Calibri" pitchFamily="34" charset="0"/>
                          <a:ea typeface="Calibri" pitchFamily="34" charset="-122"/>
                          <a:cs typeface="Calibri" pitchFamily="34" charset="-120"/>
                        </a:rPr>
                        <a:t>pubmed_recency_ratio</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74151"/>
                          </a:solidFill>
                          <a:latin typeface="Calibri" pitchFamily="34" charset="0"/>
                          <a:ea typeface="Calibri" pitchFamily="34" charset="-122"/>
                          <a:cs typeface="Calibri" pitchFamily="34" charset="-120"/>
                        </a:rPr>
                        <a:t>Two-step esearch+efetch</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38912">
                <a:tc>
                  <a:txBody>
                    <a:bodyPr/>
                    <a:lstStyle/>
                    <a:p>
                      <a:pPr marL="0" indent="0" algn="l">
                        <a:buNone/>
                      </a:pPr>
                      <a:r>
                        <a:rPr lang="en-US" sz="1000" b="1" dirty="0">
                          <a:solidFill>
                            <a:srgbClr val="9D1535"/>
                          </a:solidFill>
                          <a:latin typeface="Calibri" pitchFamily="34" charset="0"/>
                          <a:ea typeface="Calibri" pitchFamily="34" charset="-122"/>
                          <a:cs typeface="Calibri" pitchFamily="34" charset="-120"/>
                        </a:rPr>
                        <a:t>TOTAL</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7EEF1"/>
                    </a:solidFill>
                  </a:tcPr>
                </a:tc>
                <a:tc>
                  <a:txBody>
                    <a:bodyPr/>
                    <a:lstStyle/>
                    <a:p>
                      <a:pPr marL="0" indent="0" algn="ctr">
                        <a:buNone/>
                      </a:pPr>
                      <a:r>
                        <a:rPr lang="en-US" sz="1000" b="1" dirty="0">
                          <a:solidFill>
                            <a:srgbClr val="374151"/>
                          </a:solidFill>
                          <a:latin typeface="Calibri" pitchFamily="34" charset="0"/>
                          <a:ea typeface="Calibri" pitchFamily="34" charset="-122"/>
                          <a:cs typeface="Calibri" pitchFamily="34" charset="-120"/>
                        </a:rPr>
                        <a:t>131,843</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7EEF1"/>
                    </a:solidFill>
                  </a:tcPr>
                </a:tc>
                <a:tc>
                  <a:txBody>
                    <a:bodyPr/>
                    <a:lstStyle/>
                    <a:p>
                      <a:pPr marL="0" indent="0" algn="ctr">
                        <a:buNone/>
                      </a:pPr>
                      <a:r>
                        <a:rPr lang="en-US" sz="1000" b="1" dirty="0">
                          <a:solidFill>
                            <a:srgbClr val="374151"/>
                          </a:solidFill>
                          <a:latin typeface="Calibri" pitchFamily="34" charset="0"/>
                          <a:ea typeface="Calibri" pitchFamily="34" charset="-122"/>
                          <a:cs typeface="Calibri" pitchFamily="34" charset="-120"/>
                        </a:rPr>
                        <a:t>6 scrapers</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7EEF1"/>
                    </a:solidFill>
                  </a:tcPr>
                </a:tc>
                <a:tc>
                  <a:txBody>
                    <a:bodyPr/>
                    <a:lstStyle/>
                    <a:p>
                      <a:pPr marL="0" indent="0" algn="ctr">
                        <a:buNone/>
                      </a:pPr>
                      <a:r>
                        <a:rPr lang="en-US" sz="1000" b="1" dirty="0">
                          <a:solidFill>
                            <a:srgbClr val="374151"/>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7EEF1"/>
                    </a:solidFill>
                  </a:tcPr>
                </a:tc>
                <a:tc>
                  <a:txBody>
                    <a:bodyPr/>
                    <a:lstStyle/>
                    <a:p>
                      <a:pPr marL="0" indent="0" algn="ctr">
                        <a:buNone/>
                      </a:pPr>
                      <a:r>
                        <a:rPr lang="en-US" sz="1000" b="1" dirty="0">
                          <a:solidFill>
                            <a:srgbClr val="374151"/>
                          </a:solidFill>
                          <a:latin typeface="Calibri" pitchFamily="34" charset="0"/>
                          <a:ea typeface="Calibri" pitchFamily="34" charset="-122"/>
                          <a:cs typeface="Calibri" pitchFamily="34" charset="-120"/>
                        </a:rPr>
                        <a:t>50 drugs × 43 features</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7EEF1"/>
                    </a:solidFill>
                  </a:tcPr>
                </a:tc>
                <a:tc>
                  <a:txBody>
                    <a:bodyPr/>
                    <a:lstStyle/>
                    <a:p>
                      <a:pPr marL="0" indent="0" algn="ctr">
                        <a:buNone/>
                      </a:pPr>
                      <a:r>
                        <a:rPr lang="en-US" sz="1000" b="1" dirty="0">
                          <a:solidFill>
                            <a:srgbClr val="374151"/>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7EEF1"/>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365760" y="201168"/>
            <a:ext cx="2377440" cy="256032"/>
          </a:xfrm>
          <a:prstGeom prst="rect">
            <a:avLst/>
          </a:prstGeom>
          <a:solidFill>
            <a:srgbClr val="9D1535"/>
          </a:solidFill>
          <a:ln w="12700">
            <a:solidFill>
              <a:srgbClr val="9D1535"/>
            </a:solidFill>
            <a:prstDash val="solid"/>
          </a:ln>
        </p:spPr>
        <p:txBody>
          <a:bodyPr/>
          <a:lstStyle/>
          <a:p>
            <a:endParaRPr lang="en-US"/>
          </a:p>
        </p:txBody>
      </p:sp>
      <p:sp>
        <p:nvSpPr>
          <p:cNvPr id="3" name="Text 1"/>
          <p:cNvSpPr/>
          <p:nvPr/>
        </p:nvSpPr>
        <p:spPr>
          <a:xfrm>
            <a:off x="365760" y="201168"/>
            <a:ext cx="2377440"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rPr>
              <a:t>EDA</a:t>
            </a:r>
            <a:endParaRPr lang="en-US" sz="800" dirty="0"/>
          </a:p>
        </p:txBody>
      </p:sp>
      <p:sp>
        <p:nvSpPr>
          <p:cNvPr id="4" name="Text 2"/>
          <p:cNvSpPr/>
          <p:nvPr/>
        </p:nvSpPr>
        <p:spPr>
          <a:xfrm>
            <a:off x="365760" y="566928"/>
            <a:ext cx="8412480" cy="640080"/>
          </a:xfrm>
          <a:prstGeom prst="rect">
            <a:avLst/>
          </a:prstGeom>
          <a:noFill/>
          <a:ln/>
        </p:spPr>
        <p:txBody>
          <a:bodyPr wrap="square" rtlCol="0" anchor="ctr"/>
          <a:lstStyle/>
          <a:p>
            <a:pPr marL="0" indent="0">
              <a:buNone/>
            </a:pPr>
            <a:r>
              <a:rPr lang="en-US" sz="2800" b="1" dirty="0">
                <a:solidFill>
                  <a:srgbClr val="111827"/>
                </a:solidFill>
                <a:latin typeface="Trebuchet MS" pitchFamily="34" charset="0"/>
                <a:ea typeface="Trebuchet MS" pitchFamily="34" charset="-122"/>
                <a:cs typeface="Trebuchet MS" pitchFamily="34" charset="-120"/>
              </a:rPr>
              <a:t>Exploratory Data Analysis — Key Patterns</a:t>
            </a:r>
            <a:endParaRPr lang="en-US" sz="2800" dirty="0"/>
          </a:p>
        </p:txBody>
      </p:sp>
      <p:sp>
        <p:nvSpPr>
          <p:cNvPr id="5" name="Shape 3"/>
          <p:cNvSpPr/>
          <p:nvPr/>
        </p:nvSpPr>
        <p:spPr>
          <a:xfrm>
            <a:off x="365760" y="1298448"/>
            <a:ext cx="8412480" cy="0"/>
          </a:xfrm>
          <a:prstGeom prst="line">
            <a:avLst/>
          </a:prstGeom>
          <a:noFill/>
          <a:ln w="12700">
            <a:solidFill>
              <a:srgbClr val="E5E7EB"/>
            </a:solidFill>
            <a:prstDash val="solid"/>
          </a:ln>
        </p:spPr>
        <p:txBody>
          <a:bodyPr/>
          <a:lstStyle/>
          <a:p>
            <a:endParaRPr lang="en-US"/>
          </a:p>
        </p:txBody>
      </p:sp>
      <p:sp>
        <p:nvSpPr>
          <p:cNvPr id="6" name="Shape 4"/>
          <p:cNvSpPr/>
          <p:nvPr/>
        </p:nvSpPr>
        <p:spPr>
          <a:xfrm>
            <a:off x="0" y="4800600"/>
            <a:ext cx="9144000" cy="347472"/>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365760" y="4809744"/>
            <a:ext cx="7315200" cy="274320"/>
          </a:xfrm>
          <a:prstGeom prst="rect">
            <a:avLst/>
          </a:prstGeom>
          <a:noFill/>
          <a:ln/>
        </p:spPr>
        <p:txBody>
          <a:bodyPr wrap="square" rtlCol="0" anchor="ctr"/>
          <a:lstStyle/>
          <a:p>
            <a:pPr marL="0" indent="0">
              <a:buNone/>
            </a:pPr>
            <a:endParaRPr lang="en-US" sz="900" dirty="0"/>
          </a:p>
        </p:txBody>
      </p:sp>
      <p:sp>
        <p:nvSpPr>
          <p:cNvPr id="8" name="Text 6"/>
          <p:cNvSpPr/>
          <p:nvPr/>
        </p:nvSpPr>
        <p:spPr>
          <a:xfrm>
            <a:off x="4572000" y="4809744"/>
            <a:ext cx="4389120" cy="274320"/>
          </a:xfrm>
          <a:prstGeom prst="rect">
            <a:avLst/>
          </a:prstGeom>
          <a:noFill/>
          <a:ln/>
        </p:spPr>
        <p:txBody>
          <a:bodyPr wrap="square" rtlCol="0" anchor="ctr"/>
          <a:lstStyle/>
          <a:p>
            <a:pPr marL="0" indent="0" algn="r">
              <a:buNone/>
            </a:pPr>
            <a:endParaRPr lang="en-US" sz="900" dirty="0"/>
          </a:p>
        </p:txBody>
      </p:sp>
      <p:sp>
        <p:nvSpPr>
          <p:cNvPr id="9" name="Text 7"/>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AAAAAA"/>
                </a:solidFill>
              </a:rPr>
              <a:t>9 / 25</a:t>
            </a:r>
            <a:endParaRPr lang="en-US" sz="900" dirty="0"/>
          </a:p>
        </p:txBody>
      </p:sp>
      <p:sp>
        <p:nvSpPr>
          <p:cNvPr id="10" name="Shape 8"/>
          <p:cNvSpPr/>
          <p:nvPr/>
        </p:nvSpPr>
        <p:spPr>
          <a:xfrm>
            <a:off x="365760" y="1417320"/>
            <a:ext cx="1463040" cy="1005840"/>
          </a:xfrm>
          <a:prstGeom prst="rect">
            <a:avLst/>
          </a:prstGeom>
          <a:solidFill>
            <a:srgbClr val="F7EEF1"/>
          </a:solidFill>
          <a:ln w="25400">
            <a:solidFill>
              <a:srgbClr val="9D1535"/>
            </a:solidFill>
            <a:prstDash val="solid"/>
          </a:ln>
          <a:effectLst>
            <a:outerShdw blurRad="101600" dist="25400" dir="8100000" algn="bl" rotWithShape="0">
              <a:srgbClr val="000000">
                <a:alpha val="10000"/>
              </a:srgbClr>
            </a:outerShdw>
          </a:effectLst>
        </p:spPr>
        <p:txBody>
          <a:bodyPr/>
          <a:lstStyle/>
          <a:p>
            <a:endParaRPr lang="en-US"/>
          </a:p>
        </p:txBody>
      </p:sp>
      <p:sp>
        <p:nvSpPr>
          <p:cNvPr id="11" name="Text 9"/>
          <p:cNvSpPr/>
          <p:nvPr/>
        </p:nvSpPr>
        <p:spPr>
          <a:xfrm>
            <a:off x="365760" y="1490472"/>
            <a:ext cx="1463040" cy="553212"/>
          </a:xfrm>
          <a:prstGeom prst="rect">
            <a:avLst/>
          </a:prstGeom>
          <a:noFill/>
          <a:ln/>
        </p:spPr>
        <p:txBody>
          <a:bodyPr wrap="square" rtlCol="0" anchor="ctr"/>
          <a:lstStyle/>
          <a:p>
            <a:pPr marL="0" indent="0" algn="ctr">
              <a:buNone/>
            </a:pPr>
            <a:r>
              <a:rPr lang="en-US" sz="2800" b="1" dirty="0">
                <a:solidFill>
                  <a:srgbClr val="9D1535"/>
                </a:solidFill>
                <a:latin typeface="Trebuchet MS" pitchFamily="34" charset="0"/>
                <a:ea typeface="Trebuchet MS" pitchFamily="34" charset="-122"/>
                <a:cs typeface="Trebuchet MS" pitchFamily="34" charset="-120"/>
              </a:rPr>
              <a:t>56.1%</a:t>
            </a:r>
            <a:endParaRPr lang="en-US" sz="2800" dirty="0"/>
          </a:p>
        </p:txBody>
      </p:sp>
      <p:sp>
        <p:nvSpPr>
          <p:cNvPr id="12" name="Text 10"/>
          <p:cNvSpPr/>
          <p:nvPr/>
        </p:nvSpPr>
        <p:spPr>
          <a:xfrm>
            <a:off x="365760" y="2000707"/>
            <a:ext cx="1463040" cy="382219"/>
          </a:xfrm>
          <a:prstGeom prst="rect">
            <a:avLst/>
          </a:prstGeom>
          <a:noFill/>
          <a:ln/>
        </p:spPr>
        <p:txBody>
          <a:bodyPr wrap="square" rtlCol="0" anchor="t"/>
          <a:lstStyle/>
          <a:p>
            <a:pPr marL="0" indent="0" algn="ctr">
              <a:buNone/>
            </a:pPr>
            <a:r>
              <a:rPr lang="en-US" sz="950" kern="0" spc="100" dirty="0">
                <a:solidFill>
                  <a:srgbClr val="6B7280"/>
                </a:solidFill>
                <a:latin typeface="Calibri" pitchFamily="34" charset="0"/>
                <a:ea typeface="Calibri" pitchFamily="34" charset="-122"/>
                <a:cs typeface="Calibri" pitchFamily="34" charset="-120"/>
              </a:rPr>
              <a:t>REVIEWS NEGATIVE</a:t>
            </a:r>
            <a:endParaRPr lang="en-US" sz="950" dirty="0"/>
          </a:p>
        </p:txBody>
      </p:sp>
      <p:sp>
        <p:nvSpPr>
          <p:cNvPr id="13" name="Shape 11"/>
          <p:cNvSpPr/>
          <p:nvPr/>
        </p:nvSpPr>
        <p:spPr>
          <a:xfrm>
            <a:off x="1965960" y="1417320"/>
            <a:ext cx="1463040" cy="1005840"/>
          </a:xfrm>
          <a:prstGeom prst="rect">
            <a:avLst/>
          </a:prstGeom>
          <a:solidFill>
            <a:srgbClr val="E8F0FE"/>
          </a:solidFill>
          <a:ln w="25400">
            <a:solidFill>
              <a:srgbClr val="2563EB"/>
            </a:solidFill>
            <a:prstDash val="solid"/>
          </a:ln>
          <a:effectLst>
            <a:outerShdw blurRad="101600" dist="25400" dir="8100000" algn="bl" rotWithShape="0">
              <a:srgbClr val="000000">
                <a:alpha val="10000"/>
              </a:srgbClr>
            </a:outerShdw>
          </a:effectLst>
        </p:spPr>
        <p:txBody>
          <a:bodyPr/>
          <a:lstStyle/>
          <a:p>
            <a:endParaRPr lang="en-US"/>
          </a:p>
        </p:txBody>
      </p:sp>
      <p:sp>
        <p:nvSpPr>
          <p:cNvPr id="14" name="Text 12"/>
          <p:cNvSpPr/>
          <p:nvPr/>
        </p:nvSpPr>
        <p:spPr>
          <a:xfrm>
            <a:off x="1965960" y="1490472"/>
            <a:ext cx="1463040" cy="553212"/>
          </a:xfrm>
          <a:prstGeom prst="rect">
            <a:avLst/>
          </a:prstGeom>
          <a:noFill/>
          <a:ln/>
        </p:spPr>
        <p:txBody>
          <a:bodyPr wrap="square" rtlCol="0" anchor="ctr"/>
          <a:lstStyle/>
          <a:p>
            <a:pPr marL="0" indent="0" algn="ctr">
              <a:buNone/>
            </a:pPr>
            <a:r>
              <a:rPr lang="en-US" sz="2800" b="1" dirty="0">
                <a:solidFill>
                  <a:srgbClr val="2563EB"/>
                </a:solidFill>
                <a:latin typeface="Trebuchet MS" pitchFamily="34" charset="0"/>
                <a:ea typeface="Trebuchet MS" pitchFamily="34" charset="-122"/>
                <a:cs typeface="Trebuchet MS" pitchFamily="34" charset="-120"/>
              </a:rPr>
              <a:t>-0.185</a:t>
            </a:r>
            <a:endParaRPr lang="en-US" sz="2800" dirty="0"/>
          </a:p>
        </p:txBody>
      </p:sp>
      <p:sp>
        <p:nvSpPr>
          <p:cNvPr id="15" name="Text 13"/>
          <p:cNvSpPr/>
          <p:nvPr/>
        </p:nvSpPr>
        <p:spPr>
          <a:xfrm>
            <a:off x="1965960" y="2000707"/>
            <a:ext cx="1463040" cy="382219"/>
          </a:xfrm>
          <a:prstGeom prst="rect">
            <a:avLst/>
          </a:prstGeom>
          <a:noFill/>
          <a:ln/>
        </p:spPr>
        <p:txBody>
          <a:bodyPr wrap="square" rtlCol="0" anchor="t"/>
          <a:lstStyle/>
          <a:p>
            <a:pPr marL="0" indent="0" algn="ctr">
              <a:buNone/>
            </a:pPr>
            <a:r>
              <a:rPr lang="en-US" sz="950" kern="0" spc="100" dirty="0">
                <a:solidFill>
                  <a:srgbClr val="6B7280"/>
                </a:solidFill>
                <a:latin typeface="Calibri" pitchFamily="34" charset="0"/>
                <a:ea typeface="Calibri" pitchFamily="34" charset="-122"/>
                <a:cs typeface="Calibri" pitchFamily="34" charset="-120"/>
              </a:rPr>
              <a:t>MEAN VADER SCORE</a:t>
            </a:r>
            <a:endParaRPr lang="en-US" sz="950" dirty="0"/>
          </a:p>
        </p:txBody>
      </p:sp>
      <p:sp>
        <p:nvSpPr>
          <p:cNvPr id="16" name="Shape 14"/>
          <p:cNvSpPr/>
          <p:nvPr/>
        </p:nvSpPr>
        <p:spPr>
          <a:xfrm>
            <a:off x="3566160" y="1417320"/>
            <a:ext cx="1463040" cy="1005840"/>
          </a:xfrm>
          <a:prstGeom prst="rect">
            <a:avLst/>
          </a:prstGeom>
          <a:solidFill>
            <a:srgbClr val="F3E8FF"/>
          </a:solidFill>
          <a:ln w="25400">
            <a:solidFill>
              <a:srgbClr val="7C3AED"/>
            </a:solidFill>
            <a:prstDash val="solid"/>
          </a:ln>
          <a:effectLst>
            <a:outerShdw blurRad="101600" dist="25400" dir="8100000" algn="bl" rotWithShape="0">
              <a:srgbClr val="000000">
                <a:alpha val="10000"/>
              </a:srgbClr>
            </a:outerShdw>
          </a:effectLst>
        </p:spPr>
        <p:txBody>
          <a:bodyPr/>
          <a:lstStyle/>
          <a:p>
            <a:endParaRPr lang="en-US"/>
          </a:p>
        </p:txBody>
      </p:sp>
      <p:sp>
        <p:nvSpPr>
          <p:cNvPr id="17" name="Text 15"/>
          <p:cNvSpPr/>
          <p:nvPr/>
        </p:nvSpPr>
        <p:spPr>
          <a:xfrm>
            <a:off x="3566160" y="1490472"/>
            <a:ext cx="1463040" cy="553212"/>
          </a:xfrm>
          <a:prstGeom prst="rect">
            <a:avLst/>
          </a:prstGeom>
          <a:noFill/>
          <a:ln/>
        </p:spPr>
        <p:txBody>
          <a:bodyPr wrap="square" rtlCol="0" anchor="ctr"/>
          <a:lstStyle/>
          <a:p>
            <a:pPr marL="0" indent="0" algn="ctr">
              <a:buNone/>
            </a:pPr>
            <a:r>
              <a:rPr lang="en-US" sz="2800" b="1" dirty="0">
                <a:solidFill>
                  <a:srgbClr val="7C3AED"/>
                </a:solidFill>
                <a:latin typeface="Trebuchet MS" pitchFamily="34" charset="0"/>
                <a:ea typeface="Trebuchet MS" pitchFamily="34" charset="-122"/>
                <a:cs typeface="Trebuchet MS" pitchFamily="34" charset="-120"/>
              </a:rPr>
              <a:t>-0.673</a:t>
            </a:r>
            <a:endParaRPr lang="en-US" sz="2800" dirty="0"/>
          </a:p>
        </p:txBody>
      </p:sp>
      <p:sp>
        <p:nvSpPr>
          <p:cNvPr id="18" name="Text 16"/>
          <p:cNvSpPr/>
          <p:nvPr/>
        </p:nvSpPr>
        <p:spPr>
          <a:xfrm>
            <a:off x="3566160" y="2000707"/>
            <a:ext cx="1463040" cy="382219"/>
          </a:xfrm>
          <a:prstGeom prst="rect">
            <a:avLst/>
          </a:prstGeom>
          <a:noFill/>
          <a:ln/>
        </p:spPr>
        <p:txBody>
          <a:bodyPr wrap="square" rtlCol="0" anchor="t"/>
          <a:lstStyle/>
          <a:p>
            <a:pPr marL="0" indent="0" algn="ctr">
              <a:buNone/>
            </a:pPr>
            <a:r>
              <a:rPr lang="en-US" sz="950" kern="0" spc="100" dirty="0">
                <a:solidFill>
                  <a:srgbClr val="6B7280"/>
                </a:solidFill>
                <a:latin typeface="Calibri" pitchFamily="34" charset="0"/>
                <a:ea typeface="Calibri" pitchFamily="34" charset="-122"/>
                <a:cs typeface="Calibri" pitchFamily="34" charset="-120"/>
              </a:rPr>
              <a:t>WORST: LOSARTAN</a:t>
            </a:r>
            <a:endParaRPr lang="en-US" sz="950" dirty="0"/>
          </a:p>
        </p:txBody>
      </p:sp>
      <p:sp>
        <p:nvSpPr>
          <p:cNvPr id="19" name="Shape 17"/>
          <p:cNvSpPr/>
          <p:nvPr/>
        </p:nvSpPr>
        <p:spPr>
          <a:xfrm>
            <a:off x="5166360" y="1417320"/>
            <a:ext cx="1463040" cy="1005840"/>
          </a:xfrm>
          <a:prstGeom prst="rect">
            <a:avLst/>
          </a:prstGeom>
          <a:solidFill>
            <a:srgbClr val="E6F4EA"/>
          </a:solidFill>
          <a:ln w="25400">
            <a:solidFill>
              <a:srgbClr val="059669"/>
            </a:solidFill>
            <a:prstDash val="solid"/>
          </a:ln>
          <a:effectLst>
            <a:outerShdw blurRad="101600" dist="25400" dir="8100000" algn="bl" rotWithShape="0">
              <a:srgbClr val="000000">
                <a:alpha val="10000"/>
              </a:srgbClr>
            </a:outerShdw>
          </a:effectLst>
        </p:spPr>
        <p:txBody>
          <a:bodyPr/>
          <a:lstStyle/>
          <a:p>
            <a:endParaRPr lang="en-US"/>
          </a:p>
        </p:txBody>
      </p:sp>
      <p:sp>
        <p:nvSpPr>
          <p:cNvPr id="20" name="Text 18"/>
          <p:cNvSpPr/>
          <p:nvPr/>
        </p:nvSpPr>
        <p:spPr>
          <a:xfrm>
            <a:off x="5166360" y="1490472"/>
            <a:ext cx="1463040" cy="553212"/>
          </a:xfrm>
          <a:prstGeom prst="rect">
            <a:avLst/>
          </a:prstGeom>
          <a:noFill/>
          <a:ln/>
        </p:spPr>
        <p:txBody>
          <a:bodyPr wrap="square" rtlCol="0" anchor="ctr"/>
          <a:lstStyle/>
          <a:p>
            <a:pPr marL="0" indent="0" algn="ctr">
              <a:buNone/>
            </a:pPr>
            <a:r>
              <a:rPr lang="en-US" sz="2800" b="1" dirty="0">
                <a:solidFill>
                  <a:srgbClr val="059669"/>
                </a:solidFill>
                <a:latin typeface="Trebuchet MS" pitchFamily="34" charset="0"/>
                <a:ea typeface="Trebuchet MS" pitchFamily="34" charset="-122"/>
                <a:cs typeface="Trebuchet MS" pitchFamily="34" charset="-120"/>
              </a:rPr>
              <a:t>+0.232</a:t>
            </a:r>
            <a:endParaRPr lang="en-US" sz="2800" dirty="0"/>
          </a:p>
        </p:txBody>
      </p:sp>
      <p:sp>
        <p:nvSpPr>
          <p:cNvPr id="21" name="Text 19"/>
          <p:cNvSpPr/>
          <p:nvPr/>
        </p:nvSpPr>
        <p:spPr>
          <a:xfrm>
            <a:off x="5166360" y="2000707"/>
            <a:ext cx="1463040" cy="382219"/>
          </a:xfrm>
          <a:prstGeom prst="rect">
            <a:avLst/>
          </a:prstGeom>
          <a:noFill/>
          <a:ln/>
        </p:spPr>
        <p:txBody>
          <a:bodyPr wrap="square" rtlCol="0" anchor="t"/>
          <a:lstStyle/>
          <a:p>
            <a:pPr marL="0" indent="0" algn="ctr">
              <a:buNone/>
            </a:pPr>
            <a:r>
              <a:rPr lang="en-US" sz="950" kern="0" spc="100" dirty="0">
                <a:solidFill>
                  <a:srgbClr val="6B7280"/>
                </a:solidFill>
                <a:latin typeface="Calibri" pitchFamily="34" charset="0"/>
                <a:ea typeface="Calibri" pitchFamily="34" charset="-122"/>
                <a:cs typeface="Calibri" pitchFamily="34" charset="-120"/>
              </a:rPr>
              <a:t>BEST: GABAPENTIN</a:t>
            </a:r>
            <a:endParaRPr lang="en-US" sz="950" dirty="0"/>
          </a:p>
        </p:txBody>
      </p:sp>
      <p:sp>
        <p:nvSpPr>
          <p:cNvPr id="22" name="Shape 20"/>
          <p:cNvSpPr/>
          <p:nvPr/>
        </p:nvSpPr>
        <p:spPr>
          <a:xfrm>
            <a:off x="6766560" y="1417320"/>
            <a:ext cx="1463040" cy="1005840"/>
          </a:xfrm>
          <a:prstGeom prst="rect">
            <a:avLst/>
          </a:prstGeom>
          <a:solidFill>
            <a:srgbClr val="FEF9E7"/>
          </a:solidFill>
          <a:ln w="25400">
            <a:solidFill>
              <a:srgbClr val="D97706"/>
            </a:solidFill>
            <a:prstDash val="solid"/>
          </a:ln>
          <a:effectLst>
            <a:outerShdw blurRad="101600" dist="25400" dir="8100000" algn="bl" rotWithShape="0">
              <a:srgbClr val="000000">
                <a:alpha val="10000"/>
              </a:srgbClr>
            </a:outerShdw>
          </a:effectLst>
        </p:spPr>
        <p:txBody>
          <a:bodyPr/>
          <a:lstStyle/>
          <a:p>
            <a:endParaRPr lang="en-US"/>
          </a:p>
        </p:txBody>
      </p:sp>
      <p:sp>
        <p:nvSpPr>
          <p:cNvPr id="23" name="Text 21"/>
          <p:cNvSpPr/>
          <p:nvPr/>
        </p:nvSpPr>
        <p:spPr>
          <a:xfrm>
            <a:off x="6766560" y="1490472"/>
            <a:ext cx="1463040" cy="553212"/>
          </a:xfrm>
          <a:prstGeom prst="rect">
            <a:avLst/>
          </a:prstGeom>
          <a:noFill/>
          <a:ln/>
        </p:spPr>
        <p:txBody>
          <a:bodyPr wrap="square" rtlCol="0" anchor="ctr"/>
          <a:lstStyle/>
          <a:p>
            <a:pPr marL="0" indent="0" algn="ctr">
              <a:buNone/>
            </a:pPr>
            <a:r>
              <a:rPr lang="en-US" sz="2800" b="1" dirty="0">
                <a:solidFill>
                  <a:srgbClr val="D97706"/>
                </a:solidFill>
                <a:latin typeface="Trebuchet MS" pitchFamily="34" charset="0"/>
                <a:ea typeface="Trebuchet MS" pitchFamily="34" charset="-122"/>
                <a:cs typeface="Trebuchet MS" pitchFamily="34" charset="-120"/>
              </a:rPr>
              <a:t>97.6%</a:t>
            </a:r>
            <a:endParaRPr lang="en-US" sz="2800" dirty="0"/>
          </a:p>
        </p:txBody>
      </p:sp>
      <p:sp>
        <p:nvSpPr>
          <p:cNvPr id="24" name="Text 22"/>
          <p:cNvSpPr/>
          <p:nvPr/>
        </p:nvSpPr>
        <p:spPr>
          <a:xfrm>
            <a:off x="6766560" y="2000707"/>
            <a:ext cx="1463040" cy="382219"/>
          </a:xfrm>
          <a:prstGeom prst="rect">
            <a:avLst/>
          </a:prstGeom>
          <a:noFill/>
          <a:ln/>
        </p:spPr>
        <p:txBody>
          <a:bodyPr wrap="square" rtlCol="0" anchor="t"/>
          <a:lstStyle/>
          <a:p>
            <a:pPr marL="0" indent="0" algn="ctr">
              <a:buNone/>
            </a:pPr>
            <a:r>
              <a:rPr lang="en-US" sz="950" kern="0" spc="100" dirty="0">
                <a:solidFill>
                  <a:srgbClr val="6B7280"/>
                </a:solidFill>
                <a:latin typeface="Calibri" pitchFamily="34" charset="0"/>
                <a:ea typeface="Calibri" pitchFamily="34" charset="-122"/>
                <a:cs typeface="Calibri" pitchFamily="34" charset="-120"/>
              </a:rPr>
              <a:t>SHORTAGES ACTIVE</a:t>
            </a:r>
            <a:endParaRPr lang="en-US" sz="950" dirty="0"/>
          </a:p>
        </p:txBody>
      </p:sp>
      <p:graphicFrame>
        <p:nvGraphicFramePr>
          <p:cNvPr id="25" name="Chart 0"/>
          <p:cNvGraphicFramePr/>
          <p:nvPr/>
        </p:nvGraphicFramePr>
        <p:xfrm>
          <a:off x="365760" y="2606040"/>
          <a:ext cx="4023360" cy="21031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6" name="Chart 1"/>
          <p:cNvGraphicFramePr/>
          <p:nvPr/>
        </p:nvGraphicFramePr>
        <p:xfrm>
          <a:off x="4663440" y="2606040"/>
          <a:ext cx="4114800" cy="210312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827"/>
        </a:solidFill>
        <a:effectLst/>
      </p:bgPr>
    </p:bg>
    <p:spTree>
      <p:nvGrpSpPr>
        <p:cNvPr id="1" name=""/>
        <p:cNvGrpSpPr/>
        <p:nvPr/>
      </p:nvGrpSpPr>
      <p:grpSpPr>
        <a:xfrm>
          <a:off x="0" y="0"/>
          <a:ext cx="0" cy="0"/>
          <a:chOff x="0" y="0"/>
          <a:chExt cx="0" cy="0"/>
        </a:xfrm>
      </p:grpSpPr>
      <p:sp>
        <p:nvSpPr>
          <p:cNvPr id="2" name="Shape 0"/>
          <p:cNvSpPr/>
          <p:nvPr/>
        </p:nvSpPr>
        <p:spPr>
          <a:xfrm>
            <a:off x="-457200" y="-457200"/>
            <a:ext cx="4572000" cy="4572000"/>
          </a:xfrm>
          <a:prstGeom prst="ellipse">
            <a:avLst/>
          </a:prstGeom>
          <a:solidFill>
            <a:srgbClr val="9D1535">
              <a:alpha val="25000"/>
            </a:srgbClr>
          </a:solidFill>
          <a:ln w="12700">
            <a:solidFill>
              <a:srgbClr val="9D1535"/>
            </a:solidFill>
            <a:prstDash val="solid"/>
          </a:ln>
        </p:spPr>
        <p:txBody>
          <a:bodyPr/>
          <a:lstStyle/>
          <a:p>
            <a:endParaRPr lang="en-US"/>
          </a:p>
        </p:txBody>
      </p:sp>
      <p:sp>
        <p:nvSpPr>
          <p:cNvPr id="3" name="Text 1"/>
          <p:cNvSpPr/>
          <p:nvPr/>
        </p:nvSpPr>
        <p:spPr>
          <a:xfrm>
            <a:off x="457200" y="1371600"/>
            <a:ext cx="8229600" cy="457200"/>
          </a:xfrm>
          <a:prstGeom prst="rect">
            <a:avLst/>
          </a:prstGeom>
          <a:noFill/>
          <a:ln/>
        </p:spPr>
        <p:txBody>
          <a:bodyPr wrap="square" rtlCol="0" anchor="ctr"/>
          <a:lstStyle/>
          <a:p>
            <a:pPr marL="0" indent="0" algn="ctr">
              <a:buNone/>
            </a:pPr>
            <a:r>
              <a:rPr lang="en-US" sz="1200" kern="0" spc="600" dirty="0">
                <a:solidFill>
                  <a:srgbClr val="FFFFFF"/>
                </a:solidFill>
                <a:latin typeface="Calibri" pitchFamily="34" charset="0"/>
                <a:ea typeface="Calibri" pitchFamily="34" charset="-122"/>
                <a:cs typeface="Calibri" pitchFamily="34" charset="-120"/>
              </a:rPr>
              <a:t>SECTION 2</a:t>
            </a:r>
            <a:endParaRPr lang="en-US" sz="1200" dirty="0"/>
          </a:p>
        </p:txBody>
      </p:sp>
      <p:sp>
        <p:nvSpPr>
          <p:cNvPr id="4" name="Text 2"/>
          <p:cNvSpPr/>
          <p:nvPr/>
        </p:nvSpPr>
        <p:spPr>
          <a:xfrm>
            <a:off x="457200" y="1920240"/>
            <a:ext cx="8229600" cy="1645920"/>
          </a:xfrm>
          <a:prstGeom prst="rect">
            <a:avLst/>
          </a:prstGeom>
          <a:noFill/>
          <a:ln/>
        </p:spPr>
        <p:txBody>
          <a:bodyPr wrap="square" rtlCol="0" anchor="ctr"/>
          <a:lstStyle/>
          <a:p>
            <a:pPr marL="0" indent="0" algn="ctr">
              <a:buNone/>
            </a:pPr>
            <a:r>
              <a:rPr lang="en-US" sz="4400" b="1" dirty="0">
                <a:solidFill>
                  <a:srgbClr val="FFFFFF"/>
                </a:solidFill>
                <a:latin typeface="Trebuchet MS" pitchFamily="34" charset="0"/>
                <a:ea typeface="Trebuchet MS" pitchFamily="34" charset="-122"/>
                <a:cs typeface="Trebuchet MS" pitchFamily="34" charset="-120"/>
              </a:rPr>
              <a:t>NLP Pipeline</a:t>
            </a:r>
            <a:endParaRPr lang="en-US" sz="4400" dirty="0"/>
          </a:p>
          <a:p>
            <a:pPr marL="0" indent="0" algn="ctr">
              <a:buNone/>
            </a:pPr>
            <a:r>
              <a:rPr lang="en-US" sz="4400" b="1" dirty="0">
                <a:solidFill>
                  <a:srgbClr val="FFFFFF"/>
                </a:solidFill>
                <a:latin typeface="Trebuchet MS" pitchFamily="34" charset="0"/>
                <a:ea typeface="Trebuchet MS" pitchFamily="34" charset="-122"/>
                <a:cs typeface="Trebuchet MS" pitchFamily="34" charset="-120"/>
              </a:rPr>
              <a:t>&amp; Machine Learning</a:t>
            </a:r>
            <a:endParaRPr lang="en-US" sz="4400" dirty="0"/>
          </a:p>
        </p:txBody>
      </p:sp>
      <p:sp>
        <p:nvSpPr>
          <p:cNvPr id="5" name="Text 3"/>
          <p:cNvSpPr/>
          <p:nvPr/>
        </p:nvSpPr>
        <p:spPr>
          <a:xfrm>
            <a:off x="457200" y="3657600"/>
            <a:ext cx="8229600" cy="411480"/>
          </a:xfrm>
          <a:prstGeom prst="rect">
            <a:avLst/>
          </a:prstGeom>
          <a:noFill/>
          <a:ln/>
        </p:spPr>
        <p:txBody>
          <a:bodyPr wrap="square"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Sentiment Analysis  ·  Topic Modeling  ·  Clustering  ·  Classification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365760" y="201168"/>
            <a:ext cx="2377440" cy="256032"/>
          </a:xfrm>
          <a:prstGeom prst="rect">
            <a:avLst/>
          </a:prstGeom>
          <a:solidFill>
            <a:srgbClr val="2563EB"/>
          </a:solidFill>
          <a:ln w="12700">
            <a:solidFill>
              <a:srgbClr val="2563EB"/>
            </a:solidFill>
            <a:prstDash val="solid"/>
          </a:ln>
        </p:spPr>
        <p:txBody>
          <a:bodyPr/>
          <a:lstStyle/>
          <a:p>
            <a:endParaRPr lang="en-US"/>
          </a:p>
        </p:txBody>
      </p:sp>
      <p:sp>
        <p:nvSpPr>
          <p:cNvPr id="3" name="Text 1"/>
          <p:cNvSpPr/>
          <p:nvPr/>
        </p:nvSpPr>
        <p:spPr>
          <a:xfrm>
            <a:off x="365760" y="201168"/>
            <a:ext cx="2377440"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rPr>
              <a:t>NLP PIPELINE</a:t>
            </a:r>
            <a:endParaRPr lang="en-US" sz="800" dirty="0"/>
          </a:p>
        </p:txBody>
      </p:sp>
      <p:sp>
        <p:nvSpPr>
          <p:cNvPr id="4" name="Text 2"/>
          <p:cNvSpPr/>
          <p:nvPr/>
        </p:nvSpPr>
        <p:spPr>
          <a:xfrm>
            <a:off x="365760" y="566928"/>
            <a:ext cx="8412480" cy="640080"/>
          </a:xfrm>
          <a:prstGeom prst="rect">
            <a:avLst/>
          </a:prstGeom>
          <a:noFill/>
          <a:ln/>
        </p:spPr>
        <p:txBody>
          <a:bodyPr wrap="square" rtlCol="0" anchor="ctr"/>
          <a:lstStyle/>
          <a:p>
            <a:pPr marL="0" indent="0">
              <a:buNone/>
            </a:pPr>
            <a:r>
              <a:rPr lang="en-US" sz="2800" b="1" dirty="0">
                <a:solidFill>
                  <a:srgbClr val="111827"/>
                </a:solidFill>
                <a:latin typeface="Trebuchet MS" pitchFamily="34" charset="0"/>
                <a:ea typeface="Trebuchet MS" pitchFamily="34" charset="-122"/>
                <a:cs typeface="Trebuchet MS" pitchFamily="34" charset="-120"/>
              </a:rPr>
              <a:t>Sentiment Analysis — VADER &amp; TextBlob</a:t>
            </a:r>
            <a:endParaRPr lang="en-US" sz="2800" dirty="0"/>
          </a:p>
        </p:txBody>
      </p:sp>
      <p:sp>
        <p:nvSpPr>
          <p:cNvPr id="5" name="Shape 3"/>
          <p:cNvSpPr/>
          <p:nvPr/>
        </p:nvSpPr>
        <p:spPr>
          <a:xfrm>
            <a:off x="365760" y="1298448"/>
            <a:ext cx="8412480" cy="0"/>
          </a:xfrm>
          <a:prstGeom prst="line">
            <a:avLst/>
          </a:prstGeom>
          <a:noFill/>
          <a:ln w="12700">
            <a:solidFill>
              <a:srgbClr val="E5E7EB"/>
            </a:solidFill>
            <a:prstDash val="solid"/>
          </a:ln>
        </p:spPr>
        <p:txBody>
          <a:bodyPr/>
          <a:lstStyle/>
          <a:p>
            <a:endParaRPr lang="en-US"/>
          </a:p>
        </p:txBody>
      </p:sp>
      <p:sp>
        <p:nvSpPr>
          <p:cNvPr id="6" name="Shape 4"/>
          <p:cNvSpPr/>
          <p:nvPr/>
        </p:nvSpPr>
        <p:spPr>
          <a:xfrm>
            <a:off x="0" y="4800600"/>
            <a:ext cx="9144000" cy="347472"/>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365760" y="4809744"/>
            <a:ext cx="7315200" cy="274320"/>
          </a:xfrm>
          <a:prstGeom prst="rect">
            <a:avLst/>
          </a:prstGeom>
          <a:noFill/>
          <a:ln/>
        </p:spPr>
        <p:txBody>
          <a:bodyPr wrap="square" rtlCol="0" anchor="ctr"/>
          <a:lstStyle/>
          <a:p>
            <a:pPr marL="0" indent="0">
              <a:buNone/>
            </a:pPr>
            <a:endParaRPr lang="en-US" sz="900" dirty="0"/>
          </a:p>
        </p:txBody>
      </p:sp>
      <p:sp>
        <p:nvSpPr>
          <p:cNvPr id="8" name="Text 6"/>
          <p:cNvSpPr/>
          <p:nvPr/>
        </p:nvSpPr>
        <p:spPr>
          <a:xfrm>
            <a:off x="4572000" y="4809744"/>
            <a:ext cx="4389120" cy="274320"/>
          </a:xfrm>
          <a:prstGeom prst="rect">
            <a:avLst/>
          </a:prstGeom>
          <a:noFill/>
          <a:ln/>
        </p:spPr>
        <p:txBody>
          <a:bodyPr wrap="square" rtlCol="0" anchor="ctr"/>
          <a:lstStyle/>
          <a:p>
            <a:pPr marL="0" indent="0" algn="r">
              <a:buNone/>
            </a:pPr>
            <a:endParaRPr lang="en-US" sz="900" dirty="0"/>
          </a:p>
        </p:txBody>
      </p:sp>
      <p:sp>
        <p:nvSpPr>
          <p:cNvPr id="9" name="Text 7"/>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AAAAAA"/>
                </a:solidFill>
              </a:rPr>
              <a:t>11 / 25</a:t>
            </a:r>
            <a:endParaRPr lang="en-US" sz="900" dirty="0"/>
          </a:p>
        </p:txBody>
      </p:sp>
      <p:sp>
        <p:nvSpPr>
          <p:cNvPr id="10" name="Shape 8"/>
          <p:cNvSpPr/>
          <p:nvPr/>
        </p:nvSpPr>
        <p:spPr>
          <a:xfrm>
            <a:off x="365760" y="1417320"/>
            <a:ext cx="4114800" cy="1691640"/>
          </a:xfrm>
          <a:prstGeom prst="rect">
            <a:avLst/>
          </a:prstGeom>
          <a:solidFill>
            <a:srgbClr val="FFFFFF"/>
          </a:solidFill>
          <a:ln w="12700">
            <a:solidFill>
              <a:srgbClr val="E5E7EB"/>
            </a:solidFill>
            <a:prstDash val="solid"/>
          </a:ln>
          <a:effectLst>
            <a:outerShdw blurRad="101600" dist="25400" dir="8100000" algn="bl" rotWithShape="0">
              <a:srgbClr val="000000">
                <a:alpha val="10000"/>
              </a:srgbClr>
            </a:outerShdw>
          </a:effectLst>
        </p:spPr>
        <p:txBody>
          <a:bodyPr/>
          <a:lstStyle/>
          <a:p>
            <a:endParaRPr lang="en-US"/>
          </a:p>
        </p:txBody>
      </p:sp>
      <p:sp>
        <p:nvSpPr>
          <p:cNvPr id="11" name="Shape 9"/>
          <p:cNvSpPr/>
          <p:nvPr/>
        </p:nvSpPr>
        <p:spPr>
          <a:xfrm>
            <a:off x="365760" y="1417320"/>
            <a:ext cx="54864" cy="1691640"/>
          </a:xfrm>
          <a:prstGeom prst="rect">
            <a:avLst/>
          </a:prstGeom>
          <a:solidFill>
            <a:srgbClr val="2563EB"/>
          </a:solidFill>
          <a:ln w="12700">
            <a:solidFill>
              <a:srgbClr val="2563EB"/>
            </a:solidFill>
            <a:prstDash val="solid"/>
          </a:ln>
        </p:spPr>
        <p:txBody>
          <a:bodyPr/>
          <a:lstStyle/>
          <a:p>
            <a:endParaRPr lang="en-US"/>
          </a:p>
        </p:txBody>
      </p:sp>
      <p:sp>
        <p:nvSpPr>
          <p:cNvPr id="12" name="Text 10"/>
          <p:cNvSpPr/>
          <p:nvPr/>
        </p:nvSpPr>
        <p:spPr>
          <a:xfrm>
            <a:off x="502920" y="1490472"/>
            <a:ext cx="3931920" cy="256032"/>
          </a:xfrm>
          <a:prstGeom prst="rect">
            <a:avLst/>
          </a:prstGeom>
          <a:noFill/>
          <a:ln/>
        </p:spPr>
        <p:txBody>
          <a:bodyPr wrap="square" rtlCol="0" anchor="ctr"/>
          <a:lstStyle/>
          <a:p>
            <a:pPr marL="0" indent="0">
              <a:buNone/>
            </a:pPr>
            <a:r>
              <a:rPr lang="en-US" sz="1100" b="1" dirty="0">
                <a:solidFill>
                  <a:srgbClr val="2563EB"/>
                </a:solidFill>
                <a:latin typeface="Trebuchet MS" pitchFamily="34" charset="0"/>
                <a:ea typeface="Trebuchet MS" pitchFamily="34" charset="-122"/>
                <a:cs typeface="Trebuchet MS" pitchFamily="34" charset="-120"/>
              </a:rPr>
              <a:t>VADER — Primary Scorer</a:t>
            </a:r>
            <a:endParaRPr lang="en-US" sz="1100" dirty="0"/>
          </a:p>
        </p:txBody>
      </p:sp>
      <p:sp>
        <p:nvSpPr>
          <p:cNvPr id="13" name="Text 11"/>
          <p:cNvSpPr/>
          <p:nvPr/>
        </p:nvSpPr>
        <p:spPr>
          <a:xfrm>
            <a:off x="502920" y="1764792"/>
            <a:ext cx="3913632" cy="1252728"/>
          </a:xfrm>
          <a:prstGeom prst="rect">
            <a:avLst/>
          </a:prstGeom>
          <a:noFill/>
          <a:ln/>
        </p:spPr>
        <p:txBody>
          <a:bodyPr wrap="square" rtlCol="0" anchor="t"/>
          <a:lstStyle/>
          <a:p>
            <a:pPr marL="0" indent="0">
              <a:buNone/>
            </a:pPr>
            <a:r>
              <a:rPr lang="en-US" sz="1100" dirty="0">
                <a:solidFill>
                  <a:srgbClr val="374151"/>
                </a:solidFill>
                <a:latin typeface="Calibri" pitchFamily="34" charset="0"/>
                <a:ea typeface="Calibri" pitchFamily="34" charset="-122"/>
                <a:cs typeface="Calibri" pitchFamily="34" charset="-120"/>
              </a:rPr>
              <a:t>Valence Aware Dictionary and sEntiment Reasoner. Rule-based model trained for social media and review text. Returns compound score: −1 (most negative) to +1 (most positive). Applies 5 rules: capitalization (HORRIBLE), punctuation (great!!!), degree modifiers (very good), negation (not helpful AT ALL), contrastive conjunctions (good but terrible).</a:t>
            </a:r>
            <a:endParaRPr lang="en-US" sz="1100" dirty="0"/>
          </a:p>
        </p:txBody>
      </p:sp>
      <p:sp>
        <p:nvSpPr>
          <p:cNvPr id="14" name="Shape 12"/>
          <p:cNvSpPr/>
          <p:nvPr/>
        </p:nvSpPr>
        <p:spPr>
          <a:xfrm>
            <a:off x="4663440" y="1417320"/>
            <a:ext cx="4114800" cy="1691640"/>
          </a:xfrm>
          <a:prstGeom prst="rect">
            <a:avLst/>
          </a:prstGeom>
          <a:solidFill>
            <a:srgbClr val="FFFFFF"/>
          </a:solidFill>
          <a:ln w="12700">
            <a:solidFill>
              <a:srgbClr val="E5E7EB"/>
            </a:solidFill>
            <a:prstDash val="solid"/>
          </a:ln>
          <a:effectLst>
            <a:outerShdw blurRad="101600" dist="25400" dir="8100000" algn="bl" rotWithShape="0">
              <a:srgbClr val="000000">
                <a:alpha val="10000"/>
              </a:srgbClr>
            </a:outerShdw>
          </a:effectLst>
        </p:spPr>
        <p:txBody>
          <a:bodyPr/>
          <a:lstStyle/>
          <a:p>
            <a:endParaRPr lang="en-US"/>
          </a:p>
        </p:txBody>
      </p:sp>
      <p:sp>
        <p:nvSpPr>
          <p:cNvPr id="15" name="Shape 13"/>
          <p:cNvSpPr/>
          <p:nvPr/>
        </p:nvSpPr>
        <p:spPr>
          <a:xfrm>
            <a:off x="4663440" y="1417320"/>
            <a:ext cx="54864" cy="1691640"/>
          </a:xfrm>
          <a:prstGeom prst="rect">
            <a:avLst/>
          </a:prstGeom>
          <a:solidFill>
            <a:srgbClr val="059669"/>
          </a:solidFill>
          <a:ln w="12700">
            <a:solidFill>
              <a:srgbClr val="059669"/>
            </a:solidFill>
            <a:prstDash val="solid"/>
          </a:ln>
        </p:spPr>
        <p:txBody>
          <a:bodyPr/>
          <a:lstStyle/>
          <a:p>
            <a:endParaRPr lang="en-US"/>
          </a:p>
        </p:txBody>
      </p:sp>
      <p:sp>
        <p:nvSpPr>
          <p:cNvPr id="16" name="Text 14"/>
          <p:cNvSpPr/>
          <p:nvPr/>
        </p:nvSpPr>
        <p:spPr>
          <a:xfrm>
            <a:off x="4800600" y="1490472"/>
            <a:ext cx="3931920" cy="256032"/>
          </a:xfrm>
          <a:prstGeom prst="rect">
            <a:avLst/>
          </a:prstGeom>
          <a:noFill/>
          <a:ln/>
        </p:spPr>
        <p:txBody>
          <a:bodyPr wrap="square" rtlCol="0" anchor="ctr"/>
          <a:lstStyle/>
          <a:p>
            <a:pPr marL="0" indent="0">
              <a:buNone/>
            </a:pPr>
            <a:r>
              <a:rPr lang="en-US" sz="1100" b="1" dirty="0">
                <a:solidFill>
                  <a:srgbClr val="059669"/>
                </a:solidFill>
                <a:latin typeface="Trebuchet MS" pitchFamily="34" charset="0"/>
                <a:ea typeface="Trebuchet MS" pitchFamily="34" charset="-122"/>
                <a:cs typeface="Trebuchet MS" pitchFamily="34" charset="-120"/>
              </a:rPr>
              <a:t>TextBlob — Validation</a:t>
            </a:r>
            <a:endParaRPr lang="en-US" sz="1100" dirty="0"/>
          </a:p>
        </p:txBody>
      </p:sp>
      <p:sp>
        <p:nvSpPr>
          <p:cNvPr id="17" name="Text 15"/>
          <p:cNvSpPr/>
          <p:nvPr/>
        </p:nvSpPr>
        <p:spPr>
          <a:xfrm>
            <a:off x="4800600" y="1764792"/>
            <a:ext cx="3913632" cy="1252728"/>
          </a:xfrm>
          <a:prstGeom prst="rect">
            <a:avLst/>
          </a:prstGeom>
          <a:noFill/>
          <a:ln/>
        </p:spPr>
        <p:txBody>
          <a:bodyPr wrap="square" rtlCol="0" anchor="t"/>
          <a:lstStyle/>
          <a:p>
            <a:pPr marL="0" indent="0">
              <a:buNone/>
            </a:pPr>
            <a:r>
              <a:rPr lang="en-US" sz="1100" dirty="0">
                <a:solidFill>
                  <a:srgbClr val="374151"/>
                </a:solidFill>
                <a:latin typeface="Calibri" pitchFamily="34" charset="0"/>
                <a:ea typeface="Calibri" pitchFamily="34" charset="-122"/>
                <a:cs typeface="Calibri" pitchFamily="34" charset="-120"/>
              </a:rPr>
              <a:t>Returns polarity (−1 to +1) and subjectivity (0 to 1). Used as secondary scorer to cross-validate VADER labels. Where both models agree = higher confidence. VADER trusted over TextBlob for review-style text because TextBlob was designed for formal prose, not informal patient language.</a:t>
            </a:r>
            <a:endParaRPr lang="en-US" sz="1100" dirty="0"/>
          </a:p>
        </p:txBody>
      </p:sp>
      <p:sp>
        <p:nvSpPr>
          <p:cNvPr id="18" name="Shape 16"/>
          <p:cNvSpPr/>
          <p:nvPr/>
        </p:nvSpPr>
        <p:spPr>
          <a:xfrm>
            <a:off x="365760" y="3246120"/>
            <a:ext cx="8412480" cy="1417320"/>
          </a:xfrm>
          <a:prstGeom prst="rect">
            <a:avLst/>
          </a:prstGeom>
          <a:solidFill>
            <a:srgbClr val="E8F0FE"/>
          </a:solidFill>
          <a:ln w="19050">
            <a:solidFill>
              <a:srgbClr val="2563EB"/>
            </a:solidFill>
            <a:prstDash val="solid"/>
          </a:ln>
          <a:effectLst>
            <a:outerShdw blurRad="101600" dist="25400" dir="8100000" algn="bl" rotWithShape="0">
              <a:srgbClr val="000000">
                <a:alpha val="10000"/>
              </a:srgbClr>
            </a:outerShdw>
          </a:effectLst>
        </p:spPr>
        <p:txBody>
          <a:bodyPr/>
          <a:lstStyle/>
          <a:p>
            <a:endParaRPr lang="en-US"/>
          </a:p>
        </p:txBody>
      </p:sp>
      <p:sp>
        <p:nvSpPr>
          <p:cNvPr id="19" name="Text 17"/>
          <p:cNvSpPr/>
          <p:nvPr/>
        </p:nvSpPr>
        <p:spPr>
          <a:xfrm>
            <a:off x="548640" y="3310128"/>
            <a:ext cx="8229600" cy="274320"/>
          </a:xfrm>
          <a:prstGeom prst="rect">
            <a:avLst/>
          </a:prstGeom>
          <a:noFill/>
          <a:ln/>
        </p:spPr>
        <p:txBody>
          <a:bodyPr wrap="square" rtlCol="0" anchor="ctr"/>
          <a:lstStyle/>
          <a:p>
            <a:pPr marL="0" indent="0">
              <a:buNone/>
            </a:pPr>
            <a:r>
              <a:rPr lang="en-US" sz="1200" b="1" dirty="0">
                <a:solidFill>
                  <a:srgbClr val="2563EB"/>
                </a:solidFill>
                <a:latin typeface="Trebuchet MS" pitchFamily="34" charset="0"/>
                <a:ea typeface="Trebuchet MS" pitchFamily="34" charset="-122"/>
                <a:cs typeface="Trebuchet MS" pitchFamily="34" charset="-120"/>
              </a:rPr>
              <a:t>Thresholds Applied</a:t>
            </a:r>
            <a:endParaRPr lang="en-US" sz="1200" dirty="0"/>
          </a:p>
        </p:txBody>
      </p:sp>
      <p:sp>
        <p:nvSpPr>
          <p:cNvPr id="20" name="Shape 18"/>
          <p:cNvSpPr/>
          <p:nvPr/>
        </p:nvSpPr>
        <p:spPr>
          <a:xfrm>
            <a:off x="548640" y="3657600"/>
            <a:ext cx="2651760" cy="822960"/>
          </a:xfrm>
          <a:prstGeom prst="rect">
            <a:avLst/>
          </a:prstGeom>
          <a:solidFill>
            <a:srgbClr val="FFFFFF"/>
          </a:solidFill>
          <a:ln w="19050">
            <a:solidFill>
              <a:srgbClr val="059669"/>
            </a:solidFill>
            <a:prstDash val="solid"/>
          </a:ln>
        </p:spPr>
        <p:txBody>
          <a:bodyPr/>
          <a:lstStyle/>
          <a:p>
            <a:endParaRPr lang="en-US"/>
          </a:p>
        </p:txBody>
      </p:sp>
      <p:sp>
        <p:nvSpPr>
          <p:cNvPr id="21" name="Text 19"/>
          <p:cNvSpPr/>
          <p:nvPr/>
        </p:nvSpPr>
        <p:spPr>
          <a:xfrm>
            <a:off x="548640" y="3675888"/>
            <a:ext cx="2651760" cy="786384"/>
          </a:xfrm>
          <a:prstGeom prst="rect">
            <a:avLst/>
          </a:prstGeom>
          <a:noFill/>
          <a:ln/>
        </p:spPr>
        <p:txBody>
          <a:bodyPr wrap="square" rtlCol="0" anchor="ctr"/>
          <a:lstStyle/>
          <a:p>
            <a:pPr marL="0" indent="0" algn="ctr">
              <a:buNone/>
            </a:pPr>
            <a:r>
              <a:rPr lang="en-US" sz="1100" dirty="0">
                <a:solidFill>
                  <a:srgbClr val="059669"/>
                </a:solidFill>
                <a:latin typeface="Calibri" pitchFamily="34" charset="0"/>
                <a:ea typeface="Calibri" pitchFamily="34" charset="-122"/>
                <a:cs typeface="Calibri" pitchFamily="34" charset="-120"/>
              </a:rPr>
              <a:t>POSITIVE</a:t>
            </a:r>
            <a:endParaRPr lang="en-US" sz="1100" dirty="0"/>
          </a:p>
          <a:p>
            <a:pPr marL="0" indent="0" algn="ctr">
              <a:buNone/>
            </a:pPr>
            <a:r>
              <a:rPr lang="en-US" sz="1100" dirty="0">
                <a:solidFill>
                  <a:srgbClr val="059669"/>
                </a:solidFill>
                <a:latin typeface="Calibri" pitchFamily="34" charset="0"/>
                <a:ea typeface="Calibri" pitchFamily="34" charset="-122"/>
                <a:cs typeface="Calibri" pitchFamily="34" charset="-120"/>
              </a:rPr>
              <a:t>compound ≥ +0.05</a:t>
            </a:r>
            <a:endParaRPr lang="en-US" sz="1100" dirty="0"/>
          </a:p>
          <a:p>
            <a:pPr marL="0" indent="0" algn="ctr">
              <a:buNone/>
            </a:pPr>
            <a:r>
              <a:rPr lang="en-US" sz="1100" dirty="0">
                <a:solidFill>
                  <a:srgbClr val="059669"/>
                </a:solidFill>
                <a:latin typeface="Calibri" pitchFamily="34" charset="0"/>
                <a:ea typeface="Calibri" pitchFamily="34" charset="-122"/>
                <a:cs typeface="Calibri" pitchFamily="34" charset="-120"/>
              </a:rPr>
              <a:t>35.6% of reviews (2,432)</a:t>
            </a:r>
            <a:endParaRPr lang="en-US" sz="1100" dirty="0"/>
          </a:p>
        </p:txBody>
      </p:sp>
      <p:sp>
        <p:nvSpPr>
          <p:cNvPr id="22" name="Shape 20"/>
          <p:cNvSpPr/>
          <p:nvPr/>
        </p:nvSpPr>
        <p:spPr>
          <a:xfrm>
            <a:off x="3383280" y="3657600"/>
            <a:ext cx="2651760" cy="822960"/>
          </a:xfrm>
          <a:prstGeom prst="rect">
            <a:avLst/>
          </a:prstGeom>
          <a:solidFill>
            <a:srgbClr val="FFFFFF"/>
          </a:solidFill>
          <a:ln w="19050">
            <a:solidFill>
              <a:srgbClr val="D97706"/>
            </a:solidFill>
            <a:prstDash val="solid"/>
          </a:ln>
        </p:spPr>
        <p:txBody>
          <a:bodyPr/>
          <a:lstStyle/>
          <a:p>
            <a:endParaRPr lang="en-US"/>
          </a:p>
        </p:txBody>
      </p:sp>
      <p:sp>
        <p:nvSpPr>
          <p:cNvPr id="23" name="Text 21"/>
          <p:cNvSpPr/>
          <p:nvPr/>
        </p:nvSpPr>
        <p:spPr>
          <a:xfrm>
            <a:off x="3383280" y="3675888"/>
            <a:ext cx="2651760" cy="786384"/>
          </a:xfrm>
          <a:prstGeom prst="rect">
            <a:avLst/>
          </a:prstGeom>
          <a:noFill/>
          <a:ln/>
        </p:spPr>
        <p:txBody>
          <a:bodyPr wrap="square" rtlCol="0" anchor="ctr"/>
          <a:lstStyle/>
          <a:p>
            <a:pPr marL="0" indent="0" algn="ctr">
              <a:buNone/>
            </a:pPr>
            <a:r>
              <a:rPr lang="en-US" sz="1100" dirty="0">
                <a:solidFill>
                  <a:srgbClr val="D97706"/>
                </a:solidFill>
                <a:latin typeface="Calibri" pitchFamily="34" charset="0"/>
                <a:ea typeface="Calibri" pitchFamily="34" charset="-122"/>
                <a:cs typeface="Calibri" pitchFamily="34" charset="-120"/>
              </a:rPr>
              <a:t>NEUTRAL</a:t>
            </a:r>
            <a:endParaRPr lang="en-US" sz="1100" dirty="0"/>
          </a:p>
          <a:p>
            <a:pPr marL="0" indent="0" algn="ctr">
              <a:buNone/>
            </a:pPr>
            <a:r>
              <a:rPr lang="en-US" sz="1100" dirty="0">
                <a:solidFill>
                  <a:srgbClr val="D97706"/>
                </a:solidFill>
                <a:latin typeface="Calibri" pitchFamily="34" charset="0"/>
                <a:ea typeface="Calibri" pitchFamily="34" charset="-122"/>
                <a:cs typeface="Calibri" pitchFamily="34" charset="-120"/>
              </a:rPr>
              <a:t>−0.05 to +0.05</a:t>
            </a:r>
            <a:endParaRPr lang="en-US" sz="1100" dirty="0"/>
          </a:p>
          <a:p>
            <a:pPr marL="0" indent="0" algn="ctr">
              <a:buNone/>
            </a:pPr>
            <a:r>
              <a:rPr lang="en-US" sz="1100" dirty="0">
                <a:solidFill>
                  <a:srgbClr val="D97706"/>
                </a:solidFill>
                <a:latin typeface="Calibri" pitchFamily="34" charset="0"/>
                <a:ea typeface="Calibri" pitchFamily="34" charset="-122"/>
                <a:cs typeface="Calibri" pitchFamily="34" charset="-120"/>
              </a:rPr>
              <a:t> 8.3% of reviews (568)</a:t>
            </a:r>
            <a:endParaRPr lang="en-US" sz="1100" dirty="0"/>
          </a:p>
        </p:txBody>
      </p:sp>
      <p:sp>
        <p:nvSpPr>
          <p:cNvPr id="24" name="Shape 22"/>
          <p:cNvSpPr/>
          <p:nvPr/>
        </p:nvSpPr>
        <p:spPr>
          <a:xfrm>
            <a:off x="6217920" y="3657600"/>
            <a:ext cx="2651760" cy="822960"/>
          </a:xfrm>
          <a:prstGeom prst="rect">
            <a:avLst/>
          </a:prstGeom>
          <a:solidFill>
            <a:srgbClr val="FFFFFF"/>
          </a:solidFill>
          <a:ln w="19050">
            <a:solidFill>
              <a:srgbClr val="9D1535"/>
            </a:solidFill>
            <a:prstDash val="solid"/>
          </a:ln>
        </p:spPr>
        <p:txBody>
          <a:bodyPr/>
          <a:lstStyle/>
          <a:p>
            <a:endParaRPr lang="en-US"/>
          </a:p>
        </p:txBody>
      </p:sp>
      <p:sp>
        <p:nvSpPr>
          <p:cNvPr id="25" name="Text 23"/>
          <p:cNvSpPr/>
          <p:nvPr/>
        </p:nvSpPr>
        <p:spPr>
          <a:xfrm>
            <a:off x="6217920" y="3675888"/>
            <a:ext cx="2651760" cy="786384"/>
          </a:xfrm>
          <a:prstGeom prst="rect">
            <a:avLst/>
          </a:prstGeom>
          <a:noFill/>
          <a:ln/>
        </p:spPr>
        <p:txBody>
          <a:bodyPr wrap="square" rtlCol="0" anchor="ctr"/>
          <a:lstStyle/>
          <a:p>
            <a:pPr marL="0" indent="0" algn="ctr">
              <a:buNone/>
            </a:pPr>
            <a:r>
              <a:rPr lang="en-US" sz="1100" dirty="0">
                <a:solidFill>
                  <a:srgbClr val="9D1535"/>
                </a:solidFill>
                <a:latin typeface="Calibri" pitchFamily="34" charset="0"/>
                <a:ea typeface="Calibri" pitchFamily="34" charset="-122"/>
                <a:cs typeface="Calibri" pitchFamily="34" charset="-120"/>
              </a:rPr>
              <a:t>NEGATIVE</a:t>
            </a:r>
            <a:endParaRPr lang="en-US" sz="1100" dirty="0"/>
          </a:p>
          <a:p>
            <a:pPr marL="0" indent="0" algn="ctr">
              <a:buNone/>
            </a:pPr>
            <a:r>
              <a:rPr lang="en-US" sz="1100" dirty="0">
                <a:solidFill>
                  <a:srgbClr val="9D1535"/>
                </a:solidFill>
                <a:latin typeface="Calibri" pitchFamily="34" charset="0"/>
                <a:ea typeface="Calibri" pitchFamily="34" charset="-122"/>
                <a:cs typeface="Calibri" pitchFamily="34" charset="-120"/>
              </a:rPr>
              <a:t>compound ≤ −0.05</a:t>
            </a:r>
            <a:endParaRPr lang="en-US" sz="1100" dirty="0"/>
          </a:p>
          <a:p>
            <a:pPr marL="0" indent="0" algn="ctr">
              <a:buNone/>
            </a:pPr>
            <a:r>
              <a:rPr lang="en-US" sz="1100" dirty="0">
                <a:solidFill>
                  <a:srgbClr val="9D1535"/>
                </a:solidFill>
                <a:latin typeface="Calibri" pitchFamily="34" charset="0"/>
                <a:ea typeface="Calibri" pitchFamily="34" charset="-122"/>
                <a:cs typeface="Calibri" pitchFamily="34" charset="-120"/>
              </a:rPr>
              <a:t>56.1% of reviews (3,827)</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365760" y="201168"/>
            <a:ext cx="2377440" cy="256032"/>
          </a:xfrm>
          <a:prstGeom prst="rect">
            <a:avLst/>
          </a:prstGeom>
          <a:solidFill>
            <a:srgbClr val="2563EB"/>
          </a:solidFill>
          <a:ln w="12700">
            <a:solidFill>
              <a:srgbClr val="2563EB"/>
            </a:solidFill>
            <a:prstDash val="solid"/>
          </a:ln>
        </p:spPr>
        <p:txBody>
          <a:bodyPr/>
          <a:lstStyle/>
          <a:p>
            <a:endParaRPr lang="en-US"/>
          </a:p>
        </p:txBody>
      </p:sp>
      <p:sp>
        <p:nvSpPr>
          <p:cNvPr id="3" name="Text 1"/>
          <p:cNvSpPr/>
          <p:nvPr/>
        </p:nvSpPr>
        <p:spPr>
          <a:xfrm>
            <a:off x="365760" y="201168"/>
            <a:ext cx="2377440"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rPr>
              <a:t>CLASSIFICATION</a:t>
            </a:r>
            <a:endParaRPr lang="en-US" sz="800" dirty="0"/>
          </a:p>
        </p:txBody>
      </p:sp>
      <p:sp>
        <p:nvSpPr>
          <p:cNvPr id="4" name="Text 2"/>
          <p:cNvSpPr/>
          <p:nvPr/>
        </p:nvSpPr>
        <p:spPr>
          <a:xfrm>
            <a:off x="365760" y="566928"/>
            <a:ext cx="8412480" cy="640080"/>
          </a:xfrm>
          <a:prstGeom prst="rect">
            <a:avLst/>
          </a:prstGeom>
          <a:noFill/>
          <a:ln/>
        </p:spPr>
        <p:txBody>
          <a:bodyPr wrap="square" rtlCol="0" anchor="ctr"/>
          <a:lstStyle/>
          <a:p>
            <a:pPr marL="0" indent="0">
              <a:buNone/>
            </a:pPr>
            <a:r>
              <a:rPr lang="en-US" sz="2800" b="1" dirty="0">
                <a:solidFill>
                  <a:srgbClr val="111827"/>
                </a:solidFill>
                <a:latin typeface="Trebuchet MS" pitchFamily="34" charset="0"/>
                <a:ea typeface="Trebuchet MS" pitchFamily="34" charset="-122"/>
                <a:cs typeface="Trebuchet MS" pitchFamily="34" charset="-120"/>
              </a:rPr>
              <a:t>TF-IDF Classification — Why Logistic Regression Won</a:t>
            </a:r>
            <a:endParaRPr lang="en-US" sz="2800" dirty="0"/>
          </a:p>
        </p:txBody>
      </p:sp>
      <p:sp>
        <p:nvSpPr>
          <p:cNvPr id="5" name="Shape 3"/>
          <p:cNvSpPr/>
          <p:nvPr/>
        </p:nvSpPr>
        <p:spPr>
          <a:xfrm>
            <a:off x="365760" y="1298448"/>
            <a:ext cx="8412480" cy="0"/>
          </a:xfrm>
          <a:prstGeom prst="line">
            <a:avLst/>
          </a:prstGeom>
          <a:noFill/>
          <a:ln w="12700">
            <a:solidFill>
              <a:srgbClr val="E5E7EB"/>
            </a:solidFill>
            <a:prstDash val="solid"/>
          </a:ln>
        </p:spPr>
        <p:txBody>
          <a:bodyPr/>
          <a:lstStyle/>
          <a:p>
            <a:endParaRPr lang="en-US"/>
          </a:p>
        </p:txBody>
      </p:sp>
      <p:sp>
        <p:nvSpPr>
          <p:cNvPr id="6" name="Shape 4"/>
          <p:cNvSpPr/>
          <p:nvPr/>
        </p:nvSpPr>
        <p:spPr>
          <a:xfrm>
            <a:off x="0" y="4800600"/>
            <a:ext cx="9144000" cy="347472"/>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365760" y="4809744"/>
            <a:ext cx="7315200" cy="274320"/>
          </a:xfrm>
          <a:prstGeom prst="rect">
            <a:avLst/>
          </a:prstGeom>
          <a:noFill/>
          <a:ln/>
        </p:spPr>
        <p:txBody>
          <a:bodyPr wrap="square" rtlCol="0" anchor="ctr"/>
          <a:lstStyle/>
          <a:p>
            <a:pPr marL="0" indent="0">
              <a:buNone/>
            </a:pPr>
            <a:endParaRPr lang="en-US" sz="900" dirty="0"/>
          </a:p>
        </p:txBody>
      </p:sp>
      <p:sp>
        <p:nvSpPr>
          <p:cNvPr id="8" name="Text 6"/>
          <p:cNvSpPr/>
          <p:nvPr/>
        </p:nvSpPr>
        <p:spPr>
          <a:xfrm>
            <a:off x="4572000" y="4809744"/>
            <a:ext cx="4389120" cy="274320"/>
          </a:xfrm>
          <a:prstGeom prst="rect">
            <a:avLst/>
          </a:prstGeom>
          <a:noFill/>
          <a:ln/>
        </p:spPr>
        <p:txBody>
          <a:bodyPr wrap="square" rtlCol="0" anchor="ctr"/>
          <a:lstStyle/>
          <a:p>
            <a:pPr marL="0" indent="0" algn="r">
              <a:buNone/>
            </a:pPr>
            <a:endParaRPr lang="en-US" sz="900" dirty="0"/>
          </a:p>
        </p:txBody>
      </p:sp>
      <p:sp>
        <p:nvSpPr>
          <p:cNvPr id="9" name="Text 7"/>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AAAAAA"/>
                </a:solidFill>
              </a:rPr>
              <a:t>12 / 25</a:t>
            </a:r>
            <a:endParaRPr lang="en-US" sz="900" dirty="0"/>
          </a:p>
        </p:txBody>
      </p:sp>
      <p:graphicFrame>
        <p:nvGraphicFramePr>
          <p:cNvPr id="10" name="Chart 0"/>
          <p:cNvGraphicFramePr/>
          <p:nvPr/>
        </p:nvGraphicFramePr>
        <p:xfrm>
          <a:off x="365760" y="1417320"/>
          <a:ext cx="475488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11" name="Shape 8"/>
          <p:cNvSpPr/>
          <p:nvPr/>
        </p:nvSpPr>
        <p:spPr>
          <a:xfrm>
            <a:off x="5303520" y="1417320"/>
            <a:ext cx="3474720" cy="731520"/>
          </a:xfrm>
          <a:prstGeom prst="rect">
            <a:avLst/>
          </a:prstGeom>
          <a:solidFill>
            <a:srgbClr val="F7EEF1"/>
          </a:solidFill>
          <a:ln w="25400">
            <a:solidFill>
              <a:srgbClr val="9D1535"/>
            </a:solidFill>
            <a:prstDash val="solid"/>
          </a:ln>
        </p:spPr>
        <p:txBody>
          <a:bodyPr/>
          <a:lstStyle/>
          <a:p>
            <a:endParaRPr lang="en-US"/>
          </a:p>
        </p:txBody>
      </p:sp>
      <p:sp>
        <p:nvSpPr>
          <p:cNvPr id="12" name="Text 9"/>
          <p:cNvSpPr/>
          <p:nvPr/>
        </p:nvSpPr>
        <p:spPr>
          <a:xfrm>
            <a:off x="5440680" y="1463040"/>
            <a:ext cx="3246120" cy="621792"/>
          </a:xfrm>
          <a:prstGeom prst="rect">
            <a:avLst/>
          </a:prstGeom>
          <a:noFill/>
          <a:ln/>
        </p:spPr>
        <p:txBody>
          <a:bodyPr wrap="square" rtlCol="0" anchor="ctr"/>
          <a:lstStyle/>
          <a:p>
            <a:pPr marL="0" indent="0">
              <a:buNone/>
            </a:pPr>
            <a:r>
              <a:rPr lang="en-US" sz="1000" b="1" dirty="0">
                <a:solidFill>
                  <a:srgbClr val="9D1535"/>
                </a:solidFill>
                <a:latin typeface="Calibri" pitchFamily="34" charset="0"/>
                <a:ea typeface="Calibri" pitchFamily="34" charset="-122"/>
                <a:cs typeface="Calibri" pitchFamily="34" charset="-120"/>
              </a:rPr>
              <a:t>LR Wins — </a:t>
            </a:r>
            <a:r>
              <a:rPr lang="en-US" sz="1000" dirty="0">
                <a:solidFill>
                  <a:srgbClr val="374151"/>
                </a:solidFill>
                <a:latin typeface="Calibri" pitchFamily="34" charset="0"/>
                <a:ea typeface="Calibri" pitchFamily="34" charset="-122"/>
                <a:cs typeface="Calibri" pitchFamily="34" charset="-120"/>
              </a:rPr>
              <a:t>TF-IDF is sparse + high-dimensional. LR learns one weight per word — perfectly suited for this linear structure.</a:t>
            </a:r>
            <a:endParaRPr lang="en-US" sz="1000" dirty="0"/>
          </a:p>
        </p:txBody>
      </p:sp>
      <p:sp>
        <p:nvSpPr>
          <p:cNvPr id="13" name="Shape 10"/>
          <p:cNvSpPr/>
          <p:nvPr/>
        </p:nvSpPr>
        <p:spPr>
          <a:xfrm>
            <a:off x="5303520" y="2240280"/>
            <a:ext cx="3474720" cy="731520"/>
          </a:xfrm>
          <a:prstGeom prst="rect">
            <a:avLst/>
          </a:prstGeom>
          <a:solidFill>
            <a:srgbClr val="FFFFFF"/>
          </a:solidFill>
          <a:ln w="12700">
            <a:solidFill>
              <a:srgbClr val="6B7280"/>
            </a:solidFill>
            <a:prstDash val="solid"/>
          </a:ln>
        </p:spPr>
        <p:txBody>
          <a:bodyPr/>
          <a:lstStyle/>
          <a:p>
            <a:endParaRPr lang="en-US"/>
          </a:p>
        </p:txBody>
      </p:sp>
      <p:sp>
        <p:nvSpPr>
          <p:cNvPr id="14" name="Text 11"/>
          <p:cNvSpPr/>
          <p:nvPr/>
        </p:nvSpPr>
        <p:spPr>
          <a:xfrm>
            <a:off x="5440680" y="2286000"/>
            <a:ext cx="3246120" cy="621792"/>
          </a:xfrm>
          <a:prstGeom prst="rect">
            <a:avLst/>
          </a:prstGeom>
          <a:noFill/>
          <a:ln/>
        </p:spPr>
        <p:txBody>
          <a:bodyPr wrap="square" rtlCol="0" anchor="ctr"/>
          <a:lstStyle/>
          <a:p>
            <a:pPr marL="0" indent="0">
              <a:buNone/>
            </a:pPr>
            <a:r>
              <a:rPr lang="en-US" sz="1000" b="1" dirty="0">
                <a:solidFill>
                  <a:srgbClr val="6B7280"/>
                </a:solidFill>
                <a:latin typeface="Calibri" pitchFamily="34" charset="0"/>
                <a:ea typeface="Calibri" pitchFamily="34" charset="-122"/>
                <a:cs typeface="Calibri" pitchFamily="34" charset="-120"/>
              </a:rPr>
              <a:t>SVM Close — </a:t>
            </a:r>
            <a:r>
              <a:rPr lang="en-US" sz="1000" dirty="0">
                <a:solidFill>
                  <a:srgbClr val="374151"/>
                </a:solidFill>
                <a:latin typeface="Calibri" pitchFamily="34" charset="0"/>
                <a:ea typeface="Calibri" pitchFamily="34" charset="-122"/>
                <a:cs typeface="Calibri" pitchFamily="34" charset="-120"/>
              </a:rPr>
              <a:t>Same linear approach. Less probability calibration hurts AUC slightly.</a:t>
            </a:r>
            <a:endParaRPr lang="en-US" sz="1000" dirty="0"/>
          </a:p>
        </p:txBody>
      </p:sp>
      <p:sp>
        <p:nvSpPr>
          <p:cNvPr id="15" name="Shape 12"/>
          <p:cNvSpPr/>
          <p:nvPr/>
        </p:nvSpPr>
        <p:spPr>
          <a:xfrm>
            <a:off x="5303520" y="3063240"/>
            <a:ext cx="3474720" cy="731520"/>
          </a:xfrm>
          <a:prstGeom prst="rect">
            <a:avLst/>
          </a:prstGeom>
          <a:solidFill>
            <a:srgbClr val="FFFFFF"/>
          </a:solidFill>
          <a:ln w="12700">
            <a:solidFill>
              <a:srgbClr val="6B7280"/>
            </a:solidFill>
            <a:prstDash val="solid"/>
          </a:ln>
        </p:spPr>
        <p:txBody>
          <a:bodyPr/>
          <a:lstStyle/>
          <a:p>
            <a:endParaRPr lang="en-US"/>
          </a:p>
        </p:txBody>
      </p:sp>
      <p:sp>
        <p:nvSpPr>
          <p:cNvPr id="16" name="Text 13"/>
          <p:cNvSpPr/>
          <p:nvPr/>
        </p:nvSpPr>
        <p:spPr>
          <a:xfrm>
            <a:off x="5440680" y="3108960"/>
            <a:ext cx="3246120" cy="621792"/>
          </a:xfrm>
          <a:prstGeom prst="rect">
            <a:avLst/>
          </a:prstGeom>
          <a:noFill/>
          <a:ln/>
        </p:spPr>
        <p:txBody>
          <a:bodyPr wrap="square" rtlCol="0" anchor="ctr"/>
          <a:lstStyle/>
          <a:p>
            <a:pPr marL="0" indent="0">
              <a:buNone/>
            </a:pPr>
            <a:r>
              <a:rPr lang="en-US" sz="1000" b="1" dirty="0">
                <a:solidFill>
                  <a:srgbClr val="6B7280"/>
                </a:solidFill>
                <a:latin typeface="Calibri" pitchFamily="34" charset="0"/>
                <a:ea typeface="Calibri" pitchFamily="34" charset="-122"/>
                <a:cs typeface="Calibri" pitchFamily="34" charset="-120"/>
              </a:rPr>
              <a:t>RF Loses — </a:t>
            </a:r>
            <a:r>
              <a:rPr lang="en-US" sz="1000" dirty="0">
                <a:solidFill>
                  <a:srgbClr val="374151"/>
                </a:solidFill>
                <a:latin typeface="Calibri" pitchFamily="34" charset="0"/>
                <a:ea typeface="Calibri" pitchFamily="34" charset="-122"/>
                <a:cs typeface="Calibri" pitchFamily="34" charset="-120"/>
              </a:rPr>
              <a:t>Trees struggle with 5,000-dim sparse features — random feature subsets miss key words.</a:t>
            </a:r>
            <a:endParaRPr lang="en-US" sz="1000" dirty="0"/>
          </a:p>
        </p:txBody>
      </p:sp>
      <p:sp>
        <p:nvSpPr>
          <p:cNvPr id="17" name="Shape 14"/>
          <p:cNvSpPr/>
          <p:nvPr/>
        </p:nvSpPr>
        <p:spPr>
          <a:xfrm>
            <a:off x="5303520" y="3886200"/>
            <a:ext cx="3474720" cy="731520"/>
          </a:xfrm>
          <a:prstGeom prst="rect">
            <a:avLst/>
          </a:prstGeom>
          <a:solidFill>
            <a:srgbClr val="FFFFFF"/>
          </a:solidFill>
          <a:ln w="12700">
            <a:solidFill>
              <a:srgbClr val="6B7280"/>
            </a:solidFill>
            <a:prstDash val="solid"/>
          </a:ln>
        </p:spPr>
        <p:txBody>
          <a:bodyPr/>
          <a:lstStyle/>
          <a:p>
            <a:endParaRPr lang="en-US"/>
          </a:p>
        </p:txBody>
      </p:sp>
      <p:sp>
        <p:nvSpPr>
          <p:cNvPr id="18" name="Text 15"/>
          <p:cNvSpPr/>
          <p:nvPr/>
        </p:nvSpPr>
        <p:spPr>
          <a:xfrm>
            <a:off x="5440680" y="3931920"/>
            <a:ext cx="3246120" cy="621792"/>
          </a:xfrm>
          <a:prstGeom prst="rect">
            <a:avLst/>
          </a:prstGeom>
          <a:noFill/>
          <a:ln/>
        </p:spPr>
        <p:txBody>
          <a:bodyPr wrap="square" rtlCol="0" anchor="ctr"/>
          <a:lstStyle/>
          <a:p>
            <a:pPr marL="0" indent="0">
              <a:buNone/>
            </a:pPr>
            <a:r>
              <a:rPr lang="en-US" sz="1000" b="1" dirty="0">
                <a:solidFill>
                  <a:srgbClr val="6B7280"/>
                </a:solidFill>
                <a:latin typeface="Calibri" pitchFamily="34" charset="0"/>
                <a:ea typeface="Calibri" pitchFamily="34" charset="-122"/>
                <a:cs typeface="Calibri" pitchFamily="34" charset="-120"/>
              </a:rPr>
              <a:t>NB Weakest — </a:t>
            </a:r>
            <a:r>
              <a:rPr lang="en-US" sz="1000" dirty="0">
                <a:solidFill>
                  <a:srgbClr val="374151"/>
                </a:solidFill>
                <a:latin typeface="Calibri" pitchFamily="34" charset="0"/>
                <a:ea typeface="Calibri" pitchFamily="34" charset="-122"/>
                <a:cs typeface="Calibri" pitchFamily="34" charset="-120"/>
              </a:rPr>
              <a:t>Independence assumption wrong — 'not helpful' ≠ 'not' + 'helpful' separately.</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365760" y="201168"/>
            <a:ext cx="2377440" cy="256032"/>
          </a:xfrm>
          <a:prstGeom prst="rect">
            <a:avLst/>
          </a:prstGeom>
          <a:solidFill>
            <a:srgbClr val="2563EB"/>
          </a:solidFill>
          <a:ln w="12700">
            <a:solidFill>
              <a:srgbClr val="2563EB"/>
            </a:solidFill>
            <a:prstDash val="solid"/>
          </a:ln>
        </p:spPr>
        <p:txBody>
          <a:bodyPr/>
          <a:lstStyle/>
          <a:p>
            <a:endParaRPr lang="en-US"/>
          </a:p>
        </p:txBody>
      </p:sp>
      <p:sp>
        <p:nvSpPr>
          <p:cNvPr id="3" name="Text 1"/>
          <p:cNvSpPr/>
          <p:nvPr/>
        </p:nvSpPr>
        <p:spPr>
          <a:xfrm>
            <a:off x="365760" y="201168"/>
            <a:ext cx="2377440"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rPr>
              <a:t>UNSUPERVISED NLP</a:t>
            </a:r>
            <a:endParaRPr lang="en-US" sz="800" dirty="0"/>
          </a:p>
        </p:txBody>
      </p:sp>
      <p:sp>
        <p:nvSpPr>
          <p:cNvPr id="4" name="Text 2"/>
          <p:cNvSpPr/>
          <p:nvPr/>
        </p:nvSpPr>
        <p:spPr>
          <a:xfrm>
            <a:off x="365760" y="566928"/>
            <a:ext cx="8412480" cy="640080"/>
          </a:xfrm>
          <a:prstGeom prst="rect">
            <a:avLst/>
          </a:prstGeom>
          <a:noFill/>
          <a:ln/>
        </p:spPr>
        <p:txBody>
          <a:bodyPr wrap="square" rtlCol="0" anchor="ctr"/>
          <a:lstStyle/>
          <a:p>
            <a:pPr marL="0" indent="0">
              <a:buNone/>
            </a:pPr>
            <a:r>
              <a:rPr lang="en-US" sz="2800" b="1" dirty="0">
                <a:solidFill>
                  <a:srgbClr val="111827"/>
                </a:solidFill>
                <a:latin typeface="Trebuchet MS" pitchFamily="34" charset="0"/>
                <a:ea typeface="Trebuchet MS" pitchFamily="34" charset="-122"/>
                <a:cs typeface="Trebuchet MS" pitchFamily="34" charset="-120"/>
              </a:rPr>
              <a:t>LDA Topic Modeling — 8 Hidden Topics</a:t>
            </a:r>
            <a:endParaRPr lang="en-US" sz="2800" dirty="0"/>
          </a:p>
        </p:txBody>
      </p:sp>
      <p:sp>
        <p:nvSpPr>
          <p:cNvPr id="5" name="Shape 3"/>
          <p:cNvSpPr/>
          <p:nvPr/>
        </p:nvSpPr>
        <p:spPr>
          <a:xfrm>
            <a:off x="365760" y="1298448"/>
            <a:ext cx="8412480" cy="0"/>
          </a:xfrm>
          <a:prstGeom prst="line">
            <a:avLst/>
          </a:prstGeom>
          <a:noFill/>
          <a:ln w="12700">
            <a:solidFill>
              <a:srgbClr val="E5E7EB"/>
            </a:solidFill>
            <a:prstDash val="solid"/>
          </a:ln>
        </p:spPr>
        <p:txBody>
          <a:bodyPr/>
          <a:lstStyle/>
          <a:p>
            <a:endParaRPr lang="en-US"/>
          </a:p>
        </p:txBody>
      </p:sp>
      <p:sp>
        <p:nvSpPr>
          <p:cNvPr id="6" name="Shape 4"/>
          <p:cNvSpPr/>
          <p:nvPr/>
        </p:nvSpPr>
        <p:spPr>
          <a:xfrm>
            <a:off x="0" y="4800600"/>
            <a:ext cx="9144000" cy="347472"/>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365760" y="4809744"/>
            <a:ext cx="7315200" cy="274320"/>
          </a:xfrm>
          <a:prstGeom prst="rect">
            <a:avLst/>
          </a:prstGeom>
          <a:noFill/>
          <a:ln/>
        </p:spPr>
        <p:txBody>
          <a:bodyPr wrap="square" rtlCol="0" anchor="ctr"/>
          <a:lstStyle/>
          <a:p>
            <a:pPr marL="0" indent="0">
              <a:buNone/>
            </a:pPr>
            <a:endParaRPr lang="en-US" sz="900" dirty="0"/>
          </a:p>
        </p:txBody>
      </p:sp>
      <p:sp>
        <p:nvSpPr>
          <p:cNvPr id="8" name="Text 6"/>
          <p:cNvSpPr/>
          <p:nvPr/>
        </p:nvSpPr>
        <p:spPr>
          <a:xfrm>
            <a:off x="4572000" y="4809744"/>
            <a:ext cx="4389120" cy="274320"/>
          </a:xfrm>
          <a:prstGeom prst="rect">
            <a:avLst/>
          </a:prstGeom>
          <a:noFill/>
          <a:ln/>
        </p:spPr>
        <p:txBody>
          <a:bodyPr wrap="square" rtlCol="0" anchor="ctr"/>
          <a:lstStyle/>
          <a:p>
            <a:pPr marL="0" indent="0" algn="r">
              <a:buNone/>
            </a:pPr>
            <a:endParaRPr lang="en-US" sz="900" dirty="0"/>
          </a:p>
        </p:txBody>
      </p:sp>
      <p:sp>
        <p:nvSpPr>
          <p:cNvPr id="9" name="Text 7"/>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AAAAAA"/>
                </a:solidFill>
              </a:rPr>
              <a:t>13 / 25</a:t>
            </a:r>
            <a:endParaRPr lang="en-US" sz="900" dirty="0"/>
          </a:p>
        </p:txBody>
      </p:sp>
      <p:sp>
        <p:nvSpPr>
          <p:cNvPr id="10" name="Text 8"/>
          <p:cNvSpPr/>
          <p:nvPr/>
        </p:nvSpPr>
        <p:spPr>
          <a:xfrm>
            <a:off x="365760" y="1371600"/>
            <a:ext cx="8412480" cy="365760"/>
          </a:xfrm>
          <a:prstGeom prst="rect">
            <a:avLst/>
          </a:prstGeom>
          <a:noFill/>
          <a:ln/>
        </p:spPr>
        <p:txBody>
          <a:bodyPr wrap="square" rtlCol="0" anchor="ctr"/>
          <a:lstStyle/>
          <a:p>
            <a:pPr marL="0" indent="0">
              <a:buNone/>
            </a:pPr>
            <a:r>
              <a:rPr lang="en-US" sz="1200" i="1" dirty="0">
                <a:solidFill>
                  <a:srgbClr val="374151"/>
                </a:solidFill>
                <a:latin typeface="Calibri" pitchFamily="34" charset="0"/>
                <a:ea typeface="Calibri" pitchFamily="34" charset="-122"/>
                <a:cs typeface="Calibri" pitchFamily="34" charset="-120"/>
              </a:rPr>
              <a:t>LDA (Latent Dirichlet Allocation) discovered 8 topics from 3,068 reviews with no labels — purely from word co-occurrence patterns</a:t>
            </a:r>
            <a:endParaRPr lang="en-US" sz="1200" dirty="0"/>
          </a:p>
        </p:txBody>
      </p:sp>
      <p:sp>
        <p:nvSpPr>
          <p:cNvPr id="11" name="Shape 9"/>
          <p:cNvSpPr/>
          <p:nvPr/>
        </p:nvSpPr>
        <p:spPr>
          <a:xfrm>
            <a:off x="365760" y="1828800"/>
            <a:ext cx="4114800" cy="621792"/>
          </a:xfrm>
          <a:prstGeom prst="rect">
            <a:avLst/>
          </a:prstGeom>
          <a:solidFill>
            <a:srgbClr val="FFFFFF"/>
          </a:solidFill>
          <a:ln w="19050">
            <a:solidFill>
              <a:srgbClr val="9D1535"/>
            </a:solidFill>
            <a:prstDash val="solid"/>
          </a:ln>
          <a:effectLst>
            <a:outerShdw blurRad="101600" dist="25400" dir="8100000" algn="bl" rotWithShape="0">
              <a:srgbClr val="000000">
                <a:alpha val="10000"/>
              </a:srgbClr>
            </a:outerShdw>
          </a:effectLst>
        </p:spPr>
        <p:txBody>
          <a:bodyPr/>
          <a:lstStyle/>
          <a:p>
            <a:endParaRPr lang="en-US"/>
          </a:p>
        </p:txBody>
      </p:sp>
      <p:sp>
        <p:nvSpPr>
          <p:cNvPr id="12" name="Shape 10"/>
          <p:cNvSpPr/>
          <p:nvPr/>
        </p:nvSpPr>
        <p:spPr>
          <a:xfrm>
            <a:off x="365760" y="1828800"/>
            <a:ext cx="457200" cy="621792"/>
          </a:xfrm>
          <a:prstGeom prst="rect">
            <a:avLst/>
          </a:prstGeom>
          <a:solidFill>
            <a:srgbClr val="9D1535"/>
          </a:solidFill>
          <a:ln w="12700">
            <a:solidFill>
              <a:srgbClr val="9D1535"/>
            </a:solidFill>
            <a:prstDash val="solid"/>
          </a:ln>
        </p:spPr>
        <p:txBody>
          <a:bodyPr/>
          <a:lstStyle/>
          <a:p>
            <a:endParaRPr lang="en-US"/>
          </a:p>
        </p:txBody>
      </p:sp>
      <p:sp>
        <p:nvSpPr>
          <p:cNvPr id="13" name="Text 11"/>
          <p:cNvSpPr/>
          <p:nvPr/>
        </p:nvSpPr>
        <p:spPr>
          <a:xfrm>
            <a:off x="365760" y="1993392"/>
            <a:ext cx="457200" cy="274320"/>
          </a:xfrm>
          <a:prstGeom prst="rect">
            <a:avLst/>
          </a:prstGeom>
          <a:noFill/>
          <a:ln/>
        </p:spPr>
        <p:txBody>
          <a:bodyPr wrap="square" rtlCol="0" anchor="ctr"/>
          <a:lstStyle/>
          <a:p>
            <a:pPr marL="0" indent="0" algn="ctr">
              <a:buNone/>
            </a:pPr>
            <a:r>
              <a:rPr lang="en-US" sz="1100" b="1" dirty="0">
                <a:solidFill>
                  <a:srgbClr val="FFFFFF"/>
                </a:solidFill>
              </a:rPr>
              <a:t>T1</a:t>
            </a:r>
            <a:endParaRPr lang="en-US" sz="1100" dirty="0"/>
          </a:p>
        </p:txBody>
      </p:sp>
      <p:sp>
        <p:nvSpPr>
          <p:cNvPr id="14" name="Text 12"/>
          <p:cNvSpPr/>
          <p:nvPr/>
        </p:nvSpPr>
        <p:spPr>
          <a:xfrm>
            <a:off x="896112" y="1865376"/>
            <a:ext cx="3520440" cy="256032"/>
          </a:xfrm>
          <a:prstGeom prst="rect">
            <a:avLst/>
          </a:prstGeom>
          <a:noFill/>
          <a:ln/>
        </p:spPr>
        <p:txBody>
          <a:bodyPr wrap="square" rtlCol="0" anchor="ctr"/>
          <a:lstStyle/>
          <a:p>
            <a:pPr marL="0" indent="0">
              <a:buNone/>
            </a:pPr>
            <a:r>
              <a:rPr lang="en-US" sz="1100" b="1" dirty="0">
                <a:solidFill>
                  <a:srgbClr val="9D1535"/>
                </a:solidFill>
                <a:latin typeface="Trebuchet MS" pitchFamily="34" charset="0"/>
                <a:ea typeface="Trebuchet MS" pitchFamily="34" charset="-122"/>
                <a:cs typeface="Trebuchet MS" pitchFamily="34" charset="-120"/>
              </a:rPr>
              <a:t>Side Effects</a:t>
            </a:r>
            <a:endParaRPr lang="en-US" sz="1100" dirty="0"/>
          </a:p>
        </p:txBody>
      </p:sp>
      <p:sp>
        <p:nvSpPr>
          <p:cNvPr id="15" name="Text 13"/>
          <p:cNvSpPr/>
          <p:nvPr/>
        </p:nvSpPr>
        <p:spPr>
          <a:xfrm>
            <a:off x="896112" y="2130552"/>
            <a:ext cx="3520440" cy="256032"/>
          </a:xfrm>
          <a:prstGeom prst="rect">
            <a:avLst/>
          </a:prstGeom>
          <a:noFill/>
          <a:ln/>
        </p:spPr>
        <p:txBody>
          <a:bodyPr wrap="square" rtlCol="0" anchor="ctr"/>
          <a:lstStyle/>
          <a:p>
            <a:pPr marL="0" indent="0">
              <a:buNone/>
            </a:pPr>
            <a:r>
              <a:rPr lang="en-US" sz="950" i="1" dirty="0">
                <a:solidFill>
                  <a:srgbClr val="6B7280"/>
                </a:solidFill>
                <a:latin typeface="Calibri" pitchFamily="34" charset="0"/>
                <a:ea typeface="Calibri" pitchFamily="34" charset="-122"/>
                <a:cs typeface="Calibri" pitchFamily="34" charset="-120"/>
              </a:rPr>
              <a:t>side, effects, fatigue, weight, hair, loss, gain</a:t>
            </a:r>
            <a:endParaRPr lang="en-US" sz="950" dirty="0"/>
          </a:p>
        </p:txBody>
      </p:sp>
      <p:sp>
        <p:nvSpPr>
          <p:cNvPr id="16" name="Shape 14"/>
          <p:cNvSpPr/>
          <p:nvPr/>
        </p:nvSpPr>
        <p:spPr>
          <a:xfrm>
            <a:off x="4709160" y="1828800"/>
            <a:ext cx="4114800" cy="621792"/>
          </a:xfrm>
          <a:prstGeom prst="rect">
            <a:avLst/>
          </a:prstGeom>
          <a:solidFill>
            <a:srgbClr val="FFFFFF"/>
          </a:solidFill>
          <a:ln w="19050">
            <a:solidFill>
              <a:srgbClr val="2563EB"/>
            </a:solidFill>
            <a:prstDash val="solid"/>
          </a:ln>
          <a:effectLst>
            <a:outerShdw blurRad="101600" dist="25400" dir="8100000" algn="bl" rotWithShape="0">
              <a:srgbClr val="000000">
                <a:alpha val="10000"/>
              </a:srgbClr>
            </a:outerShdw>
          </a:effectLst>
        </p:spPr>
        <p:txBody>
          <a:bodyPr/>
          <a:lstStyle/>
          <a:p>
            <a:endParaRPr lang="en-US"/>
          </a:p>
        </p:txBody>
      </p:sp>
      <p:sp>
        <p:nvSpPr>
          <p:cNvPr id="17" name="Shape 15"/>
          <p:cNvSpPr/>
          <p:nvPr/>
        </p:nvSpPr>
        <p:spPr>
          <a:xfrm>
            <a:off x="4709160" y="1828800"/>
            <a:ext cx="457200" cy="621792"/>
          </a:xfrm>
          <a:prstGeom prst="rect">
            <a:avLst/>
          </a:prstGeom>
          <a:solidFill>
            <a:srgbClr val="2563EB"/>
          </a:solidFill>
          <a:ln w="12700">
            <a:solidFill>
              <a:srgbClr val="2563EB"/>
            </a:solidFill>
            <a:prstDash val="solid"/>
          </a:ln>
        </p:spPr>
        <p:txBody>
          <a:bodyPr/>
          <a:lstStyle/>
          <a:p>
            <a:endParaRPr lang="en-US"/>
          </a:p>
        </p:txBody>
      </p:sp>
      <p:sp>
        <p:nvSpPr>
          <p:cNvPr id="18" name="Text 16"/>
          <p:cNvSpPr/>
          <p:nvPr/>
        </p:nvSpPr>
        <p:spPr>
          <a:xfrm>
            <a:off x="4709160" y="1993392"/>
            <a:ext cx="457200" cy="274320"/>
          </a:xfrm>
          <a:prstGeom prst="rect">
            <a:avLst/>
          </a:prstGeom>
          <a:noFill/>
          <a:ln/>
        </p:spPr>
        <p:txBody>
          <a:bodyPr wrap="square" rtlCol="0" anchor="ctr"/>
          <a:lstStyle/>
          <a:p>
            <a:pPr marL="0" indent="0" algn="ctr">
              <a:buNone/>
            </a:pPr>
            <a:r>
              <a:rPr lang="en-US" sz="1100" b="1" dirty="0">
                <a:solidFill>
                  <a:srgbClr val="FFFFFF"/>
                </a:solidFill>
              </a:rPr>
              <a:t>T2</a:t>
            </a:r>
            <a:endParaRPr lang="en-US" sz="1100" dirty="0"/>
          </a:p>
        </p:txBody>
      </p:sp>
      <p:sp>
        <p:nvSpPr>
          <p:cNvPr id="19" name="Text 17"/>
          <p:cNvSpPr/>
          <p:nvPr/>
        </p:nvSpPr>
        <p:spPr>
          <a:xfrm>
            <a:off x="5239512" y="1865376"/>
            <a:ext cx="3520440" cy="256032"/>
          </a:xfrm>
          <a:prstGeom prst="rect">
            <a:avLst/>
          </a:prstGeom>
          <a:noFill/>
          <a:ln/>
        </p:spPr>
        <p:txBody>
          <a:bodyPr wrap="square" rtlCol="0" anchor="ctr"/>
          <a:lstStyle/>
          <a:p>
            <a:pPr marL="0" indent="0">
              <a:buNone/>
            </a:pPr>
            <a:r>
              <a:rPr lang="en-US" sz="1100" b="1" dirty="0">
                <a:solidFill>
                  <a:srgbClr val="2563EB"/>
                </a:solidFill>
                <a:latin typeface="Trebuchet MS" pitchFamily="34" charset="0"/>
                <a:ea typeface="Trebuchet MS" pitchFamily="34" charset="-122"/>
                <a:cs typeface="Trebuchet MS" pitchFamily="34" charset="-120"/>
              </a:rPr>
              <a:t>Dosage &amp; Timing</a:t>
            </a:r>
            <a:endParaRPr lang="en-US" sz="1100" dirty="0"/>
          </a:p>
        </p:txBody>
      </p:sp>
      <p:sp>
        <p:nvSpPr>
          <p:cNvPr id="20" name="Text 18"/>
          <p:cNvSpPr/>
          <p:nvPr/>
        </p:nvSpPr>
        <p:spPr>
          <a:xfrm>
            <a:off x="5239512" y="2130552"/>
            <a:ext cx="3520440" cy="256032"/>
          </a:xfrm>
          <a:prstGeom prst="rect">
            <a:avLst/>
          </a:prstGeom>
          <a:noFill/>
          <a:ln/>
        </p:spPr>
        <p:txBody>
          <a:bodyPr wrap="square" rtlCol="0" anchor="ctr"/>
          <a:lstStyle/>
          <a:p>
            <a:pPr marL="0" indent="0">
              <a:buNone/>
            </a:pPr>
            <a:r>
              <a:rPr lang="en-US" sz="950" i="1" dirty="0">
                <a:solidFill>
                  <a:srgbClr val="6B7280"/>
                </a:solidFill>
                <a:latin typeface="Calibri" pitchFamily="34" charset="0"/>
                <a:ea typeface="Calibri" pitchFamily="34" charset="-122"/>
                <a:cs typeface="Calibri" pitchFamily="34" charset="-120"/>
              </a:rPr>
              <a:t>dose, mg, day, morning, twice, started, week</a:t>
            </a:r>
            <a:endParaRPr lang="en-US" sz="950" dirty="0"/>
          </a:p>
        </p:txBody>
      </p:sp>
      <p:sp>
        <p:nvSpPr>
          <p:cNvPr id="21" name="Shape 19"/>
          <p:cNvSpPr/>
          <p:nvPr/>
        </p:nvSpPr>
        <p:spPr>
          <a:xfrm>
            <a:off x="365760" y="2542032"/>
            <a:ext cx="4114800" cy="621792"/>
          </a:xfrm>
          <a:prstGeom prst="rect">
            <a:avLst/>
          </a:prstGeom>
          <a:solidFill>
            <a:srgbClr val="FFFFFF"/>
          </a:solidFill>
          <a:ln w="19050">
            <a:solidFill>
              <a:srgbClr val="059669"/>
            </a:solidFill>
            <a:prstDash val="solid"/>
          </a:ln>
          <a:effectLst>
            <a:outerShdw blurRad="101600" dist="25400" dir="8100000" algn="bl" rotWithShape="0">
              <a:srgbClr val="000000">
                <a:alpha val="10000"/>
              </a:srgbClr>
            </a:outerShdw>
          </a:effectLst>
        </p:spPr>
        <p:txBody>
          <a:bodyPr/>
          <a:lstStyle/>
          <a:p>
            <a:endParaRPr lang="en-US"/>
          </a:p>
        </p:txBody>
      </p:sp>
      <p:sp>
        <p:nvSpPr>
          <p:cNvPr id="22" name="Shape 20"/>
          <p:cNvSpPr/>
          <p:nvPr/>
        </p:nvSpPr>
        <p:spPr>
          <a:xfrm>
            <a:off x="365760" y="2542032"/>
            <a:ext cx="457200" cy="621792"/>
          </a:xfrm>
          <a:prstGeom prst="rect">
            <a:avLst/>
          </a:prstGeom>
          <a:solidFill>
            <a:srgbClr val="059669"/>
          </a:solidFill>
          <a:ln w="12700">
            <a:solidFill>
              <a:srgbClr val="059669"/>
            </a:solidFill>
            <a:prstDash val="solid"/>
          </a:ln>
        </p:spPr>
        <p:txBody>
          <a:bodyPr/>
          <a:lstStyle/>
          <a:p>
            <a:endParaRPr lang="en-US"/>
          </a:p>
        </p:txBody>
      </p:sp>
      <p:sp>
        <p:nvSpPr>
          <p:cNvPr id="23" name="Text 21"/>
          <p:cNvSpPr/>
          <p:nvPr/>
        </p:nvSpPr>
        <p:spPr>
          <a:xfrm>
            <a:off x="365760" y="2706624"/>
            <a:ext cx="457200" cy="274320"/>
          </a:xfrm>
          <a:prstGeom prst="rect">
            <a:avLst/>
          </a:prstGeom>
          <a:noFill/>
          <a:ln/>
        </p:spPr>
        <p:txBody>
          <a:bodyPr wrap="square" rtlCol="0" anchor="ctr"/>
          <a:lstStyle/>
          <a:p>
            <a:pPr marL="0" indent="0" algn="ctr">
              <a:buNone/>
            </a:pPr>
            <a:r>
              <a:rPr lang="en-US" sz="1100" b="1" dirty="0">
                <a:solidFill>
                  <a:srgbClr val="FFFFFF"/>
                </a:solidFill>
              </a:rPr>
              <a:t>T3</a:t>
            </a:r>
            <a:endParaRPr lang="en-US" sz="1100" dirty="0"/>
          </a:p>
        </p:txBody>
      </p:sp>
      <p:sp>
        <p:nvSpPr>
          <p:cNvPr id="24" name="Text 22"/>
          <p:cNvSpPr/>
          <p:nvPr/>
        </p:nvSpPr>
        <p:spPr>
          <a:xfrm>
            <a:off x="896112" y="2578608"/>
            <a:ext cx="3520440" cy="256032"/>
          </a:xfrm>
          <a:prstGeom prst="rect">
            <a:avLst/>
          </a:prstGeom>
          <a:noFill/>
          <a:ln/>
        </p:spPr>
        <p:txBody>
          <a:bodyPr wrap="square" rtlCol="0" anchor="ctr"/>
          <a:lstStyle/>
          <a:p>
            <a:pPr marL="0" indent="0">
              <a:buNone/>
            </a:pPr>
            <a:r>
              <a:rPr lang="en-US" sz="1100" b="1" dirty="0">
                <a:solidFill>
                  <a:srgbClr val="059669"/>
                </a:solidFill>
                <a:latin typeface="Trebuchet MS" pitchFamily="34" charset="0"/>
                <a:ea typeface="Trebuchet MS" pitchFamily="34" charset="-122"/>
                <a:cs typeface="Trebuchet MS" pitchFamily="34" charset="-120"/>
              </a:rPr>
              <a:t>Effectiveness</a:t>
            </a:r>
            <a:endParaRPr lang="en-US" sz="1100" dirty="0"/>
          </a:p>
        </p:txBody>
      </p:sp>
      <p:sp>
        <p:nvSpPr>
          <p:cNvPr id="25" name="Text 23"/>
          <p:cNvSpPr/>
          <p:nvPr/>
        </p:nvSpPr>
        <p:spPr>
          <a:xfrm>
            <a:off x="896112" y="2843784"/>
            <a:ext cx="3520440" cy="256032"/>
          </a:xfrm>
          <a:prstGeom prst="rect">
            <a:avLst/>
          </a:prstGeom>
          <a:noFill/>
          <a:ln/>
        </p:spPr>
        <p:txBody>
          <a:bodyPr wrap="square" rtlCol="0" anchor="ctr"/>
          <a:lstStyle/>
          <a:p>
            <a:pPr marL="0" indent="0">
              <a:buNone/>
            </a:pPr>
            <a:r>
              <a:rPr lang="en-US" sz="950" i="1" dirty="0">
                <a:solidFill>
                  <a:srgbClr val="6B7280"/>
                </a:solidFill>
                <a:latin typeface="Calibri" pitchFamily="34" charset="0"/>
                <a:ea typeface="Calibri" pitchFamily="34" charset="-122"/>
                <a:cs typeface="Calibri" pitchFamily="34" charset="-120"/>
              </a:rPr>
              <a:t>works, helped, great, pain, relief, better, years</a:t>
            </a:r>
            <a:endParaRPr lang="en-US" sz="950" dirty="0"/>
          </a:p>
        </p:txBody>
      </p:sp>
      <p:sp>
        <p:nvSpPr>
          <p:cNvPr id="26" name="Shape 24"/>
          <p:cNvSpPr/>
          <p:nvPr/>
        </p:nvSpPr>
        <p:spPr>
          <a:xfrm>
            <a:off x="4709160" y="2542032"/>
            <a:ext cx="4114800" cy="621792"/>
          </a:xfrm>
          <a:prstGeom prst="rect">
            <a:avLst/>
          </a:prstGeom>
          <a:solidFill>
            <a:srgbClr val="FFFFFF"/>
          </a:solidFill>
          <a:ln w="19050">
            <a:solidFill>
              <a:srgbClr val="7C3AED"/>
            </a:solidFill>
            <a:prstDash val="solid"/>
          </a:ln>
          <a:effectLst>
            <a:outerShdw blurRad="101600" dist="25400" dir="8100000" algn="bl" rotWithShape="0">
              <a:srgbClr val="000000">
                <a:alpha val="10000"/>
              </a:srgbClr>
            </a:outerShdw>
          </a:effectLst>
        </p:spPr>
        <p:txBody>
          <a:bodyPr/>
          <a:lstStyle/>
          <a:p>
            <a:endParaRPr lang="en-US"/>
          </a:p>
        </p:txBody>
      </p:sp>
      <p:sp>
        <p:nvSpPr>
          <p:cNvPr id="27" name="Shape 25"/>
          <p:cNvSpPr/>
          <p:nvPr/>
        </p:nvSpPr>
        <p:spPr>
          <a:xfrm>
            <a:off x="4709160" y="2542032"/>
            <a:ext cx="457200" cy="621792"/>
          </a:xfrm>
          <a:prstGeom prst="rect">
            <a:avLst/>
          </a:prstGeom>
          <a:solidFill>
            <a:srgbClr val="7C3AED"/>
          </a:solidFill>
          <a:ln w="12700">
            <a:solidFill>
              <a:srgbClr val="7C3AED"/>
            </a:solidFill>
            <a:prstDash val="solid"/>
          </a:ln>
        </p:spPr>
        <p:txBody>
          <a:bodyPr/>
          <a:lstStyle/>
          <a:p>
            <a:endParaRPr lang="en-US"/>
          </a:p>
        </p:txBody>
      </p:sp>
      <p:sp>
        <p:nvSpPr>
          <p:cNvPr id="28" name="Text 26"/>
          <p:cNvSpPr/>
          <p:nvPr/>
        </p:nvSpPr>
        <p:spPr>
          <a:xfrm>
            <a:off x="4709160" y="2706624"/>
            <a:ext cx="457200" cy="274320"/>
          </a:xfrm>
          <a:prstGeom prst="rect">
            <a:avLst/>
          </a:prstGeom>
          <a:noFill/>
          <a:ln/>
        </p:spPr>
        <p:txBody>
          <a:bodyPr wrap="square" rtlCol="0" anchor="ctr"/>
          <a:lstStyle/>
          <a:p>
            <a:pPr marL="0" indent="0" algn="ctr">
              <a:buNone/>
            </a:pPr>
            <a:r>
              <a:rPr lang="en-US" sz="1100" b="1" dirty="0">
                <a:solidFill>
                  <a:srgbClr val="FFFFFF"/>
                </a:solidFill>
              </a:rPr>
              <a:t>T4</a:t>
            </a:r>
            <a:endParaRPr lang="en-US" sz="1100" dirty="0"/>
          </a:p>
        </p:txBody>
      </p:sp>
      <p:sp>
        <p:nvSpPr>
          <p:cNvPr id="29" name="Text 27"/>
          <p:cNvSpPr/>
          <p:nvPr/>
        </p:nvSpPr>
        <p:spPr>
          <a:xfrm>
            <a:off x="5239512" y="2578608"/>
            <a:ext cx="3520440" cy="256032"/>
          </a:xfrm>
          <a:prstGeom prst="rect">
            <a:avLst/>
          </a:prstGeom>
          <a:noFill/>
          <a:ln/>
        </p:spPr>
        <p:txBody>
          <a:bodyPr wrap="square" rtlCol="0" anchor="ctr"/>
          <a:lstStyle/>
          <a:p>
            <a:pPr marL="0" indent="0">
              <a:buNone/>
            </a:pPr>
            <a:r>
              <a:rPr lang="en-US" sz="1100" b="1" dirty="0">
                <a:solidFill>
                  <a:srgbClr val="7C3AED"/>
                </a:solidFill>
                <a:latin typeface="Trebuchet MS" pitchFamily="34" charset="0"/>
                <a:ea typeface="Trebuchet MS" pitchFamily="34" charset="-122"/>
                <a:cs typeface="Trebuchet MS" pitchFamily="34" charset="-120"/>
              </a:rPr>
              <a:t>Blood Pressure</a:t>
            </a:r>
            <a:endParaRPr lang="en-US" sz="1100" dirty="0"/>
          </a:p>
        </p:txBody>
      </p:sp>
      <p:sp>
        <p:nvSpPr>
          <p:cNvPr id="30" name="Text 28"/>
          <p:cNvSpPr/>
          <p:nvPr/>
        </p:nvSpPr>
        <p:spPr>
          <a:xfrm>
            <a:off x="5239512" y="2843784"/>
            <a:ext cx="3520440" cy="256032"/>
          </a:xfrm>
          <a:prstGeom prst="rect">
            <a:avLst/>
          </a:prstGeom>
          <a:noFill/>
          <a:ln/>
        </p:spPr>
        <p:txBody>
          <a:bodyPr wrap="square" rtlCol="0" anchor="ctr"/>
          <a:lstStyle/>
          <a:p>
            <a:pPr marL="0" indent="0">
              <a:buNone/>
            </a:pPr>
            <a:r>
              <a:rPr lang="en-US" sz="950" i="1" dirty="0">
                <a:solidFill>
                  <a:srgbClr val="6B7280"/>
                </a:solidFill>
                <a:latin typeface="Calibri" pitchFamily="34" charset="0"/>
                <a:ea typeface="Calibri" pitchFamily="34" charset="-122"/>
                <a:cs typeface="Calibri" pitchFamily="34" charset="-120"/>
              </a:rPr>
              <a:t>blood, pressure, heart, rate, bp, control, monitor</a:t>
            </a:r>
            <a:endParaRPr lang="en-US" sz="950" dirty="0"/>
          </a:p>
        </p:txBody>
      </p:sp>
      <p:sp>
        <p:nvSpPr>
          <p:cNvPr id="31" name="Shape 29"/>
          <p:cNvSpPr/>
          <p:nvPr/>
        </p:nvSpPr>
        <p:spPr>
          <a:xfrm>
            <a:off x="365760" y="3255264"/>
            <a:ext cx="4114800" cy="621792"/>
          </a:xfrm>
          <a:prstGeom prst="rect">
            <a:avLst/>
          </a:prstGeom>
          <a:solidFill>
            <a:srgbClr val="FFFFFF"/>
          </a:solidFill>
          <a:ln w="19050">
            <a:solidFill>
              <a:srgbClr val="D97706"/>
            </a:solidFill>
            <a:prstDash val="solid"/>
          </a:ln>
          <a:effectLst>
            <a:outerShdw blurRad="101600" dist="25400" dir="8100000" algn="bl" rotWithShape="0">
              <a:srgbClr val="000000">
                <a:alpha val="10000"/>
              </a:srgbClr>
            </a:outerShdw>
          </a:effectLst>
        </p:spPr>
        <p:txBody>
          <a:bodyPr/>
          <a:lstStyle/>
          <a:p>
            <a:endParaRPr lang="en-US"/>
          </a:p>
        </p:txBody>
      </p:sp>
      <p:sp>
        <p:nvSpPr>
          <p:cNvPr id="32" name="Shape 30"/>
          <p:cNvSpPr/>
          <p:nvPr/>
        </p:nvSpPr>
        <p:spPr>
          <a:xfrm>
            <a:off x="365760" y="3255264"/>
            <a:ext cx="457200" cy="621792"/>
          </a:xfrm>
          <a:prstGeom prst="rect">
            <a:avLst/>
          </a:prstGeom>
          <a:solidFill>
            <a:srgbClr val="D97706"/>
          </a:solidFill>
          <a:ln w="12700">
            <a:solidFill>
              <a:srgbClr val="D97706"/>
            </a:solidFill>
            <a:prstDash val="solid"/>
          </a:ln>
        </p:spPr>
        <p:txBody>
          <a:bodyPr/>
          <a:lstStyle/>
          <a:p>
            <a:endParaRPr lang="en-US"/>
          </a:p>
        </p:txBody>
      </p:sp>
      <p:sp>
        <p:nvSpPr>
          <p:cNvPr id="33" name="Text 31"/>
          <p:cNvSpPr/>
          <p:nvPr/>
        </p:nvSpPr>
        <p:spPr>
          <a:xfrm>
            <a:off x="365760" y="3419856"/>
            <a:ext cx="457200" cy="274320"/>
          </a:xfrm>
          <a:prstGeom prst="rect">
            <a:avLst/>
          </a:prstGeom>
          <a:noFill/>
          <a:ln/>
        </p:spPr>
        <p:txBody>
          <a:bodyPr wrap="square" rtlCol="0" anchor="ctr"/>
          <a:lstStyle/>
          <a:p>
            <a:pPr marL="0" indent="0" algn="ctr">
              <a:buNone/>
            </a:pPr>
            <a:r>
              <a:rPr lang="en-US" sz="1100" b="1" dirty="0">
                <a:solidFill>
                  <a:srgbClr val="FFFFFF"/>
                </a:solidFill>
              </a:rPr>
              <a:t>T5</a:t>
            </a:r>
            <a:endParaRPr lang="en-US" sz="1100" dirty="0"/>
          </a:p>
        </p:txBody>
      </p:sp>
      <p:sp>
        <p:nvSpPr>
          <p:cNvPr id="34" name="Text 32"/>
          <p:cNvSpPr/>
          <p:nvPr/>
        </p:nvSpPr>
        <p:spPr>
          <a:xfrm>
            <a:off x="896112" y="3291840"/>
            <a:ext cx="3520440" cy="256032"/>
          </a:xfrm>
          <a:prstGeom prst="rect">
            <a:avLst/>
          </a:prstGeom>
          <a:noFill/>
          <a:ln/>
        </p:spPr>
        <p:txBody>
          <a:bodyPr wrap="square" rtlCol="0" anchor="ctr"/>
          <a:lstStyle/>
          <a:p>
            <a:pPr marL="0" indent="0">
              <a:buNone/>
            </a:pPr>
            <a:r>
              <a:rPr lang="en-US" sz="1100" b="1" dirty="0">
                <a:solidFill>
                  <a:srgbClr val="D97706"/>
                </a:solidFill>
                <a:latin typeface="Trebuchet MS" pitchFamily="34" charset="0"/>
                <a:ea typeface="Trebuchet MS" pitchFamily="34" charset="-122"/>
                <a:cs typeface="Trebuchet MS" pitchFamily="34" charset="-120"/>
              </a:rPr>
              <a:t>Mental Health</a:t>
            </a:r>
            <a:endParaRPr lang="en-US" sz="1100" dirty="0"/>
          </a:p>
        </p:txBody>
      </p:sp>
      <p:sp>
        <p:nvSpPr>
          <p:cNvPr id="35" name="Text 33"/>
          <p:cNvSpPr/>
          <p:nvPr/>
        </p:nvSpPr>
        <p:spPr>
          <a:xfrm>
            <a:off x="896112" y="3557016"/>
            <a:ext cx="3520440" cy="256032"/>
          </a:xfrm>
          <a:prstGeom prst="rect">
            <a:avLst/>
          </a:prstGeom>
          <a:noFill/>
          <a:ln/>
        </p:spPr>
        <p:txBody>
          <a:bodyPr wrap="square" rtlCol="0" anchor="ctr"/>
          <a:lstStyle/>
          <a:p>
            <a:pPr marL="0" indent="0">
              <a:buNone/>
            </a:pPr>
            <a:r>
              <a:rPr lang="en-US" sz="950" i="1" dirty="0">
                <a:solidFill>
                  <a:srgbClr val="6B7280"/>
                </a:solidFill>
                <a:latin typeface="Calibri" pitchFamily="34" charset="0"/>
                <a:ea typeface="Calibri" pitchFamily="34" charset="-122"/>
                <a:cs typeface="Calibri" pitchFamily="34" charset="-120"/>
              </a:rPr>
              <a:t>anxiety, depression, mood, sleep, panic, attacks</a:t>
            </a:r>
            <a:endParaRPr lang="en-US" sz="950" dirty="0"/>
          </a:p>
        </p:txBody>
      </p:sp>
      <p:sp>
        <p:nvSpPr>
          <p:cNvPr id="36" name="Shape 34"/>
          <p:cNvSpPr/>
          <p:nvPr/>
        </p:nvSpPr>
        <p:spPr>
          <a:xfrm>
            <a:off x="4709160" y="3255264"/>
            <a:ext cx="4114800" cy="621792"/>
          </a:xfrm>
          <a:prstGeom prst="rect">
            <a:avLst/>
          </a:prstGeom>
          <a:solidFill>
            <a:srgbClr val="FFFFFF"/>
          </a:solidFill>
          <a:ln w="19050">
            <a:solidFill>
              <a:srgbClr val="0891B2"/>
            </a:solidFill>
            <a:prstDash val="solid"/>
          </a:ln>
          <a:effectLst>
            <a:outerShdw blurRad="101600" dist="25400" dir="8100000" algn="bl" rotWithShape="0">
              <a:srgbClr val="000000">
                <a:alpha val="10000"/>
              </a:srgbClr>
            </a:outerShdw>
          </a:effectLst>
        </p:spPr>
        <p:txBody>
          <a:bodyPr/>
          <a:lstStyle/>
          <a:p>
            <a:endParaRPr lang="en-US"/>
          </a:p>
        </p:txBody>
      </p:sp>
      <p:sp>
        <p:nvSpPr>
          <p:cNvPr id="37" name="Shape 35"/>
          <p:cNvSpPr/>
          <p:nvPr/>
        </p:nvSpPr>
        <p:spPr>
          <a:xfrm>
            <a:off x="4709160" y="3255264"/>
            <a:ext cx="457200" cy="621792"/>
          </a:xfrm>
          <a:prstGeom prst="rect">
            <a:avLst/>
          </a:prstGeom>
          <a:solidFill>
            <a:srgbClr val="0891B2"/>
          </a:solidFill>
          <a:ln w="12700">
            <a:solidFill>
              <a:srgbClr val="0891B2"/>
            </a:solidFill>
            <a:prstDash val="solid"/>
          </a:ln>
        </p:spPr>
        <p:txBody>
          <a:bodyPr/>
          <a:lstStyle/>
          <a:p>
            <a:endParaRPr lang="en-US"/>
          </a:p>
        </p:txBody>
      </p:sp>
      <p:sp>
        <p:nvSpPr>
          <p:cNvPr id="38" name="Text 36"/>
          <p:cNvSpPr/>
          <p:nvPr/>
        </p:nvSpPr>
        <p:spPr>
          <a:xfrm>
            <a:off x="4709160" y="3419856"/>
            <a:ext cx="457200" cy="274320"/>
          </a:xfrm>
          <a:prstGeom prst="rect">
            <a:avLst/>
          </a:prstGeom>
          <a:noFill/>
          <a:ln/>
        </p:spPr>
        <p:txBody>
          <a:bodyPr wrap="square" rtlCol="0" anchor="ctr"/>
          <a:lstStyle/>
          <a:p>
            <a:pPr marL="0" indent="0" algn="ctr">
              <a:buNone/>
            </a:pPr>
            <a:r>
              <a:rPr lang="en-US" sz="1100" b="1" dirty="0">
                <a:solidFill>
                  <a:srgbClr val="FFFFFF"/>
                </a:solidFill>
              </a:rPr>
              <a:t>T6</a:t>
            </a:r>
            <a:endParaRPr lang="en-US" sz="1100" dirty="0"/>
          </a:p>
        </p:txBody>
      </p:sp>
      <p:sp>
        <p:nvSpPr>
          <p:cNvPr id="39" name="Text 37"/>
          <p:cNvSpPr/>
          <p:nvPr/>
        </p:nvSpPr>
        <p:spPr>
          <a:xfrm>
            <a:off x="5239512" y="3291840"/>
            <a:ext cx="3520440" cy="256032"/>
          </a:xfrm>
          <a:prstGeom prst="rect">
            <a:avLst/>
          </a:prstGeom>
          <a:noFill/>
          <a:ln/>
        </p:spPr>
        <p:txBody>
          <a:bodyPr wrap="square" rtlCol="0" anchor="ctr"/>
          <a:lstStyle/>
          <a:p>
            <a:pPr marL="0" indent="0">
              <a:buNone/>
            </a:pPr>
            <a:r>
              <a:rPr lang="en-US" sz="1100" b="1" dirty="0">
                <a:solidFill>
                  <a:srgbClr val="0891B2"/>
                </a:solidFill>
                <a:latin typeface="Trebuchet MS" pitchFamily="34" charset="0"/>
                <a:ea typeface="Trebuchet MS" pitchFamily="34" charset="-122"/>
                <a:cs typeface="Trebuchet MS" pitchFamily="34" charset="-120"/>
              </a:rPr>
              <a:t>Pain Management</a:t>
            </a:r>
            <a:endParaRPr lang="en-US" sz="1100" dirty="0"/>
          </a:p>
        </p:txBody>
      </p:sp>
      <p:sp>
        <p:nvSpPr>
          <p:cNvPr id="40" name="Text 38"/>
          <p:cNvSpPr/>
          <p:nvPr/>
        </p:nvSpPr>
        <p:spPr>
          <a:xfrm>
            <a:off x="5239512" y="3557016"/>
            <a:ext cx="3520440" cy="256032"/>
          </a:xfrm>
          <a:prstGeom prst="rect">
            <a:avLst/>
          </a:prstGeom>
          <a:noFill/>
          <a:ln/>
        </p:spPr>
        <p:txBody>
          <a:bodyPr wrap="square" rtlCol="0" anchor="ctr"/>
          <a:lstStyle/>
          <a:p>
            <a:pPr marL="0" indent="0">
              <a:buNone/>
            </a:pPr>
            <a:r>
              <a:rPr lang="en-US" sz="950" i="1" dirty="0">
                <a:solidFill>
                  <a:srgbClr val="6B7280"/>
                </a:solidFill>
                <a:latin typeface="Calibri" pitchFamily="34" charset="0"/>
                <a:ea typeface="Calibri" pitchFamily="34" charset="-122"/>
                <a:cs typeface="Calibri" pitchFamily="34" charset="-120"/>
              </a:rPr>
              <a:t>pain, back, nerve, chronic, relief, weeks, fibro</a:t>
            </a:r>
            <a:endParaRPr lang="en-US" sz="950" dirty="0"/>
          </a:p>
        </p:txBody>
      </p:sp>
      <p:sp>
        <p:nvSpPr>
          <p:cNvPr id="41" name="Shape 39"/>
          <p:cNvSpPr/>
          <p:nvPr/>
        </p:nvSpPr>
        <p:spPr>
          <a:xfrm>
            <a:off x="365760" y="3968496"/>
            <a:ext cx="4114800" cy="621792"/>
          </a:xfrm>
          <a:prstGeom prst="rect">
            <a:avLst/>
          </a:prstGeom>
          <a:solidFill>
            <a:srgbClr val="FFFFFF"/>
          </a:solidFill>
          <a:ln w="19050">
            <a:solidFill>
              <a:srgbClr val="DB2777"/>
            </a:solidFill>
            <a:prstDash val="solid"/>
          </a:ln>
          <a:effectLst>
            <a:outerShdw blurRad="101600" dist="25400" dir="8100000" algn="bl" rotWithShape="0">
              <a:srgbClr val="000000">
                <a:alpha val="10000"/>
              </a:srgbClr>
            </a:outerShdw>
          </a:effectLst>
        </p:spPr>
        <p:txBody>
          <a:bodyPr/>
          <a:lstStyle/>
          <a:p>
            <a:endParaRPr lang="en-US"/>
          </a:p>
        </p:txBody>
      </p:sp>
      <p:sp>
        <p:nvSpPr>
          <p:cNvPr id="42" name="Shape 40"/>
          <p:cNvSpPr/>
          <p:nvPr/>
        </p:nvSpPr>
        <p:spPr>
          <a:xfrm>
            <a:off x="365760" y="3968496"/>
            <a:ext cx="457200" cy="621792"/>
          </a:xfrm>
          <a:prstGeom prst="rect">
            <a:avLst/>
          </a:prstGeom>
          <a:solidFill>
            <a:srgbClr val="DB2777"/>
          </a:solidFill>
          <a:ln w="12700">
            <a:solidFill>
              <a:srgbClr val="DB2777"/>
            </a:solidFill>
            <a:prstDash val="solid"/>
          </a:ln>
        </p:spPr>
        <p:txBody>
          <a:bodyPr/>
          <a:lstStyle/>
          <a:p>
            <a:endParaRPr lang="en-US"/>
          </a:p>
        </p:txBody>
      </p:sp>
      <p:sp>
        <p:nvSpPr>
          <p:cNvPr id="43" name="Text 41"/>
          <p:cNvSpPr/>
          <p:nvPr/>
        </p:nvSpPr>
        <p:spPr>
          <a:xfrm>
            <a:off x="365760" y="4133088"/>
            <a:ext cx="457200" cy="274320"/>
          </a:xfrm>
          <a:prstGeom prst="rect">
            <a:avLst/>
          </a:prstGeom>
          <a:noFill/>
          <a:ln/>
        </p:spPr>
        <p:txBody>
          <a:bodyPr wrap="square" rtlCol="0" anchor="ctr"/>
          <a:lstStyle/>
          <a:p>
            <a:pPr marL="0" indent="0" algn="ctr">
              <a:buNone/>
            </a:pPr>
            <a:r>
              <a:rPr lang="en-US" sz="1100" b="1" dirty="0">
                <a:solidFill>
                  <a:srgbClr val="FFFFFF"/>
                </a:solidFill>
              </a:rPr>
              <a:t>T7</a:t>
            </a:r>
            <a:endParaRPr lang="en-US" sz="1100" dirty="0"/>
          </a:p>
        </p:txBody>
      </p:sp>
      <p:sp>
        <p:nvSpPr>
          <p:cNvPr id="44" name="Text 42"/>
          <p:cNvSpPr/>
          <p:nvPr/>
        </p:nvSpPr>
        <p:spPr>
          <a:xfrm>
            <a:off x="896112" y="4005072"/>
            <a:ext cx="3520440" cy="256032"/>
          </a:xfrm>
          <a:prstGeom prst="rect">
            <a:avLst/>
          </a:prstGeom>
          <a:noFill/>
          <a:ln/>
        </p:spPr>
        <p:txBody>
          <a:bodyPr wrap="square" rtlCol="0" anchor="ctr"/>
          <a:lstStyle/>
          <a:p>
            <a:pPr marL="0" indent="0">
              <a:buNone/>
            </a:pPr>
            <a:r>
              <a:rPr lang="en-US" sz="1100" b="1" dirty="0">
                <a:solidFill>
                  <a:srgbClr val="DB2777"/>
                </a:solidFill>
                <a:latin typeface="Trebuchet MS" pitchFamily="34" charset="0"/>
                <a:ea typeface="Trebuchet MS" pitchFamily="34" charset="-122"/>
                <a:cs typeface="Trebuchet MS" pitchFamily="34" charset="-120"/>
              </a:rPr>
              <a:t>Weight/Metabolism</a:t>
            </a:r>
            <a:endParaRPr lang="en-US" sz="1100" dirty="0"/>
          </a:p>
        </p:txBody>
      </p:sp>
      <p:sp>
        <p:nvSpPr>
          <p:cNvPr id="45" name="Text 43"/>
          <p:cNvSpPr/>
          <p:nvPr/>
        </p:nvSpPr>
        <p:spPr>
          <a:xfrm>
            <a:off x="896112" y="4270248"/>
            <a:ext cx="3520440" cy="256032"/>
          </a:xfrm>
          <a:prstGeom prst="rect">
            <a:avLst/>
          </a:prstGeom>
          <a:noFill/>
          <a:ln/>
        </p:spPr>
        <p:txBody>
          <a:bodyPr wrap="square" rtlCol="0" anchor="ctr"/>
          <a:lstStyle/>
          <a:p>
            <a:pPr marL="0" indent="0">
              <a:buNone/>
            </a:pPr>
            <a:r>
              <a:rPr lang="en-US" sz="950" i="1" dirty="0">
                <a:solidFill>
                  <a:srgbClr val="6B7280"/>
                </a:solidFill>
                <a:latin typeface="Calibri" pitchFamily="34" charset="0"/>
                <a:ea typeface="Calibri" pitchFamily="34" charset="-122"/>
                <a:cs typeface="Calibri" pitchFamily="34" charset="-120"/>
              </a:rPr>
              <a:t>weight, diabetes, sugar, levels, insulin, a1c</a:t>
            </a:r>
            <a:endParaRPr lang="en-US" sz="950" dirty="0"/>
          </a:p>
        </p:txBody>
      </p:sp>
      <p:sp>
        <p:nvSpPr>
          <p:cNvPr id="46" name="Shape 44"/>
          <p:cNvSpPr/>
          <p:nvPr/>
        </p:nvSpPr>
        <p:spPr>
          <a:xfrm>
            <a:off x="4709160" y="3968496"/>
            <a:ext cx="4114800" cy="621792"/>
          </a:xfrm>
          <a:prstGeom prst="rect">
            <a:avLst/>
          </a:prstGeom>
          <a:solidFill>
            <a:srgbClr val="FFFFFF"/>
          </a:solidFill>
          <a:ln w="19050">
            <a:solidFill>
              <a:srgbClr val="6B7280"/>
            </a:solidFill>
            <a:prstDash val="solid"/>
          </a:ln>
          <a:effectLst>
            <a:outerShdw blurRad="101600" dist="25400" dir="8100000" algn="bl" rotWithShape="0">
              <a:srgbClr val="000000">
                <a:alpha val="10000"/>
              </a:srgbClr>
            </a:outerShdw>
          </a:effectLst>
        </p:spPr>
        <p:txBody>
          <a:bodyPr/>
          <a:lstStyle/>
          <a:p>
            <a:endParaRPr lang="en-US"/>
          </a:p>
        </p:txBody>
      </p:sp>
      <p:sp>
        <p:nvSpPr>
          <p:cNvPr id="47" name="Shape 45"/>
          <p:cNvSpPr/>
          <p:nvPr/>
        </p:nvSpPr>
        <p:spPr>
          <a:xfrm>
            <a:off x="4709160" y="3968496"/>
            <a:ext cx="457200" cy="621792"/>
          </a:xfrm>
          <a:prstGeom prst="rect">
            <a:avLst/>
          </a:prstGeom>
          <a:solidFill>
            <a:srgbClr val="6B7280"/>
          </a:solidFill>
          <a:ln w="12700">
            <a:solidFill>
              <a:srgbClr val="6B7280"/>
            </a:solidFill>
            <a:prstDash val="solid"/>
          </a:ln>
        </p:spPr>
        <p:txBody>
          <a:bodyPr/>
          <a:lstStyle/>
          <a:p>
            <a:endParaRPr lang="en-US"/>
          </a:p>
        </p:txBody>
      </p:sp>
      <p:sp>
        <p:nvSpPr>
          <p:cNvPr id="48" name="Text 46"/>
          <p:cNvSpPr/>
          <p:nvPr/>
        </p:nvSpPr>
        <p:spPr>
          <a:xfrm>
            <a:off x="4709160" y="4133088"/>
            <a:ext cx="457200" cy="274320"/>
          </a:xfrm>
          <a:prstGeom prst="rect">
            <a:avLst/>
          </a:prstGeom>
          <a:noFill/>
          <a:ln/>
        </p:spPr>
        <p:txBody>
          <a:bodyPr wrap="square" rtlCol="0" anchor="ctr"/>
          <a:lstStyle/>
          <a:p>
            <a:pPr marL="0" indent="0" algn="ctr">
              <a:buNone/>
            </a:pPr>
            <a:r>
              <a:rPr lang="en-US" sz="1100" b="1" dirty="0">
                <a:solidFill>
                  <a:srgbClr val="FFFFFF"/>
                </a:solidFill>
              </a:rPr>
              <a:t>T8</a:t>
            </a:r>
            <a:endParaRPr lang="en-US" sz="1100" dirty="0"/>
          </a:p>
        </p:txBody>
      </p:sp>
      <p:sp>
        <p:nvSpPr>
          <p:cNvPr id="49" name="Text 47"/>
          <p:cNvSpPr/>
          <p:nvPr/>
        </p:nvSpPr>
        <p:spPr>
          <a:xfrm>
            <a:off x="5239512" y="4005072"/>
            <a:ext cx="3520440" cy="256032"/>
          </a:xfrm>
          <a:prstGeom prst="rect">
            <a:avLst/>
          </a:prstGeom>
          <a:noFill/>
          <a:ln/>
        </p:spPr>
        <p:txBody>
          <a:bodyPr wrap="square" rtlCol="0" anchor="ctr"/>
          <a:lstStyle/>
          <a:p>
            <a:pPr marL="0" indent="0">
              <a:buNone/>
            </a:pPr>
            <a:r>
              <a:rPr lang="en-US" sz="1100" b="1" dirty="0">
                <a:solidFill>
                  <a:srgbClr val="6B7280"/>
                </a:solidFill>
                <a:latin typeface="Trebuchet MS" pitchFamily="34" charset="0"/>
                <a:ea typeface="Trebuchet MS" pitchFamily="34" charset="-122"/>
                <a:cs typeface="Trebuchet MS" pitchFamily="34" charset="-120"/>
              </a:rPr>
              <a:t>General Exp.</a:t>
            </a:r>
            <a:endParaRPr lang="en-US" sz="1100" dirty="0"/>
          </a:p>
        </p:txBody>
      </p:sp>
      <p:sp>
        <p:nvSpPr>
          <p:cNvPr id="50" name="Text 48"/>
          <p:cNvSpPr/>
          <p:nvPr/>
        </p:nvSpPr>
        <p:spPr>
          <a:xfrm>
            <a:off x="5239512" y="4270248"/>
            <a:ext cx="3520440" cy="256032"/>
          </a:xfrm>
          <a:prstGeom prst="rect">
            <a:avLst/>
          </a:prstGeom>
          <a:noFill/>
          <a:ln/>
        </p:spPr>
        <p:txBody>
          <a:bodyPr wrap="square" rtlCol="0" anchor="ctr"/>
          <a:lstStyle/>
          <a:p>
            <a:pPr marL="0" indent="0">
              <a:buNone/>
            </a:pPr>
            <a:r>
              <a:rPr lang="en-US" sz="950" i="1" dirty="0">
                <a:solidFill>
                  <a:srgbClr val="6B7280"/>
                </a:solidFill>
                <a:latin typeface="Calibri" pitchFamily="34" charset="0"/>
                <a:ea typeface="Calibri" pitchFamily="34" charset="-122"/>
                <a:cs typeface="Calibri" pitchFamily="34" charset="-120"/>
              </a:rPr>
              <a:t>doctor, medication, taking, months, years, trying</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365760" y="201168"/>
            <a:ext cx="2377440" cy="256032"/>
          </a:xfrm>
          <a:prstGeom prst="rect">
            <a:avLst/>
          </a:prstGeom>
          <a:solidFill>
            <a:srgbClr val="2563EB"/>
          </a:solidFill>
          <a:ln w="12700">
            <a:solidFill>
              <a:srgbClr val="2563EB"/>
            </a:solidFill>
            <a:prstDash val="solid"/>
          </a:ln>
        </p:spPr>
        <p:txBody>
          <a:bodyPr/>
          <a:lstStyle/>
          <a:p>
            <a:endParaRPr lang="en-US"/>
          </a:p>
        </p:txBody>
      </p:sp>
      <p:sp>
        <p:nvSpPr>
          <p:cNvPr id="3" name="Text 1"/>
          <p:cNvSpPr/>
          <p:nvPr/>
        </p:nvSpPr>
        <p:spPr>
          <a:xfrm>
            <a:off x="365760" y="201168"/>
            <a:ext cx="2377440"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rPr>
              <a:t>CLUSTERING</a:t>
            </a:r>
            <a:endParaRPr lang="en-US" sz="800" dirty="0"/>
          </a:p>
        </p:txBody>
      </p:sp>
      <p:sp>
        <p:nvSpPr>
          <p:cNvPr id="4" name="Text 2"/>
          <p:cNvSpPr/>
          <p:nvPr/>
        </p:nvSpPr>
        <p:spPr>
          <a:xfrm>
            <a:off x="365760" y="566928"/>
            <a:ext cx="8412480" cy="640080"/>
          </a:xfrm>
          <a:prstGeom prst="rect">
            <a:avLst/>
          </a:prstGeom>
          <a:noFill/>
          <a:ln/>
        </p:spPr>
        <p:txBody>
          <a:bodyPr wrap="square" rtlCol="0" anchor="ctr"/>
          <a:lstStyle/>
          <a:p>
            <a:pPr marL="0" indent="0">
              <a:buNone/>
            </a:pPr>
            <a:r>
              <a:rPr lang="en-US" sz="2800" b="1" dirty="0">
                <a:solidFill>
                  <a:srgbClr val="111827"/>
                </a:solidFill>
                <a:latin typeface="Trebuchet MS" pitchFamily="34" charset="0"/>
                <a:ea typeface="Trebuchet MS" pitchFamily="34" charset="-122"/>
                <a:cs typeface="Trebuchet MS" pitchFamily="34" charset="-120"/>
              </a:rPr>
              <a:t>K-Means Clustering — 5 Drug Clusters</a:t>
            </a:r>
            <a:endParaRPr lang="en-US" sz="2800" dirty="0"/>
          </a:p>
        </p:txBody>
      </p:sp>
      <p:sp>
        <p:nvSpPr>
          <p:cNvPr id="5" name="Shape 3"/>
          <p:cNvSpPr/>
          <p:nvPr/>
        </p:nvSpPr>
        <p:spPr>
          <a:xfrm>
            <a:off x="365760" y="1298448"/>
            <a:ext cx="8412480" cy="0"/>
          </a:xfrm>
          <a:prstGeom prst="line">
            <a:avLst/>
          </a:prstGeom>
          <a:noFill/>
          <a:ln w="12700">
            <a:solidFill>
              <a:srgbClr val="E5E7EB"/>
            </a:solidFill>
            <a:prstDash val="solid"/>
          </a:ln>
        </p:spPr>
        <p:txBody>
          <a:bodyPr/>
          <a:lstStyle/>
          <a:p>
            <a:endParaRPr lang="en-US"/>
          </a:p>
        </p:txBody>
      </p:sp>
      <p:sp>
        <p:nvSpPr>
          <p:cNvPr id="6" name="Shape 4"/>
          <p:cNvSpPr/>
          <p:nvPr/>
        </p:nvSpPr>
        <p:spPr>
          <a:xfrm>
            <a:off x="0" y="4800600"/>
            <a:ext cx="9144000" cy="347472"/>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365760" y="4809744"/>
            <a:ext cx="7315200" cy="274320"/>
          </a:xfrm>
          <a:prstGeom prst="rect">
            <a:avLst/>
          </a:prstGeom>
          <a:noFill/>
          <a:ln/>
        </p:spPr>
        <p:txBody>
          <a:bodyPr wrap="square" rtlCol="0" anchor="ctr"/>
          <a:lstStyle/>
          <a:p>
            <a:pPr marL="0" indent="0">
              <a:buNone/>
            </a:pPr>
            <a:endParaRPr lang="en-US" sz="900" dirty="0"/>
          </a:p>
        </p:txBody>
      </p:sp>
      <p:sp>
        <p:nvSpPr>
          <p:cNvPr id="8" name="Text 6"/>
          <p:cNvSpPr/>
          <p:nvPr/>
        </p:nvSpPr>
        <p:spPr>
          <a:xfrm>
            <a:off x="4572000" y="4809744"/>
            <a:ext cx="4389120" cy="274320"/>
          </a:xfrm>
          <a:prstGeom prst="rect">
            <a:avLst/>
          </a:prstGeom>
          <a:noFill/>
          <a:ln/>
        </p:spPr>
        <p:txBody>
          <a:bodyPr wrap="square" rtlCol="0" anchor="ctr"/>
          <a:lstStyle/>
          <a:p>
            <a:pPr marL="0" indent="0" algn="r">
              <a:buNone/>
            </a:pPr>
            <a:endParaRPr lang="en-US" sz="900" dirty="0"/>
          </a:p>
        </p:txBody>
      </p:sp>
      <p:sp>
        <p:nvSpPr>
          <p:cNvPr id="9" name="Text 7"/>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AAAAAA"/>
                </a:solidFill>
              </a:rPr>
              <a:t>14 / 25</a:t>
            </a:r>
            <a:endParaRPr lang="en-US" sz="900" dirty="0"/>
          </a:p>
        </p:txBody>
      </p:sp>
      <p:sp>
        <p:nvSpPr>
          <p:cNvPr id="10" name="Text 8"/>
          <p:cNvSpPr/>
          <p:nvPr/>
        </p:nvSpPr>
        <p:spPr>
          <a:xfrm>
            <a:off x="365760" y="1389888"/>
            <a:ext cx="8412480" cy="320040"/>
          </a:xfrm>
          <a:prstGeom prst="rect">
            <a:avLst/>
          </a:prstGeom>
          <a:noFill/>
          <a:ln/>
        </p:spPr>
        <p:txBody>
          <a:bodyPr wrap="square" rtlCol="0" anchor="ctr"/>
          <a:lstStyle/>
          <a:p>
            <a:pPr marL="0" indent="0">
              <a:buNone/>
            </a:pPr>
            <a:r>
              <a:rPr lang="en-US" sz="1200" i="1" dirty="0">
                <a:solidFill>
                  <a:srgbClr val="374151"/>
                </a:solidFill>
                <a:latin typeface="Calibri" pitchFamily="34" charset="0"/>
                <a:ea typeface="Calibri" pitchFamily="34" charset="-122"/>
                <a:cs typeface="Calibri" pitchFamily="34" charset="-120"/>
              </a:rPr>
              <a:t>K-Means (k=5) on 50-drug × 2,518-event-type matrix from FAERS — no pharmacological labels given</a:t>
            </a:r>
            <a:endParaRPr lang="en-US" sz="1200" dirty="0"/>
          </a:p>
        </p:txBody>
      </p:sp>
      <p:sp>
        <p:nvSpPr>
          <p:cNvPr id="11" name="Shape 9"/>
          <p:cNvSpPr/>
          <p:nvPr/>
        </p:nvSpPr>
        <p:spPr>
          <a:xfrm>
            <a:off x="365760" y="1810512"/>
            <a:ext cx="2743200" cy="1298448"/>
          </a:xfrm>
          <a:prstGeom prst="rect">
            <a:avLst/>
          </a:prstGeom>
          <a:solidFill>
            <a:srgbClr val="FFFFFF"/>
          </a:solidFill>
          <a:ln w="12700">
            <a:solidFill>
              <a:srgbClr val="E5E7EB"/>
            </a:solidFill>
            <a:prstDash val="solid"/>
          </a:ln>
          <a:effectLst>
            <a:outerShdw blurRad="101600" dist="25400" dir="8100000" algn="bl" rotWithShape="0">
              <a:srgbClr val="000000">
                <a:alpha val="10000"/>
              </a:srgbClr>
            </a:outerShdw>
          </a:effectLst>
        </p:spPr>
        <p:txBody>
          <a:bodyPr/>
          <a:lstStyle/>
          <a:p>
            <a:endParaRPr lang="en-US"/>
          </a:p>
        </p:txBody>
      </p:sp>
      <p:sp>
        <p:nvSpPr>
          <p:cNvPr id="12" name="Shape 10"/>
          <p:cNvSpPr/>
          <p:nvPr/>
        </p:nvSpPr>
        <p:spPr>
          <a:xfrm>
            <a:off x="365760" y="1810512"/>
            <a:ext cx="54864" cy="1298448"/>
          </a:xfrm>
          <a:prstGeom prst="rect">
            <a:avLst/>
          </a:prstGeom>
          <a:solidFill>
            <a:srgbClr val="9D1535"/>
          </a:solidFill>
          <a:ln w="12700">
            <a:solidFill>
              <a:srgbClr val="9D1535"/>
            </a:solidFill>
            <a:prstDash val="solid"/>
          </a:ln>
        </p:spPr>
        <p:txBody>
          <a:bodyPr/>
          <a:lstStyle/>
          <a:p>
            <a:endParaRPr lang="en-US"/>
          </a:p>
        </p:txBody>
      </p:sp>
      <p:sp>
        <p:nvSpPr>
          <p:cNvPr id="13" name="Text 11"/>
          <p:cNvSpPr/>
          <p:nvPr/>
        </p:nvSpPr>
        <p:spPr>
          <a:xfrm>
            <a:off x="502920" y="1883664"/>
            <a:ext cx="2560320" cy="256032"/>
          </a:xfrm>
          <a:prstGeom prst="rect">
            <a:avLst/>
          </a:prstGeom>
          <a:noFill/>
          <a:ln/>
        </p:spPr>
        <p:txBody>
          <a:bodyPr wrap="square" rtlCol="0" anchor="ctr"/>
          <a:lstStyle/>
          <a:p>
            <a:pPr marL="0" indent="0">
              <a:buNone/>
            </a:pPr>
            <a:r>
              <a:rPr lang="en-US" sz="1100" b="1" dirty="0">
                <a:solidFill>
                  <a:srgbClr val="9D1535"/>
                </a:solidFill>
                <a:latin typeface="Trebuchet MS" pitchFamily="34" charset="0"/>
                <a:ea typeface="Trebuchet MS" pitchFamily="34" charset="-122"/>
                <a:cs typeface="Trebuchet MS" pitchFamily="34" charset="-120"/>
              </a:rPr>
              <a:t>Cluster 1</a:t>
            </a:r>
            <a:endParaRPr lang="en-US" sz="1100" dirty="0"/>
          </a:p>
          <a:p>
            <a:pPr marL="0" indent="0">
              <a:buNone/>
            </a:pPr>
            <a:r>
              <a:rPr lang="en-US" sz="1100" b="1" dirty="0">
                <a:solidFill>
                  <a:srgbClr val="9D1535"/>
                </a:solidFill>
                <a:latin typeface="Trebuchet MS" pitchFamily="34" charset="0"/>
                <a:ea typeface="Trebuchet MS" pitchFamily="34" charset="-122"/>
                <a:cs typeface="Trebuchet MS" pitchFamily="34" charset="-120"/>
              </a:rPr>
              <a:t>Common Oral Generics</a:t>
            </a:r>
            <a:endParaRPr lang="en-US" sz="1100" dirty="0"/>
          </a:p>
        </p:txBody>
      </p:sp>
      <p:sp>
        <p:nvSpPr>
          <p:cNvPr id="14" name="Text 12"/>
          <p:cNvSpPr/>
          <p:nvPr/>
        </p:nvSpPr>
        <p:spPr>
          <a:xfrm>
            <a:off x="502920" y="2157984"/>
            <a:ext cx="2542032" cy="859536"/>
          </a:xfrm>
          <a:prstGeom prst="rect">
            <a:avLst/>
          </a:prstGeom>
          <a:noFill/>
          <a:ln/>
        </p:spPr>
        <p:txBody>
          <a:bodyPr wrap="square" rtlCol="0" anchor="t"/>
          <a:lstStyle/>
          <a:p>
            <a:pPr marL="0" indent="0">
              <a:buNone/>
            </a:pPr>
            <a:r>
              <a:rPr lang="en-US" sz="1100" dirty="0">
                <a:solidFill>
                  <a:srgbClr val="374151"/>
                </a:solidFill>
                <a:latin typeface="Calibri" pitchFamily="34" charset="0"/>
                <a:ea typeface="Calibri" pitchFamily="34" charset="-122"/>
                <a:cs typeface="Calibri" pitchFamily="34" charset="-120"/>
              </a:rPr>
              <a:t>metformin, lisinopril, atorvastatin, simvastatin</a:t>
            </a:r>
            <a:endParaRPr lang="en-US" sz="1100" dirty="0"/>
          </a:p>
          <a:p>
            <a:pPr marL="0" indent="0">
              <a:buNone/>
            </a:pPr>
            <a:r>
              <a:rPr lang="en-US" sz="1100" dirty="0">
                <a:solidFill>
                  <a:srgbClr val="374151"/>
                </a:solidFill>
                <a:latin typeface="Calibri" pitchFamily="34" charset="0"/>
                <a:ea typeface="Calibri" pitchFamily="34" charset="-122"/>
                <a:cs typeface="Calibri" pitchFamily="34" charset="-120"/>
              </a:rPr>
              <a:t>High similarity — many shared mild GI and metabolic events. These are the workhorses of primary care.</a:t>
            </a:r>
            <a:endParaRPr lang="en-US" sz="1100" dirty="0"/>
          </a:p>
        </p:txBody>
      </p:sp>
      <p:sp>
        <p:nvSpPr>
          <p:cNvPr id="15" name="Shape 13"/>
          <p:cNvSpPr/>
          <p:nvPr/>
        </p:nvSpPr>
        <p:spPr>
          <a:xfrm>
            <a:off x="3200400" y="1810512"/>
            <a:ext cx="2743200" cy="1298448"/>
          </a:xfrm>
          <a:prstGeom prst="rect">
            <a:avLst/>
          </a:prstGeom>
          <a:solidFill>
            <a:srgbClr val="FFFFFF"/>
          </a:solidFill>
          <a:ln w="12700">
            <a:solidFill>
              <a:srgbClr val="E5E7EB"/>
            </a:solidFill>
            <a:prstDash val="solid"/>
          </a:ln>
          <a:effectLst>
            <a:outerShdw blurRad="101600" dist="25400" dir="8100000" algn="bl" rotWithShape="0">
              <a:srgbClr val="000000">
                <a:alpha val="10000"/>
              </a:srgbClr>
            </a:outerShdw>
          </a:effectLst>
        </p:spPr>
        <p:txBody>
          <a:bodyPr/>
          <a:lstStyle/>
          <a:p>
            <a:endParaRPr lang="en-US"/>
          </a:p>
        </p:txBody>
      </p:sp>
      <p:sp>
        <p:nvSpPr>
          <p:cNvPr id="16" name="Shape 14"/>
          <p:cNvSpPr/>
          <p:nvPr/>
        </p:nvSpPr>
        <p:spPr>
          <a:xfrm>
            <a:off x="3200400" y="1810512"/>
            <a:ext cx="54864" cy="1298448"/>
          </a:xfrm>
          <a:prstGeom prst="rect">
            <a:avLst/>
          </a:prstGeom>
          <a:solidFill>
            <a:srgbClr val="2563EB"/>
          </a:solidFill>
          <a:ln w="12700">
            <a:solidFill>
              <a:srgbClr val="2563EB"/>
            </a:solidFill>
            <a:prstDash val="solid"/>
          </a:ln>
        </p:spPr>
        <p:txBody>
          <a:bodyPr/>
          <a:lstStyle/>
          <a:p>
            <a:endParaRPr lang="en-US"/>
          </a:p>
        </p:txBody>
      </p:sp>
      <p:sp>
        <p:nvSpPr>
          <p:cNvPr id="17" name="Text 15"/>
          <p:cNvSpPr/>
          <p:nvPr/>
        </p:nvSpPr>
        <p:spPr>
          <a:xfrm>
            <a:off x="3337560" y="1883664"/>
            <a:ext cx="2560320" cy="256032"/>
          </a:xfrm>
          <a:prstGeom prst="rect">
            <a:avLst/>
          </a:prstGeom>
          <a:noFill/>
          <a:ln/>
        </p:spPr>
        <p:txBody>
          <a:bodyPr wrap="square" rtlCol="0" anchor="ctr"/>
          <a:lstStyle/>
          <a:p>
            <a:pPr marL="0" indent="0">
              <a:buNone/>
            </a:pPr>
            <a:r>
              <a:rPr lang="en-US" sz="1100" b="1" dirty="0">
                <a:solidFill>
                  <a:srgbClr val="2563EB"/>
                </a:solidFill>
                <a:latin typeface="Trebuchet MS" pitchFamily="34" charset="0"/>
                <a:ea typeface="Trebuchet MS" pitchFamily="34" charset="-122"/>
                <a:cs typeface="Trebuchet MS" pitchFamily="34" charset="-120"/>
              </a:rPr>
              <a:t>Cluster 2</a:t>
            </a:r>
            <a:endParaRPr lang="en-US" sz="1100" dirty="0"/>
          </a:p>
          <a:p>
            <a:pPr marL="0" indent="0">
              <a:buNone/>
            </a:pPr>
            <a:r>
              <a:rPr lang="en-US" sz="1100" b="1" dirty="0">
                <a:solidFill>
                  <a:srgbClr val="2563EB"/>
                </a:solidFill>
                <a:latin typeface="Trebuchet MS" pitchFamily="34" charset="0"/>
                <a:ea typeface="Trebuchet MS" pitchFamily="34" charset="-122"/>
                <a:cs typeface="Trebuchet MS" pitchFamily="34" charset="-120"/>
              </a:rPr>
              <a:t>Anticoagulants</a:t>
            </a:r>
            <a:endParaRPr lang="en-US" sz="1100" dirty="0"/>
          </a:p>
        </p:txBody>
      </p:sp>
      <p:sp>
        <p:nvSpPr>
          <p:cNvPr id="18" name="Text 16"/>
          <p:cNvSpPr/>
          <p:nvPr/>
        </p:nvSpPr>
        <p:spPr>
          <a:xfrm>
            <a:off x="3337560" y="2157984"/>
            <a:ext cx="2542032" cy="859536"/>
          </a:xfrm>
          <a:prstGeom prst="rect">
            <a:avLst/>
          </a:prstGeom>
          <a:noFill/>
          <a:ln/>
        </p:spPr>
        <p:txBody>
          <a:bodyPr wrap="square" rtlCol="0" anchor="t"/>
          <a:lstStyle/>
          <a:p>
            <a:pPr marL="0" indent="0">
              <a:buNone/>
            </a:pPr>
            <a:r>
              <a:rPr lang="en-US" sz="1100" dirty="0">
                <a:solidFill>
                  <a:srgbClr val="374151"/>
                </a:solidFill>
                <a:latin typeface="Calibri" pitchFamily="34" charset="0"/>
                <a:ea typeface="Calibri" pitchFamily="34" charset="-122"/>
                <a:cs typeface="Calibri" pitchFamily="34" charset="-120"/>
              </a:rPr>
              <a:t>warfarin, apixaban, rivaroxaban, clopidogrel</a:t>
            </a:r>
            <a:endParaRPr lang="en-US" sz="1100" dirty="0"/>
          </a:p>
          <a:p>
            <a:pPr marL="0" indent="0">
              <a:buNone/>
            </a:pPr>
            <a:r>
              <a:rPr lang="en-US" sz="1100" dirty="0">
                <a:solidFill>
                  <a:srgbClr val="374151"/>
                </a:solidFill>
                <a:latin typeface="Calibri" pitchFamily="34" charset="0"/>
                <a:ea typeface="Calibri" pitchFamily="34" charset="-122"/>
                <a:cs typeface="Calibri" pitchFamily="34" charset="-120"/>
              </a:rPr>
              <a:t>Blood-thinning event profile — bruising, bleeding, INR changes. Algorithm confirmed drug class with no label.</a:t>
            </a:r>
            <a:endParaRPr lang="en-US" sz="1100" dirty="0"/>
          </a:p>
        </p:txBody>
      </p:sp>
      <p:sp>
        <p:nvSpPr>
          <p:cNvPr id="19" name="Shape 17"/>
          <p:cNvSpPr/>
          <p:nvPr/>
        </p:nvSpPr>
        <p:spPr>
          <a:xfrm>
            <a:off x="6035040" y="1810512"/>
            <a:ext cx="2743200" cy="1298448"/>
          </a:xfrm>
          <a:prstGeom prst="rect">
            <a:avLst/>
          </a:prstGeom>
          <a:solidFill>
            <a:srgbClr val="FFFFFF"/>
          </a:solidFill>
          <a:ln w="12700">
            <a:solidFill>
              <a:srgbClr val="E5E7EB"/>
            </a:solidFill>
            <a:prstDash val="solid"/>
          </a:ln>
          <a:effectLst>
            <a:outerShdw blurRad="101600" dist="25400" dir="8100000" algn="bl" rotWithShape="0">
              <a:srgbClr val="000000">
                <a:alpha val="10000"/>
              </a:srgbClr>
            </a:outerShdw>
          </a:effectLst>
        </p:spPr>
        <p:txBody>
          <a:bodyPr/>
          <a:lstStyle/>
          <a:p>
            <a:endParaRPr lang="en-US"/>
          </a:p>
        </p:txBody>
      </p:sp>
      <p:sp>
        <p:nvSpPr>
          <p:cNvPr id="20" name="Shape 18"/>
          <p:cNvSpPr/>
          <p:nvPr/>
        </p:nvSpPr>
        <p:spPr>
          <a:xfrm>
            <a:off x="6035040" y="1810512"/>
            <a:ext cx="54864" cy="1298448"/>
          </a:xfrm>
          <a:prstGeom prst="rect">
            <a:avLst/>
          </a:prstGeom>
          <a:solidFill>
            <a:srgbClr val="7C3AED"/>
          </a:solidFill>
          <a:ln w="12700">
            <a:solidFill>
              <a:srgbClr val="7C3AED"/>
            </a:solidFill>
            <a:prstDash val="solid"/>
          </a:ln>
        </p:spPr>
        <p:txBody>
          <a:bodyPr/>
          <a:lstStyle/>
          <a:p>
            <a:endParaRPr lang="en-US"/>
          </a:p>
        </p:txBody>
      </p:sp>
      <p:sp>
        <p:nvSpPr>
          <p:cNvPr id="21" name="Text 19"/>
          <p:cNvSpPr/>
          <p:nvPr/>
        </p:nvSpPr>
        <p:spPr>
          <a:xfrm>
            <a:off x="6172200" y="1883664"/>
            <a:ext cx="2560320" cy="256032"/>
          </a:xfrm>
          <a:prstGeom prst="rect">
            <a:avLst/>
          </a:prstGeom>
          <a:noFill/>
          <a:ln/>
        </p:spPr>
        <p:txBody>
          <a:bodyPr wrap="square" rtlCol="0" anchor="ctr"/>
          <a:lstStyle/>
          <a:p>
            <a:pPr marL="0" indent="0">
              <a:buNone/>
            </a:pPr>
            <a:r>
              <a:rPr lang="en-US" sz="1100" b="1" dirty="0">
                <a:solidFill>
                  <a:srgbClr val="7C3AED"/>
                </a:solidFill>
                <a:latin typeface="Trebuchet MS" pitchFamily="34" charset="0"/>
                <a:ea typeface="Trebuchet MS" pitchFamily="34" charset="-122"/>
                <a:cs typeface="Trebuchet MS" pitchFamily="34" charset="-120"/>
              </a:rPr>
              <a:t>Cluster 3</a:t>
            </a:r>
            <a:endParaRPr lang="en-US" sz="1100" dirty="0"/>
          </a:p>
          <a:p>
            <a:pPr marL="0" indent="0">
              <a:buNone/>
            </a:pPr>
            <a:r>
              <a:rPr lang="en-US" sz="1100" b="1" dirty="0">
                <a:solidFill>
                  <a:srgbClr val="7C3AED"/>
                </a:solidFill>
                <a:latin typeface="Trebuchet MS" pitchFamily="34" charset="0"/>
                <a:ea typeface="Trebuchet MS" pitchFamily="34" charset="-122"/>
                <a:cs typeface="Trebuchet MS" pitchFamily="34" charset="-120"/>
              </a:rPr>
              <a:t>Psychiatric Drugs</a:t>
            </a:r>
            <a:endParaRPr lang="en-US" sz="1100" dirty="0"/>
          </a:p>
        </p:txBody>
      </p:sp>
      <p:sp>
        <p:nvSpPr>
          <p:cNvPr id="22" name="Text 20"/>
          <p:cNvSpPr/>
          <p:nvPr/>
        </p:nvSpPr>
        <p:spPr>
          <a:xfrm>
            <a:off x="6172200" y="2157984"/>
            <a:ext cx="2542032" cy="859536"/>
          </a:xfrm>
          <a:prstGeom prst="rect">
            <a:avLst/>
          </a:prstGeom>
          <a:noFill/>
          <a:ln/>
        </p:spPr>
        <p:txBody>
          <a:bodyPr wrap="square" rtlCol="0" anchor="t"/>
          <a:lstStyle/>
          <a:p>
            <a:pPr marL="0" indent="0">
              <a:buNone/>
            </a:pPr>
            <a:r>
              <a:rPr lang="en-US" sz="1100" dirty="0">
                <a:solidFill>
                  <a:srgbClr val="374151"/>
                </a:solidFill>
                <a:latin typeface="Calibri" pitchFamily="34" charset="0"/>
                <a:ea typeface="Calibri" pitchFamily="34" charset="-122"/>
                <a:cs typeface="Calibri" pitchFamily="34" charset="-120"/>
              </a:rPr>
              <a:t>sertraline, escitalopram, alprazolam, clonazepam</a:t>
            </a:r>
            <a:endParaRPr lang="en-US" sz="1100" dirty="0"/>
          </a:p>
          <a:p>
            <a:pPr marL="0" indent="0">
              <a:buNone/>
            </a:pPr>
            <a:r>
              <a:rPr lang="en-US" sz="1100" dirty="0">
                <a:solidFill>
                  <a:srgbClr val="374151"/>
                </a:solidFill>
                <a:latin typeface="Calibri" pitchFamily="34" charset="0"/>
                <a:ea typeface="Calibri" pitchFamily="34" charset="-122"/>
                <a:cs typeface="Calibri" pitchFamily="34" charset="-120"/>
              </a:rPr>
              <a:t>CNS event profile — dizziness, somnolence, withdrawal. Grouped correctly across two drug classes.</a:t>
            </a:r>
            <a:endParaRPr lang="en-US" sz="1100" dirty="0"/>
          </a:p>
        </p:txBody>
      </p:sp>
      <p:sp>
        <p:nvSpPr>
          <p:cNvPr id="23" name="Shape 21"/>
          <p:cNvSpPr/>
          <p:nvPr/>
        </p:nvSpPr>
        <p:spPr>
          <a:xfrm>
            <a:off x="365760" y="3200400"/>
            <a:ext cx="4206240" cy="1508760"/>
          </a:xfrm>
          <a:prstGeom prst="rect">
            <a:avLst/>
          </a:prstGeom>
          <a:solidFill>
            <a:srgbClr val="FFFFFF"/>
          </a:solidFill>
          <a:ln w="12700">
            <a:solidFill>
              <a:srgbClr val="E5E7EB"/>
            </a:solidFill>
            <a:prstDash val="solid"/>
          </a:ln>
          <a:effectLst>
            <a:outerShdw blurRad="101600" dist="25400" dir="8100000" algn="bl" rotWithShape="0">
              <a:srgbClr val="000000">
                <a:alpha val="10000"/>
              </a:srgbClr>
            </a:outerShdw>
          </a:effectLst>
        </p:spPr>
        <p:txBody>
          <a:bodyPr/>
          <a:lstStyle/>
          <a:p>
            <a:endParaRPr lang="en-US"/>
          </a:p>
        </p:txBody>
      </p:sp>
      <p:sp>
        <p:nvSpPr>
          <p:cNvPr id="24" name="Shape 22"/>
          <p:cNvSpPr/>
          <p:nvPr/>
        </p:nvSpPr>
        <p:spPr>
          <a:xfrm>
            <a:off x="365760" y="3200400"/>
            <a:ext cx="54864" cy="1508760"/>
          </a:xfrm>
          <a:prstGeom prst="rect">
            <a:avLst/>
          </a:prstGeom>
          <a:solidFill>
            <a:srgbClr val="D97706"/>
          </a:solidFill>
          <a:ln w="12700">
            <a:solidFill>
              <a:srgbClr val="D97706"/>
            </a:solidFill>
            <a:prstDash val="solid"/>
          </a:ln>
        </p:spPr>
        <p:txBody>
          <a:bodyPr/>
          <a:lstStyle/>
          <a:p>
            <a:endParaRPr lang="en-US"/>
          </a:p>
        </p:txBody>
      </p:sp>
      <p:sp>
        <p:nvSpPr>
          <p:cNvPr id="25" name="Text 23"/>
          <p:cNvSpPr/>
          <p:nvPr/>
        </p:nvSpPr>
        <p:spPr>
          <a:xfrm>
            <a:off x="502920" y="3273552"/>
            <a:ext cx="4023360" cy="256032"/>
          </a:xfrm>
          <a:prstGeom prst="rect">
            <a:avLst/>
          </a:prstGeom>
          <a:noFill/>
          <a:ln/>
        </p:spPr>
        <p:txBody>
          <a:bodyPr wrap="square" rtlCol="0" anchor="ctr"/>
          <a:lstStyle/>
          <a:p>
            <a:pPr marL="0" indent="0">
              <a:buNone/>
            </a:pPr>
            <a:r>
              <a:rPr lang="en-US" sz="1100" b="1" dirty="0">
                <a:solidFill>
                  <a:srgbClr val="D97706"/>
                </a:solidFill>
                <a:latin typeface="Trebuchet MS" pitchFamily="34" charset="0"/>
                <a:ea typeface="Trebuchet MS" pitchFamily="34" charset="-122"/>
                <a:cs typeface="Trebuchet MS" pitchFamily="34" charset="-120"/>
              </a:rPr>
              <a:t>Cluster 4</a:t>
            </a:r>
            <a:endParaRPr lang="en-US" sz="1100" dirty="0"/>
          </a:p>
          <a:p>
            <a:pPr marL="0" indent="0">
              <a:buNone/>
            </a:pPr>
            <a:r>
              <a:rPr lang="en-US" sz="1100" b="1" dirty="0">
                <a:solidFill>
                  <a:srgbClr val="D97706"/>
                </a:solidFill>
                <a:latin typeface="Trebuchet MS" pitchFamily="34" charset="0"/>
                <a:ea typeface="Trebuchet MS" pitchFamily="34" charset="-122"/>
                <a:cs typeface="Trebuchet MS" pitchFamily="34" charset="-120"/>
              </a:rPr>
              <a:t>Insulins</a:t>
            </a:r>
            <a:endParaRPr lang="en-US" sz="1100" dirty="0"/>
          </a:p>
        </p:txBody>
      </p:sp>
      <p:sp>
        <p:nvSpPr>
          <p:cNvPr id="26" name="Text 24"/>
          <p:cNvSpPr/>
          <p:nvPr/>
        </p:nvSpPr>
        <p:spPr>
          <a:xfrm>
            <a:off x="502920" y="3547872"/>
            <a:ext cx="4005072" cy="1069848"/>
          </a:xfrm>
          <a:prstGeom prst="rect">
            <a:avLst/>
          </a:prstGeom>
          <a:noFill/>
          <a:ln/>
        </p:spPr>
        <p:txBody>
          <a:bodyPr wrap="square" rtlCol="0" anchor="t"/>
          <a:lstStyle/>
          <a:p>
            <a:pPr marL="0" indent="0">
              <a:buNone/>
            </a:pPr>
            <a:r>
              <a:rPr lang="en-US" sz="1100" dirty="0">
                <a:solidFill>
                  <a:srgbClr val="374151"/>
                </a:solidFill>
                <a:latin typeface="Calibri" pitchFamily="34" charset="0"/>
                <a:ea typeface="Calibri" pitchFamily="34" charset="-122"/>
                <a:cs typeface="Calibri" pitchFamily="34" charset="-120"/>
              </a:rPr>
              <a:t>insulin glargine + insulin lispro</a:t>
            </a:r>
            <a:endParaRPr lang="en-US" sz="1100" dirty="0"/>
          </a:p>
          <a:p>
            <a:pPr marL="0" indent="0">
              <a:buNone/>
            </a:pPr>
            <a:r>
              <a:rPr lang="en-US" sz="1100" dirty="0">
                <a:solidFill>
                  <a:srgbClr val="374151"/>
                </a:solidFill>
                <a:latin typeface="Calibri" pitchFamily="34" charset="0"/>
                <a:ea typeface="Calibri" pitchFamily="34" charset="-122"/>
                <a:cs typeface="Calibri" pitchFamily="34" charset="-120"/>
              </a:rPr>
              <a:t>Grouped perfectly — identical injection-site and hypoglycemia event profiles. Algorithm identified them as a pair.</a:t>
            </a:r>
            <a:endParaRPr lang="en-US" sz="1100" dirty="0"/>
          </a:p>
        </p:txBody>
      </p:sp>
      <p:sp>
        <p:nvSpPr>
          <p:cNvPr id="27" name="Shape 25"/>
          <p:cNvSpPr/>
          <p:nvPr/>
        </p:nvSpPr>
        <p:spPr>
          <a:xfrm>
            <a:off x="4754880" y="3200400"/>
            <a:ext cx="4114800" cy="1508760"/>
          </a:xfrm>
          <a:prstGeom prst="rect">
            <a:avLst/>
          </a:prstGeom>
          <a:solidFill>
            <a:srgbClr val="FFFFFF"/>
          </a:solidFill>
          <a:ln w="12700">
            <a:solidFill>
              <a:srgbClr val="E5E7EB"/>
            </a:solidFill>
            <a:prstDash val="solid"/>
          </a:ln>
          <a:effectLst>
            <a:outerShdw blurRad="101600" dist="25400" dir="8100000" algn="bl" rotWithShape="0">
              <a:srgbClr val="000000">
                <a:alpha val="10000"/>
              </a:srgbClr>
            </a:outerShdw>
          </a:effectLst>
        </p:spPr>
        <p:txBody>
          <a:bodyPr/>
          <a:lstStyle/>
          <a:p>
            <a:endParaRPr lang="en-US"/>
          </a:p>
        </p:txBody>
      </p:sp>
      <p:sp>
        <p:nvSpPr>
          <p:cNvPr id="28" name="Shape 26"/>
          <p:cNvSpPr/>
          <p:nvPr/>
        </p:nvSpPr>
        <p:spPr>
          <a:xfrm>
            <a:off x="4754880" y="3200400"/>
            <a:ext cx="54864" cy="1508760"/>
          </a:xfrm>
          <a:prstGeom prst="rect">
            <a:avLst/>
          </a:prstGeom>
          <a:solidFill>
            <a:srgbClr val="059669"/>
          </a:solidFill>
          <a:ln w="12700">
            <a:solidFill>
              <a:srgbClr val="059669"/>
            </a:solidFill>
            <a:prstDash val="solid"/>
          </a:ln>
        </p:spPr>
        <p:txBody>
          <a:bodyPr/>
          <a:lstStyle/>
          <a:p>
            <a:endParaRPr lang="en-US"/>
          </a:p>
        </p:txBody>
      </p:sp>
      <p:sp>
        <p:nvSpPr>
          <p:cNvPr id="29" name="Text 27"/>
          <p:cNvSpPr/>
          <p:nvPr/>
        </p:nvSpPr>
        <p:spPr>
          <a:xfrm>
            <a:off x="4892040" y="3273552"/>
            <a:ext cx="3931920" cy="256032"/>
          </a:xfrm>
          <a:prstGeom prst="rect">
            <a:avLst/>
          </a:prstGeom>
          <a:noFill/>
          <a:ln/>
        </p:spPr>
        <p:txBody>
          <a:bodyPr wrap="square" rtlCol="0" anchor="ctr"/>
          <a:lstStyle/>
          <a:p>
            <a:pPr marL="0" indent="0">
              <a:buNone/>
            </a:pPr>
            <a:r>
              <a:rPr lang="en-US" sz="1100" b="1" dirty="0">
                <a:solidFill>
                  <a:srgbClr val="059669"/>
                </a:solidFill>
                <a:latin typeface="Trebuchet MS" pitchFamily="34" charset="0"/>
                <a:ea typeface="Trebuchet MS" pitchFamily="34" charset="-122"/>
                <a:cs typeface="Trebuchet MS" pitchFamily="34" charset="-120"/>
              </a:rPr>
              <a:t>Cluster 5</a:t>
            </a:r>
            <a:endParaRPr lang="en-US" sz="1100" dirty="0"/>
          </a:p>
          <a:p>
            <a:pPr marL="0" indent="0">
              <a:buNone/>
            </a:pPr>
            <a:r>
              <a:rPr lang="en-US" sz="1100" b="1" dirty="0">
                <a:solidFill>
                  <a:srgbClr val="059669"/>
                </a:solidFill>
                <a:latin typeface="Trebuchet MS" pitchFamily="34" charset="0"/>
                <a:ea typeface="Trebuchet MS" pitchFamily="34" charset="-122"/>
                <a:cs typeface="Trebuchet MS" pitchFamily="34" charset="-120"/>
              </a:rPr>
              <a:t>Semaglutide (Isolated)</a:t>
            </a:r>
            <a:endParaRPr lang="en-US" sz="1100" dirty="0"/>
          </a:p>
        </p:txBody>
      </p:sp>
      <p:sp>
        <p:nvSpPr>
          <p:cNvPr id="30" name="Text 28"/>
          <p:cNvSpPr/>
          <p:nvPr/>
        </p:nvSpPr>
        <p:spPr>
          <a:xfrm>
            <a:off x="4892040" y="3547872"/>
            <a:ext cx="3913632" cy="1069848"/>
          </a:xfrm>
          <a:prstGeom prst="rect">
            <a:avLst/>
          </a:prstGeom>
          <a:noFill/>
          <a:ln/>
        </p:spPr>
        <p:txBody>
          <a:bodyPr wrap="square" rtlCol="0" anchor="t"/>
          <a:lstStyle/>
          <a:p>
            <a:pPr marL="0" indent="0">
              <a:buNone/>
            </a:pPr>
            <a:r>
              <a:rPr lang="en-US" sz="1100" dirty="0">
                <a:solidFill>
                  <a:srgbClr val="374151"/>
                </a:solidFill>
                <a:latin typeface="Calibri" pitchFamily="34" charset="0"/>
                <a:ea typeface="Calibri" pitchFamily="34" charset="-122"/>
                <a:cs typeface="Calibri" pitchFamily="34" charset="-120"/>
              </a:rPr>
              <a:t>semaglutide alone</a:t>
            </a:r>
            <a:endParaRPr lang="en-US" sz="1100" dirty="0"/>
          </a:p>
          <a:p>
            <a:pPr marL="0" indent="0">
              <a:buNone/>
            </a:pPr>
            <a:r>
              <a:rPr lang="en-US" sz="1100" dirty="0">
                <a:solidFill>
                  <a:srgbClr val="374151"/>
                </a:solidFill>
                <a:latin typeface="Calibri" pitchFamily="34" charset="0"/>
                <a:ea typeface="Calibri" pitchFamily="34" charset="-122"/>
                <a:cs typeface="Calibri" pitchFamily="34" charset="-120"/>
              </a:rPr>
              <a:t>Completely unique GLP-1 receptor agonist adverse event profile. No other drug matched — data independently confirmed its pharmacological uniqueness.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365760" y="201168"/>
            <a:ext cx="2377440" cy="256032"/>
          </a:xfrm>
          <a:prstGeom prst="rect">
            <a:avLst/>
          </a:prstGeom>
          <a:solidFill>
            <a:srgbClr val="2563EB"/>
          </a:solidFill>
          <a:ln w="12700">
            <a:solidFill>
              <a:srgbClr val="2563EB"/>
            </a:solidFill>
            <a:prstDash val="solid"/>
          </a:ln>
        </p:spPr>
        <p:txBody>
          <a:bodyPr/>
          <a:lstStyle/>
          <a:p>
            <a:endParaRPr lang="en-US"/>
          </a:p>
        </p:txBody>
      </p:sp>
      <p:sp>
        <p:nvSpPr>
          <p:cNvPr id="3" name="Text 1"/>
          <p:cNvSpPr/>
          <p:nvPr/>
        </p:nvSpPr>
        <p:spPr>
          <a:xfrm>
            <a:off x="365760" y="201168"/>
            <a:ext cx="2377440"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rPr>
              <a:t>WORD2VEC</a:t>
            </a:r>
            <a:endParaRPr lang="en-US" sz="800" dirty="0"/>
          </a:p>
        </p:txBody>
      </p:sp>
      <p:sp>
        <p:nvSpPr>
          <p:cNvPr id="4" name="Text 2"/>
          <p:cNvSpPr/>
          <p:nvPr/>
        </p:nvSpPr>
        <p:spPr>
          <a:xfrm>
            <a:off x="365760" y="566928"/>
            <a:ext cx="8412480" cy="640080"/>
          </a:xfrm>
          <a:prstGeom prst="rect">
            <a:avLst/>
          </a:prstGeom>
          <a:noFill/>
          <a:ln/>
        </p:spPr>
        <p:txBody>
          <a:bodyPr wrap="square" rtlCol="0" anchor="ctr"/>
          <a:lstStyle/>
          <a:p>
            <a:pPr marL="0" indent="0">
              <a:buNone/>
            </a:pPr>
            <a:r>
              <a:rPr lang="en-US" sz="2800" b="1" dirty="0">
                <a:solidFill>
                  <a:srgbClr val="111827"/>
                </a:solidFill>
                <a:latin typeface="Trebuchet MS" pitchFamily="34" charset="0"/>
                <a:ea typeface="Trebuchet MS" pitchFamily="34" charset="-122"/>
                <a:cs typeface="Trebuchet MS" pitchFamily="34" charset="-120"/>
              </a:rPr>
              <a:t>Word2Vec — Learning Drug Language</a:t>
            </a:r>
            <a:endParaRPr lang="en-US" sz="2800" dirty="0"/>
          </a:p>
        </p:txBody>
      </p:sp>
      <p:sp>
        <p:nvSpPr>
          <p:cNvPr id="5" name="Shape 3"/>
          <p:cNvSpPr/>
          <p:nvPr/>
        </p:nvSpPr>
        <p:spPr>
          <a:xfrm>
            <a:off x="365760" y="1298448"/>
            <a:ext cx="8412480" cy="0"/>
          </a:xfrm>
          <a:prstGeom prst="line">
            <a:avLst/>
          </a:prstGeom>
          <a:noFill/>
          <a:ln w="12700">
            <a:solidFill>
              <a:srgbClr val="E5E7EB"/>
            </a:solidFill>
            <a:prstDash val="solid"/>
          </a:ln>
        </p:spPr>
        <p:txBody>
          <a:bodyPr/>
          <a:lstStyle/>
          <a:p>
            <a:endParaRPr lang="en-US"/>
          </a:p>
        </p:txBody>
      </p:sp>
      <p:sp>
        <p:nvSpPr>
          <p:cNvPr id="6" name="Shape 4"/>
          <p:cNvSpPr/>
          <p:nvPr/>
        </p:nvSpPr>
        <p:spPr>
          <a:xfrm>
            <a:off x="0" y="4811794"/>
            <a:ext cx="9144000" cy="347472"/>
          </a:xfrm>
          <a:prstGeom prst="rect">
            <a:avLst/>
          </a:prstGeom>
          <a:solidFill>
            <a:srgbClr val="F1F5F9"/>
          </a:solidFill>
          <a:ln w="12700">
            <a:solidFill>
              <a:srgbClr val="E2E8F0"/>
            </a:solidFill>
            <a:prstDash val="solid"/>
          </a:ln>
        </p:spPr>
        <p:txBody>
          <a:bodyPr/>
          <a:lstStyle/>
          <a:p>
            <a:endParaRPr lang="en-US" dirty="0"/>
          </a:p>
        </p:txBody>
      </p:sp>
      <p:sp>
        <p:nvSpPr>
          <p:cNvPr id="7" name="Text 5"/>
          <p:cNvSpPr/>
          <p:nvPr/>
        </p:nvSpPr>
        <p:spPr>
          <a:xfrm>
            <a:off x="365760" y="4809744"/>
            <a:ext cx="7315200" cy="274320"/>
          </a:xfrm>
          <a:prstGeom prst="rect">
            <a:avLst/>
          </a:prstGeom>
          <a:noFill/>
          <a:ln/>
        </p:spPr>
        <p:txBody>
          <a:bodyPr wrap="square" rtlCol="0" anchor="ctr"/>
          <a:lstStyle/>
          <a:p>
            <a:pPr marL="0" indent="0">
              <a:buNone/>
            </a:pPr>
            <a:endParaRPr lang="en-US" sz="900" dirty="0"/>
          </a:p>
        </p:txBody>
      </p:sp>
      <p:sp>
        <p:nvSpPr>
          <p:cNvPr id="8" name="Text 6"/>
          <p:cNvSpPr/>
          <p:nvPr/>
        </p:nvSpPr>
        <p:spPr>
          <a:xfrm>
            <a:off x="4572000" y="4809744"/>
            <a:ext cx="4389120" cy="274320"/>
          </a:xfrm>
          <a:prstGeom prst="rect">
            <a:avLst/>
          </a:prstGeom>
          <a:noFill/>
          <a:ln/>
        </p:spPr>
        <p:txBody>
          <a:bodyPr wrap="square" rtlCol="0" anchor="ctr"/>
          <a:lstStyle/>
          <a:p>
            <a:pPr marL="0" indent="0" algn="r">
              <a:buNone/>
            </a:pPr>
            <a:endParaRPr lang="en-US" sz="900" dirty="0"/>
          </a:p>
        </p:txBody>
      </p:sp>
      <p:sp>
        <p:nvSpPr>
          <p:cNvPr id="9" name="Text 7"/>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AAAAAA"/>
                </a:solidFill>
              </a:rPr>
              <a:t>15 / 25</a:t>
            </a:r>
            <a:endParaRPr lang="en-US" sz="900" dirty="0"/>
          </a:p>
        </p:txBody>
      </p:sp>
      <p:sp>
        <p:nvSpPr>
          <p:cNvPr id="10" name="Shape 8"/>
          <p:cNvSpPr/>
          <p:nvPr/>
        </p:nvSpPr>
        <p:spPr>
          <a:xfrm>
            <a:off x="365760" y="1417320"/>
            <a:ext cx="1828800" cy="1005840"/>
          </a:xfrm>
          <a:prstGeom prst="rect">
            <a:avLst/>
          </a:prstGeom>
          <a:solidFill>
            <a:srgbClr val="E8F0FE"/>
          </a:solidFill>
          <a:ln w="25400">
            <a:solidFill>
              <a:srgbClr val="2563EB"/>
            </a:solidFill>
            <a:prstDash val="solid"/>
          </a:ln>
          <a:effectLst>
            <a:outerShdw blurRad="101600" dist="25400" dir="8100000" algn="bl" rotWithShape="0">
              <a:srgbClr val="000000">
                <a:alpha val="10000"/>
              </a:srgbClr>
            </a:outerShdw>
          </a:effectLst>
        </p:spPr>
        <p:txBody>
          <a:bodyPr/>
          <a:lstStyle/>
          <a:p>
            <a:endParaRPr lang="en-US"/>
          </a:p>
        </p:txBody>
      </p:sp>
      <p:sp>
        <p:nvSpPr>
          <p:cNvPr id="11" name="Text 9"/>
          <p:cNvSpPr/>
          <p:nvPr/>
        </p:nvSpPr>
        <p:spPr>
          <a:xfrm>
            <a:off x="365760" y="1490472"/>
            <a:ext cx="1828800" cy="553212"/>
          </a:xfrm>
          <a:prstGeom prst="rect">
            <a:avLst/>
          </a:prstGeom>
          <a:noFill/>
          <a:ln/>
        </p:spPr>
        <p:txBody>
          <a:bodyPr wrap="square" rtlCol="0" anchor="ctr"/>
          <a:lstStyle/>
          <a:p>
            <a:pPr marL="0" indent="0" algn="ctr">
              <a:buNone/>
            </a:pPr>
            <a:r>
              <a:rPr lang="en-US" sz="2800" b="1" dirty="0">
                <a:solidFill>
                  <a:srgbClr val="2563EB"/>
                </a:solidFill>
                <a:latin typeface="Trebuchet MS" pitchFamily="34" charset="0"/>
                <a:ea typeface="Trebuchet MS" pitchFamily="34" charset="-122"/>
                <a:cs typeface="Trebuchet MS" pitchFamily="34" charset="-120"/>
              </a:rPr>
              <a:t>100-dim</a:t>
            </a:r>
            <a:endParaRPr lang="en-US" sz="2800" dirty="0"/>
          </a:p>
        </p:txBody>
      </p:sp>
      <p:sp>
        <p:nvSpPr>
          <p:cNvPr id="12" name="Text 10"/>
          <p:cNvSpPr/>
          <p:nvPr/>
        </p:nvSpPr>
        <p:spPr>
          <a:xfrm>
            <a:off x="365760" y="2000707"/>
            <a:ext cx="1828800" cy="382219"/>
          </a:xfrm>
          <a:prstGeom prst="rect">
            <a:avLst/>
          </a:prstGeom>
          <a:noFill/>
          <a:ln/>
        </p:spPr>
        <p:txBody>
          <a:bodyPr wrap="square" rtlCol="0" anchor="t"/>
          <a:lstStyle/>
          <a:p>
            <a:pPr marL="0" indent="0" algn="ctr">
              <a:buNone/>
            </a:pPr>
            <a:r>
              <a:rPr lang="en-US" sz="950" kern="0" spc="100" dirty="0">
                <a:solidFill>
                  <a:srgbClr val="6B7280"/>
                </a:solidFill>
                <a:latin typeface="Calibri" pitchFamily="34" charset="0"/>
                <a:ea typeface="Calibri" pitchFamily="34" charset="-122"/>
                <a:cs typeface="Calibri" pitchFamily="34" charset="-120"/>
              </a:rPr>
              <a:t>EMBEDDING VECTORS</a:t>
            </a:r>
            <a:endParaRPr lang="en-US" sz="950" dirty="0"/>
          </a:p>
        </p:txBody>
      </p:sp>
      <p:sp>
        <p:nvSpPr>
          <p:cNvPr id="13" name="Shape 11"/>
          <p:cNvSpPr/>
          <p:nvPr/>
        </p:nvSpPr>
        <p:spPr>
          <a:xfrm>
            <a:off x="2331720" y="1417320"/>
            <a:ext cx="1828800" cy="1005840"/>
          </a:xfrm>
          <a:prstGeom prst="rect">
            <a:avLst/>
          </a:prstGeom>
          <a:solidFill>
            <a:srgbClr val="E6F4EA"/>
          </a:solidFill>
          <a:ln w="25400">
            <a:solidFill>
              <a:srgbClr val="059669"/>
            </a:solidFill>
            <a:prstDash val="solid"/>
          </a:ln>
          <a:effectLst>
            <a:outerShdw blurRad="101600" dist="25400" dir="8100000" algn="bl" rotWithShape="0">
              <a:srgbClr val="000000">
                <a:alpha val="10000"/>
              </a:srgbClr>
            </a:outerShdw>
          </a:effectLst>
        </p:spPr>
        <p:txBody>
          <a:bodyPr/>
          <a:lstStyle/>
          <a:p>
            <a:endParaRPr lang="en-US"/>
          </a:p>
        </p:txBody>
      </p:sp>
      <p:sp>
        <p:nvSpPr>
          <p:cNvPr id="14" name="Text 12"/>
          <p:cNvSpPr/>
          <p:nvPr/>
        </p:nvSpPr>
        <p:spPr>
          <a:xfrm>
            <a:off x="2331720" y="1490472"/>
            <a:ext cx="1828800" cy="553212"/>
          </a:xfrm>
          <a:prstGeom prst="rect">
            <a:avLst/>
          </a:prstGeom>
          <a:noFill/>
          <a:ln/>
        </p:spPr>
        <p:txBody>
          <a:bodyPr wrap="square" rtlCol="0" anchor="ctr"/>
          <a:lstStyle/>
          <a:p>
            <a:pPr marL="0" indent="0" algn="ctr">
              <a:buNone/>
            </a:pPr>
            <a:r>
              <a:rPr lang="en-US" sz="2800" b="1" dirty="0">
                <a:solidFill>
                  <a:srgbClr val="059669"/>
                </a:solidFill>
                <a:latin typeface="Trebuchet MS" pitchFamily="34" charset="0"/>
                <a:ea typeface="Trebuchet MS" pitchFamily="34" charset="-122"/>
                <a:cs typeface="Trebuchet MS" pitchFamily="34" charset="-120"/>
              </a:rPr>
              <a:t>2,343</a:t>
            </a:r>
            <a:endParaRPr lang="en-US" sz="2800" dirty="0"/>
          </a:p>
        </p:txBody>
      </p:sp>
      <p:sp>
        <p:nvSpPr>
          <p:cNvPr id="15" name="Text 13"/>
          <p:cNvSpPr/>
          <p:nvPr/>
        </p:nvSpPr>
        <p:spPr>
          <a:xfrm>
            <a:off x="2331720" y="2000707"/>
            <a:ext cx="1828800" cy="382219"/>
          </a:xfrm>
          <a:prstGeom prst="rect">
            <a:avLst/>
          </a:prstGeom>
          <a:noFill/>
          <a:ln/>
        </p:spPr>
        <p:txBody>
          <a:bodyPr wrap="square" rtlCol="0" anchor="t"/>
          <a:lstStyle/>
          <a:p>
            <a:pPr marL="0" indent="0" algn="ctr">
              <a:buNone/>
            </a:pPr>
            <a:r>
              <a:rPr lang="en-US" sz="950" kern="0" spc="100" dirty="0">
                <a:solidFill>
                  <a:srgbClr val="6B7280"/>
                </a:solidFill>
                <a:latin typeface="Calibri" pitchFamily="34" charset="0"/>
                <a:ea typeface="Calibri" pitchFamily="34" charset="-122"/>
                <a:cs typeface="Calibri" pitchFamily="34" charset="-120"/>
              </a:rPr>
              <a:t>UNIQUE TERMS</a:t>
            </a:r>
            <a:endParaRPr lang="en-US" sz="950" dirty="0"/>
          </a:p>
        </p:txBody>
      </p:sp>
      <p:sp>
        <p:nvSpPr>
          <p:cNvPr id="16" name="Shape 14"/>
          <p:cNvSpPr/>
          <p:nvPr/>
        </p:nvSpPr>
        <p:spPr>
          <a:xfrm>
            <a:off x="4297680" y="1417320"/>
            <a:ext cx="1828800" cy="1005840"/>
          </a:xfrm>
          <a:prstGeom prst="rect">
            <a:avLst/>
          </a:prstGeom>
          <a:solidFill>
            <a:srgbClr val="F3E8FF"/>
          </a:solidFill>
          <a:ln w="25400">
            <a:solidFill>
              <a:srgbClr val="7C3AED"/>
            </a:solidFill>
            <a:prstDash val="solid"/>
          </a:ln>
          <a:effectLst>
            <a:outerShdw blurRad="101600" dist="25400" dir="8100000" algn="bl" rotWithShape="0">
              <a:srgbClr val="000000">
                <a:alpha val="10000"/>
              </a:srgbClr>
            </a:outerShdw>
          </a:effectLst>
        </p:spPr>
        <p:txBody>
          <a:bodyPr/>
          <a:lstStyle/>
          <a:p>
            <a:endParaRPr lang="en-US"/>
          </a:p>
        </p:txBody>
      </p:sp>
      <p:sp>
        <p:nvSpPr>
          <p:cNvPr id="17" name="Text 15"/>
          <p:cNvSpPr/>
          <p:nvPr/>
        </p:nvSpPr>
        <p:spPr>
          <a:xfrm>
            <a:off x="4297680" y="1490472"/>
            <a:ext cx="1828800" cy="553212"/>
          </a:xfrm>
          <a:prstGeom prst="rect">
            <a:avLst/>
          </a:prstGeom>
          <a:noFill/>
          <a:ln/>
        </p:spPr>
        <p:txBody>
          <a:bodyPr wrap="square" rtlCol="0" anchor="ctr"/>
          <a:lstStyle/>
          <a:p>
            <a:pPr marL="0" indent="0" algn="ctr">
              <a:buNone/>
            </a:pPr>
            <a:r>
              <a:rPr lang="en-US" sz="2800" b="1" dirty="0">
                <a:solidFill>
                  <a:srgbClr val="7C3AED"/>
                </a:solidFill>
                <a:latin typeface="Trebuchet MS" pitchFamily="34" charset="0"/>
                <a:ea typeface="Trebuchet MS" pitchFamily="34" charset="-122"/>
                <a:cs typeface="Trebuchet MS" pitchFamily="34" charset="-120"/>
              </a:rPr>
              <a:t>3,068</a:t>
            </a:r>
            <a:endParaRPr lang="en-US" sz="2800" dirty="0"/>
          </a:p>
        </p:txBody>
      </p:sp>
      <p:sp>
        <p:nvSpPr>
          <p:cNvPr id="18" name="Text 16"/>
          <p:cNvSpPr/>
          <p:nvPr/>
        </p:nvSpPr>
        <p:spPr>
          <a:xfrm>
            <a:off x="4297680" y="2000707"/>
            <a:ext cx="1828800" cy="382219"/>
          </a:xfrm>
          <a:prstGeom prst="rect">
            <a:avLst/>
          </a:prstGeom>
          <a:noFill/>
          <a:ln/>
        </p:spPr>
        <p:txBody>
          <a:bodyPr wrap="square" rtlCol="0" anchor="t"/>
          <a:lstStyle/>
          <a:p>
            <a:pPr marL="0" indent="0" algn="ctr">
              <a:buNone/>
            </a:pPr>
            <a:r>
              <a:rPr lang="en-US" sz="950" kern="0" spc="100" dirty="0">
                <a:solidFill>
                  <a:srgbClr val="6B7280"/>
                </a:solidFill>
                <a:latin typeface="Calibri" pitchFamily="34" charset="0"/>
                <a:ea typeface="Calibri" pitchFamily="34" charset="-122"/>
                <a:cs typeface="Calibri" pitchFamily="34" charset="-120"/>
              </a:rPr>
              <a:t>TRAINING REVIEWS</a:t>
            </a:r>
            <a:endParaRPr lang="en-US" sz="950" dirty="0"/>
          </a:p>
        </p:txBody>
      </p:sp>
      <p:sp>
        <p:nvSpPr>
          <p:cNvPr id="19" name="Shape 17"/>
          <p:cNvSpPr/>
          <p:nvPr/>
        </p:nvSpPr>
        <p:spPr>
          <a:xfrm>
            <a:off x="6263640" y="1417320"/>
            <a:ext cx="1828800" cy="1005840"/>
          </a:xfrm>
          <a:prstGeom prst="rect">
            <a:avLst/>
          </a:prstGeom>
          <a:solidFill>
            <a:srgbClr val="E8F5F5"/>
          </a:solidFill>
          <a:ln w="25400">
            <a:solidFill>
              <a:srgbClr val="0891B2"/>
            </a:solidFill>
            <a:prstDash val="solid"/>
          </a:ln>
          <a:effectLst>
            <a:outerShdw blurRad="101600" dist="25400" dir="8100000" algn="bl" rotWithShape="0">
              <a:srgbClr val="000000">
                <a:alpha val="10000"/>
              </a:srgbClr>
            </a:outerShdw>
          </a:effectLst>
        </p:spPr>
        <p:txBody>
          <a:bodyPr/>
          <a:lstStyle/>
          <a:p>
            <a:endParaRPr lang="en-US"/>
          </a:p>
        </p:txBody>
      </p:sp>
      <p:sp>
        <p:nvSpPr>
          <p:cNvPr id="20" name="Text 18"/>
          <p:cNvSpPr/>
          <p:nvPr/>
        </p:nvSpPr>
        <p:spPr>
          <a:xfrm>
            <a:off x="6263640" y="1490472"/>
            <a:ext cx="1828800" cy="553212"/>
          </a:xfrm>
          <a:prstGeom prst="rect">
            <a:avLst/>
          </a:prstGeom>
          <a:noFill/>
          <a:ln/>
        </p:spPr>
        <p:txBody>
          <a:bodyPr wrap="square" rtlCol="0" anchor="ctr"/>
          <a:lstStyle/>
          <a:p>
            <a:pPr marL="0" indent="0" algn="ctr">
              <a:buNone/>
            </a:pPr>
            <a:r>
              <a:rPr lang="en-US" sz="2800" b="1" dirty="0">
                <a:solidFill>
                  <a:srgbClr val="0891B2"/>
                </a:solidFill>
                <a:latin typeface="Trebuchet MS" pitchFamily="34" charset="0"/>
                <a:ea typeface="Trebuchet MS" pitchFamily="34" charset="-122"/>
                <a:cs typeface="Trebuchet MS" pitchFamily="34" charset="-120"/>
              </a:rPr>
              <a:t>+PubMed</a:t>
            </a:r>
            <a:endParaRPr lang="en-US" sz="2800" dirty="0"/>
          </a:p>
        </p:txBody>
      </p:sp>
      <p:sp>
        <p:nvSpPr>
          <p:cNvPr id="21" name="Text 19"/>
          <p:cNvSpPr/>
          <p:nvPr/>
        </p:nvSpPr>
        <p:spPr>
          <a:xfrm>
            <a:off x="6263640" y="2000707"/>
            <a:ext cx="1828800" cy="382219"/>
          </a:xfrm>
          <a:prstGeom prst="rect">
            <a:avLst/>
          </a:prstGeom>
          <a:noFill/>
          <a:ln/>
        </p:spPr>
        <p:txBody>
          <a:bodyPr wrap="square" rtlCol="0" anchor="t"/>
          <a:lstStyle/>
          <a:p>
            <a:pPr marL="0" indent="0" algn="ctr">
              <a:buNone/>
            </a:pPr>
            <a:r>
              <a:rPr lang="en-US" sz="950" kern="0" spc="100" dirty="0">
                <a:solidFill>
                  <a:srgbClr val="6B7280"/>
                </a:solidFill>
                <a:latin typeface="Calibri" pitchFamily="34" charset="0"/>
                <a:ea typeface="Calibri" pitchFamily="34" charset="-122"/>
                <a:cs typeface="Calibri" pitchFamily="34" charset="-120"/>
              </a:rPr>
              <a:t>CORPUS ENRICHED</a:t>
            </a:r>
            <a:endParaRPr lang="en-US" sz="950" dirty="0"/>
          </a:p>
        </p:txBody>
      </p:sp>
      <p:sp>
        <p:nvSpPr>
          <p:cNvPr id="22" name="Shape 20"/>
          <p:cNvSpPr/>
          <p:nvPr/>
        </p:nvSpPr>
        <p:spPr>
          <a:xfrm>
            <a:off x="365760" y="2606040"/>
            <a:ext cx="8412480" cy="1892808"/>
          </a:xfrm>
          <a:prstGeom prst="rect">
            <a:avLst/>
          </a:prstGeom>
          <a:solidFill>
            <a:srgbClr val="E8F0FE"/>
          </a:solidFill>
          <a:ln w="19050">
            <a:solidFill>
              <a:srgbClr val="2563EB"/>
            </a:solidFill>
            <a:prstDash val="solid"/>
          </a:ln>
          <a:effectLst>
            <a:outerShdw blurRad="101600" dist="25400" dir="8100000" algn="bl" rotWithShape="0">
              <a:srgbClr val="000000">
                <a:alpha val="10000"/>
              </a:srgbClr>
            </a:outerShdw>
          </a:effectLst>
        </p:spPr>
        <p:txBody>
          <a:bodyPr/>
          <a:lstStyle/>
          <a:p>
            <a:endParaRPr lang="en-US"/>
          </a:p>
        </p:txBody>
      </p:sp>
      <p:sp>
        <p:nvSpPr>
          <p:cNvPr id="23" name="Text 21"/>
          <p:cNvSpPr/>
          <p:nvPr/>
        </p:nvSpPr>
        <p:spPr>
          <a:xfrm>
            <a:off x="548640" y="2670048"/>
            <a:ext cx="8229600" cy="274320"/>
          </a:xfrm>
          <a:prstGeom prst="rect">
            <a:avLst/>
          </a:prstGeom>
          <a:noFill/>
          <a:ln/>
        </p:spPr>
        <p:txBody>
          <a:bodyPr wrap="square" rtlCol="0" anchor="ctr"/>
          <a:lstStyle/>
          <a:p>
            <a:pPr marL="0" indent="0">
              <a:buNone/>
            </a:pPr>
            <a:r>
              <a:rPr lang="en-US" sz="1300" b="1" dirty="0">
                <a:solidFill>
                  <a:srgbClr val="2563EB"/>
                </a:solidFill>
                <a:latin typeface="Trebuchet MS" pitchFamily="34" charset="0"/>
                <a:ea typeface="Trebuchet MS" pitchFamily="34" charset="-122"/>
                <a:cs typeface="Trebuchet MS" pitchFamily="34" charset="-120"/>
              </a:rPr>
              <a:t>What did the model learn?</a:t>
            </a:r>
            <a:endParaRPr lang="en-US" sz="1300" dirty="0"/>
          </a:p>
        </p:txBody>
      </p:sp>
      <p:sp>
        <p:nvSpPr>
          <p:cNvPr id="24" name="Text 22"/>
          <p:cNvSpPr/>
          <p:nvPr/>
        </p:nvSpPr>
        <p:spPr>
          <a:xfrm>
            <a:off x="548640" y="2999232"/>
            <a:ext cx="8229600" cy="347472"/>
          </a:xfrm>
          <a:prstGeom prst="rect">
            <a:avLst/>
          </a:prstGeom>
          <a:noFill/>
          <a:ln/>
        </p:spPr>
        <p:txBody>
          <a:bodyPr wrap="square"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stomach  →  </a:t>
            </a:r>
            <a:r>
              <a:rPr lang="en-US" sz="1100" dirty="0">
                <a:solidFill>
                  <a:srgbClr val="374151"/>
                </a:solidFill>
                <a:latin typeface="Calibri" pitchFamily="34" charset="0"/>
                <a:ea typeface="Calibri" pitchFamily="34" charset="-122"/>
                <a:cs typeface="Calibri" pitchFamily="34" charset="-120"/>
              </a:rPr>
              <a:t>'omeprazole', 'reflux', 'acid', 'heartburn', 'nausea'</a:t>
            </a:r>
            <a:endParaRPr lang="en-US" sz="1200" dirty="0"/>
          </a:p>
        </p:txBody>
      </p:sp>
      <p:sp>
        <p:nvSpPr>
          <p:cNvPr id="25" name="Text 23"/>
          <p:cNvSpPr/>
          <p:nvPr/>
        </p:nvSpPr>
        <p:spPr>
          <a:xfrm>
            <a:off x="548640" y="3383280"/>
            <a:ext cx="8229600" cy="347472"/>
          </a:xfrm>
          <a:prstGeom prst="rect">
            <a:avLst/>
          </a:prstGeom>
          <a:noFill/>
          <a:ln/>
        </p:spPr>
        <p:txBody>
          <a:bodyPr wrap="square" rtlCol="0" anchor="ctr"/>
          <a:lstStyle/>
          <a:p>
            <a:pPr marL="0" indent="0">
              <a:buNone/>
            </a:pPr>
            <a:r>
              <a:rPr lang="en-US" sz="1200" b="1" dirty="0">
                <a:solidFill>
                  <a:srgbClr val="9D1535"/>
                </a:solidFill>
                <a:latin typeface="Calibri" pitchFamily="34" charset="0"/>
                <a:ea typeface="Calibri" pitchFamily="34" charset="-122"/>
                <a:cs typeface="Calibri" pitchFamily="34" charset="-120"/>
              </a:rPr>
              <a:t>blood pressure  →  </a:t>
            </a:r>
            <a:r>
              <a:rPr lang="en-US" sz="1100" dirty="0">
                <a:solidFill>
                  <a:srgbClr val="374151"/>
                </a:solidFill>
                <a:latin typeface="Calibri" pitchFamily="34" charset="0"/>
                <a:ea typeface="Calibri" pitchFamily="34" charset="-122"/>
                <a:cs typeface="Calibri" pitchFamily="34" charset="-120"/>
              </a:rPr>
              <a:t>'lisinopril', 'losartan', 'monitor', 'readings', 'hypertension'</a:t>
            </a:r>
            <a:endParaRPr lang="en-US" sz="1200" dirty="0"/>
          </a:p>
        </p:txBody>
      </p:sp>
      <p:sp>
        <p:nvSpPr>
          <p:cNvPr id="26" name="Text 24"/>
          <p:cNvSpPr/>
          <p:nvPr/>
        </p:nvSpPr>
        <p:spPr>
          <a:xfrm>
            <a:off x="548640" y="3767328"/>
            <a:ext cx="8229600" cy="347472"/>
          </a:xfrm>
          <a:prstGeom prst="rect">
            <a:avLst/>
          </a:prstGeom>
          <a:noFill/>
          <a:ln/>
        </p:spPr>
        <p:txBody>
          <a:bodyPr wrap="square" rtlCol="0" anchor="ctr"/>
          <a:lstStyle/>
          <a:p>
            <a:pPr marL="0" indent="0">
              <a:buNone/>
            </a:pPr>
            <a:r>
              <a:rPr lang="en-US" sz="1200" b="1" dirty="0">
                <a:solidFill>
                  <a:srgbClr val="059669"/>
                </a:solidFill>
                <a:latin typeface="Calibri" pitchFamily="34" charset="0"/>
                <a:ea typeface="Calibri" pitchFamily="34" charset="-122"/>
                <a:cs typeface="Calibri" pitchFamily="34" charset="-120"/>
              </a:rPr>
              <a:t>pain  →  </a:t>
            </a:r>
            <a:r>
              <a:rPr lang="en-US" sz="1100" dirty="0">
                <a:solidFill>
                  <a:srgbClr val="374151"/>
                </a:solidFill>
                <a:latin typeface="Calibri" pitchFamily="34" charset="0"/>
                <a:ea typeface="Calibri" pitchFamily="34" charset="-122"/>
                <a:cs typeface="Calibri" pitchFamily="34" charset="-120"/>
              </a:rPr>
              <a:t>'gabapentin', 'nerve', 'chronic', 'relief', 'fibro', 'tramadol'</a:t>
            </a:r>
            <a:endParaRPr lang="en-US" sz="1200" dirty="0"/>
          </a:p>
        </p:txBody>
      </p:sp>
      <p:sp>
        <p:nvSpPr>
          <p:cNvPr id="27" name="Text 25"/>
          <p:cNvSpPr/>
          <p:nvPr/>
        </p:nvSpPr>
        <p:spPr>
          <a:xfrm>
            <a:off x="548640" y="4151376"/>
            <a:ext cx="8229600" cy="347472"/>
          </a:xfrm>
          <a:prstGeom prst="rect">
            <a:avLst/>
          </a:prstGeom>
          <a:noFill/>
          <a:ln/>
        </p:spPr>
        <p:txBody>
          <a:bodyPr wrap="square" rtlCol="0" anchor="ctr"/>
          <a:lstStyle/>
          <a:p>
            <a:pPr marL="0" indent="0">
              <a:buNone/>
            </a:pPr>
            <a:r>
              <a:rPr lang="en-US" sz="1200" b="1" dirty="0">
                <a:solidFill>
                  <a:srgbClr val="D97706"/>
                </a:solidFill>
                <a:latin typeface="Calibri" pitchFamily="34" charset="0"/>
                <a:ea typeface="Calibri" pitchFamily="34" charset="-122"/>
                <a:cs typeface="Calibri" pitchFamily="34" charset="-120"/>
              </a:rPr>
              <a:t>tired  →  </a:t>
            </a:r>
            <a:r>
              <a:rPr lang="en-US" sz="1100" dirty="0">
                <a:solidFill>
                  <a:srgbClr val="374151"/>
                </a:solidFill>
                <a:latin typeface="Calibri" pitchFamily="34" charset="0"/>
                <a:ea typeface="Calibri" pitchFamily="34" charset="-122"/>
                <a:cs typeface="Calibri" pitchFamily="34" charset="-120"/>
              </a:rPr>
              <a:t>'fatigue', 'exhausted', 'metoprolol', 'beta blocker', 'drained'</a:t>
            </a:r>
            <a:endParaRPr lang="en-US" sz="1200" dirty="0"/>
          </a:p>
        </p:txBody>
      </p:sp>
      <p:sp>
        <p:nvSpPr>
          <p:cNvPr id="28" name="Text 26"/>
          <p:cNvSpPr/>
          <p:nvPr/>
        </p:nvSpPr>
        <p:spPr>
          <a:xfrm>
            <a:off x="365760" y="4645152"/>
            <a:ext cx="8412480" cy="274320"/>
          </a:xfrm>
          <a:prstGeom prst="rect">
            <a:avLst/>
          </a:prstGeom>
          <a:noFill/>
          <a:ln/>
        </p:spPr>
        <p:txBody>
          <a:bodyPr wrap="square"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PubMed abstracts enriched the corpus with clinical terminology — the model learned both patient language ('tired', 'hurts') and clinical language ('fatigue', 'analgesic') as related concepts.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365760" y="201168"/>
            <a:ext cx="2377440" cy="256032"/>
          </a:xfrm>
          <a:prstGeom prst="rect">
            <a:avLst/>
          </a:prstGeom>
          <a:solidFill>
            <a:srgbClr val="2563EB"/>
          </a:solidFill>
          <a:ln w="12700">
            <a:solidFill>
              <a:srgbClr val="2563EB"/>
            </a:solidFill>
            <a:prstDash val="solid"/>
          </a:ln>
        </p:spPr>
        <p:txBody>
          <a:bodyPr/>
          <a:lstStyle/>
          <a:p>
            <a:endParaRPr lang="en-US"/>
          </a:p>
        </p:txBody>
      </p:sp>
      <p:sp>
        <p:nvSpPr>
          <p:cNvPr id="3" name="Text 1"/>
          <p:cNvSpPr/>
          <p:nvPr/>
        </p:nvSpPr>
        <p:spPr>
          <a:xfrm>
            <a:off x="365760" y="201168"/>
            <a:ext cx="2377440"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rPr>
              <a:t>FEATURE ENGINEERING</a:t>
            </a:r>
            <a:endParaRPr lang="en-US" sz="800" dirty="0"/>
          </a:p>
        </p:txBody>
      </p:sp>
      <p:sp>
        <p:nvSpPr>
          <p:cNvPr id="4" name="Text 2"/>
          <p:cNvSpPr/>
          <p:nvPr/>
        </p:nvSpPr>
        <p:spPr>
          <a:xfrm>
            <a:off x="365760" y="566928"/>
            <a:ext cx="8412480" cy="640080"/>
          </a:xfrm>
          <a:prstGeom prst="rect">
            <a:avLst/>
          </a:prstGeom>
          <a:noFill/>
          <a:ln/>
        </p:spPr>
        <p:txBody>
          <a:bodyPr wrap="square" rtlCol="0" anchor="ctr"/>
          <a:lstStyle/>
          <a:p>
            <a:pPr marL="0" indent="0">
              <a:buNone/>
            </a:pPr>
            <a:r>
              <a:rPr lang="en-US" sz="2800" b="1" dirty="0">
                <a:solidFill>
                  <a:srgbClr val="111827"/>
                </a:solidFill>
                <a:latin typeface="Trebuchet MS" pitchFamily="34" charset="0"/>
                <a:ea typeface="Trebuchet MS" pitchFamily="34" charset="-122"/>
                <a:cs typeface="Trebuchet MS" pitchFamily="34" charset="-120"/>
              </a:rPr>
              <a:t>Feature Engineering — From 10 to 43 Features</a:t>
            </a:r>
            <a:endParaRPr lang="en-US" sz="2800" dirty="0"/>
          </a:p>
        </p:txBody>
      </p:sp>
      <p:sp>
        <p:nvSpPr>
          <p:cNvPr id="5" name="Shape 3"/>
          <p:cNvSpPr/>
          <p:nvPr/>
        </p:nvSpPr>
        <p:spPr>
          <a:xfrm>
            <a:off x="365760" y="1298448"/>
            <a:ext cx="8412480" cy="0"/>
          </a:xfrm>
          <a:prstGeom prst="line">
            <a:avLst/>
          </a:prstGeom>
          <a:noFill/>
          <a:ln w="12700">
            <a:solidFill>
              <a:srgbClr val="E5E7EB"/>
            </a:solidFill>
            <a:prstDash val="solid"/>
          </a:ln>
        </p:spPr>
        <p:txBody>
          <a:bodyPr/>
          <a:lstStyle/>
          <a:p>
            <a:endParaRPr lang="en-US"/>
          </a:p>
        </p:txBody>
      </p:sp>
      <p:sp>
        <p:nvSpPr>
          <p:cNvPr id="6" name="Shape 4"/>
          <p:cNvSpPr/>
          <p:nvPr/>
        </p:nvSpPr>
        <p:spPr>
          <a:xfrm>
            <a:off x="0" y="4800600"/>
            <a:ext cx="9144000" cy="347472"/>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365760" y="4809744"/>
            <a:ext cx="7315200" cy="274320"/>
          </a:xfrm>
          <a:prstGeom prst="rect">
            <a:avLst/>
          </a:prstGeom>
          <a:noFill/>
          <a:ln/>
        </p:spPr>
        <p:txBody>
          <a:bodyPr wrap="square" rtlCol="0" anchor="ctr"/>
          <a:lstStyle/>
          <a:p>
            <a:pPr marL="0" indent="0">
              <a:buNone/>
            </a:pPr>
            <a:endParaRPr lang="en-US" sz="900" dirty="0"/>
          </a:p>
        </p:txBody>
      </p:sp>
      <p:sp>
        <p:nvSpPr>
          <p:cNvPr id="8" name="Text 6"/>
          <p:cNvSpPr/>
          <p:nvPr/>
        </p:nvSpPr>
        <p:spPr>
          <a:xfrm>
            <a:off x="4572000" y="4809744"/>
            <a:ext cx="4389120" cy="274320"/>
          </a:xfrm>
          <a:prstGeom prst="rect">
            <a:avLst/>
          </a:prstGeom>
          <a:noFill/>
          <a:ln/>
        </p:spPr>
        <p:txBody>
          <a:bodyPr wrap="square" rtlCol="0" anchor="ctr"/>
          <a:lstStyle/>
          <a:p>
            <a:pPr marL="0" indent="0" algn="r">
              <a:buNone/>
            </a:pPr>
            <a:endParaRPr lang="en-US" sz="900" dirty="0"/>
          </a:p>
        </p:txBody>
      </p:sp>
      <p:sp>
        <p:nvSpPr>
          <p:cNvPr id="9" name="Text 7"/>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AAAAAA"/>
                </a:solidFill>
              </a:rPr>
              <a:t>16 / 25</a:t>
            </a:r>
            <a:endParaRPr lang="en-US" sz="900" dirty="0"/>
          </a:p>
        </p:txBody>
      </p:sp>
      <p:grpSp>
        <p:nvGrpSpPr>
          <p:cNvPr id="47" name="Group 46">
            <a:extLst>
              <a:ext uri="{FF2B5EF4-FFF2-40B4-BE49-F238E27FC236}">
                <a16:creationId xmlns:a16="http://schemas.microsoft.com/office/drawing/2014/main" id="{DE0655A4-74B0-60A1-A2A2-BE64F8BFBD2E}"/>
              </a:ext>
            </a:extLst>
          </p:cNvPr>
          <p:cNvGrpSpPr/>
          <p:nvPr/>
        </p:nvGrpSpPr>
        <p:grpSpPr>
          <a:xfrm>
            <a:off x="365760" y="1417320"/>
            <a:ext cx="8357616" cy="685798"/>
            <a:chOff x="365760" y="1417320"/>
            <a:chExt cx="7406640" cy="914400"/>
          </a:xfrm>
        </p:grpSpPr>
        <p:sp>
          <p:nvSpPr>
            <p:cNvPr id="10" name="Shape 8"/>
            <p:cNvSpPr/>
            <p:nvPr/>
          </p:nvSpPr>
          <p:spPr>
            <a:xfrm>
              <a:off x="365760" y="1417320"/>
              <a:ext cx="1371600" cy="914400"/>
            </a:xfrm>
            <a:prstGeom prst="rect">
              <a:avLst/>
            </a:prstGeom>
            <a:solidFill>
              <a:srgbClr val="F3F4F6"/>
            </a:solidFill>
            <a:ln w="25400">
              <a:solidFill>
                <a:srgbClr val="6B7280"/>
              </a:solidFill>
              <a:prstDash val="solid"/>
            </a:ln>
            <a:effectLst>
              <a:outerShdw blurRad="101600" dist="25400" dir="8100000" algn="bl" rotWithShape="0">
                <a:srgbClr val="000000">
                  <a:alpha val="10000"/>
                </a:srgbClr>
              </a:outerShdw>
            </a:effectLst>
          </p:spPr>
          <p:txBody>
            <a:bodyPr/>
            <a:lstStyle/>
            <a:p>
              <a:endParaRPr lang="en-US"/>
            </a:p>
          </p:txBody>
        </p:sp>
        <p:sp>
          <p:nvSpPr>
            <p:cNvPr id="13" name="Shape 11"/>
            <p:cNvSpPr/>
            <p:nvPr/>
          </p:nvSpPr>
          <p:spPr>
            <a:xfrm>
              <a:off x="1874520" y="1417320"/>
              <a:ext cx="1371600" cy="914400"/>
            </a:xfrm>
            <a:prstGeom prst="rect">
              <a:avLst/>
            </a:prstGeom>
            <a:solidFill>
              <a:srgbClr val="E8F0FE"/>
            </a:solidFill>
            <a:ln w="25400">
              <a:solidFill>
                <a:srgbClr val="2563EB"/>
              </a:solidFill>
              <a:prstDash val="solid"/>
            </a:ln>
            <a:effectLst>
              <a:outerShdw blurRad="101600" dist="25400" dir="8100000" algn="bl" rotWithShape="0">
                <a:srgbClr val="000000">
                  <a:alpha val="10000"/>
                </a:srgbClr>
              </a:outerShdw>
            </a:effectLst>
          </p:spPr>
          <p:txBody>
            <a:bodyPr/>
            <a:lstStyle/>
            <a:p>
              <a:endParaRPr lang="en-US"/>
            </a:p>
          </p:txBody>
        </p:sp>
        <p:sp>
          <p:nvSpPr>
            <p:cNvPr id="16" name="Shape 14"/>
            <p:cNvSpPr/>
            <p:nvPr/>
          </p:nvSpPr>
          <p:spPr>
            <a:xfrm>
              <a:off x="3383280" y="1417320"/>
              <a:ext cx="1371600" cy="914400"/>
            </a:xfrm>
            <a:prstGeom prst="rect">
              <a:avLst/>
            </a:prstGeom>
            <a:solidFill>
              <a:srgbClr val="E6F4EA"/>
            </a:solidFill>
            <a:ln w="25400">
              <a:solidFill>
                <a:srgbClr val="059669"/>
              </a:solidFill>
              <a:prstDash val="solid"/>
            </a:ln>
            <a:effectLst>
              <a:outerShdw blurRad="101600" dist="25400" dir="8100000" algn="bl" rotWithShape="0">
                <a:srgbClr val="000000">
                  <a:alpha val="10000"/>
                </a:srgbClr>
              </a:outerShdw>
            </a:effectLst>
          </p:spPr>
          <p:txBody>
            <a:bodyPr/>
            <a:lstStyle/>
            <a:p>
              <a:endParaRPr lang="en-US"/>
            </a:p>
          </p:txBody>
        </p:sp>
        <p:sp>
          <p:nvSpPr>
            <p:cNvPr id="19" name="Shape 17"/>
            <p:cNvSpPr/>
            <p:nvPr/>
          </p:nvSpPr>
          <p:spPr>
            <a:xfrm>
              <a:off x="4892040" y="1417320"/>
              <a:ext cx="1371600" cy="914400"/>
            </a:xfrm>
            <a:prstGeom prst="rect">
              <a:avLst/>
            </a:prstGeom>
            <a:solidFill>
              <a:srgbClr val="F3E8FF"/>
            </a:solidFill>
            <a:ln w="25400">
              <a:solidFill>
                <a:srgbClr val="7C3AED"/>
              </a:solidFill>
              <a:prstDash val="solid"/>
            </a:ln>
            <a:effectLst>
              <a:outerShdw blurRad="101600" dist="25400" dir="8100000" algn="bl" rotWithShape="0">
                <a:srgbClr val="000000">
                  <a:alpha val="10000"/>
                </a:srgbClr>
              </a:outerShdw>
            </a:effectLst>
          </p:spPr>
          <p:txBody>
            <a:bodyPr/>
            <a:lstStyle/>
            <a:p>
              <a:endParaRPr lang="en-US"/>
            </a:p>
          </p:txBody>
        </p:sp>
        <p:sp>
          <p:nvSpPr>
            <p:cNvPr id="22" name="Shape 20"/>
            <p:cNvSpPr/>
            <p:nvPr/>
          </p:nvSpPr>
          <p:spPr>
            <a:xfrm>
              <a:off x="6400800" y="1417320"/>
              <a:ext cx="1371600" cy="914400"/>
            </a:xfrm>
            <a:prstGeom prst="rect">
              <a:avLst/>
            </a:prstGeom>
            <a:solidFill>
              <a:srgbClr val="FEF9E7"/>
            </a:solidFill>
            <a:ln w="25400">
              <a:solidFill>
                <a:srgbClr val="D97706"/>
              </a:solidFill>
              <a:prstDash val="solid"/>
            </a:ln>
            <a:effectLst>
              <a:outerShdw blurRad="101600" dist="25400" dir="8100000" algn="bl" rotWithShape="0">
                <a:srgbClr val="000000">
                  <a:alpha val="10000"/>
                </a:srgbClr>
              </a:outerShdw>
            </a:effectLst>
          </p:spPr>
          <p:txBody>
            <a:bodyPr/>
            <a:lstStyle/>
            <a:p>
              <a:endParaRPr lang="en-US"/>
            </a:p>
          </p:txBody>
        </p:sp>
        <p:grpSp>
          <p:nvGrpSpPr>
            <p:cNvPr id="46" name="Group 45">
              <a:extLst>
                <a:ext uri="{FF2B5EF4-FFF2-40B4-BE49-F238E27FC236}">
                  <a16:creationId xmlns:a16="http://schemas.microsoft.com/office/drawing/2014/main" id="{4D0AA762-8F91-DEAD-4B48-AD412EE2C6B1}"/>
                </a:ext>
              </a:extLst>
            </p:cNvPr>
            <p:cNvGrpSpPr/>
            <p:nvPr/>
          </p:nvGrpSpPr>
          <p:grpSpPr>
            <a:xfrm>
              <a:off x="365760" y="1490472"/>
              <a:ext cx="7406640" cy="804672"/>
              <a:chOff x="365760" y="1490472"/>
              <a:chExt cx="7406640" cy="804672"/>
            </a:xfrm>
          </p:grpSpPr>
          <p:sp>
            <p:nvSpPr>
              <p:cNvPr id="11" name="Text 9"/>
              <p:cNvSpPr/>
              <p:nvPr/>
            </p:nvSpPr>
            <p:spPr>
              <a:xfrm>
                <a:off x="365760" y="1490472"/>
                <a:ext cx="1371600" cy="502920"/>
              </a:xfrm>
              <a:prstGeom prst="rect">
                <a:avLst/>
              </a:prstGeom>
              <a:noFill/>
              <a:ln/>
            </p:spPr>
            <p:txBody>
              <a:bodyPr wrap="square" rtlCol="0" anchor="ctr"/>
              <a:lstStyle/>
              <a:p>
                <a:pPr marL="0" indent="0" algn="ctr">
                  <a:buNone/>
                </a:pPr>
                <a:r>
                  <a:rPr lang="en-US" sz="2800" b="1" dirty="0">
                    <a:solidFill>
                      <a:srgbClr val="6B7280"/>
                    </a:solidFill>
                    <a:latin typeface="Trebuchet MS" pitchFamily="34" charset="0"/>
                    <a:ea typeface="Trebuchet MS" pitchFamily="34" charset="-122"/>
                    <a:cs typeface="Trebuchet MS" pitchFamily="34" charset="-120"/>
                  </a:rPr>
                  <a:t>10</a:t>
                </a:r>
                <a:endParaRPr lang="en-US" sz="2800" dirty="0"/>
              </a:p>
            </p:txBody>
          </p:sp>
          <p:sp>
            <p:nvSpPr>
              <p:cNvPr id="12" name="Text 10"/>
              <p:cNvSpPr/>
              <p:nvPr/>
            </p:nvSpPr>
            <p:spPr>
              <a:xfrm>
                <a:off x="365760" y="1947672"/>
                <a:ext cx="1371600" cy="347472"/>
              </a:xfrm>
              <a:prstGeom prst="rect">
                <a:avLst/>
              </a:prstGeom>
              <a:noFill/>
              <a:ln/>
            </p:spPr>
            <p:txBody>
              <a:bodyPr wrap="square" rtlCol="0" anchor="t"/>
              <a:lstStyle/>
              <a:p>
                <a:pPr marL="0" indent="0" algn="ctr">
                  <a:buNone/>
                </a:pPr>
                <a:r>
                  <a:rPr lang="en-US" sz="950" kern="0" spc="100" dirty="0">
                    <a:solidFill>
                      <a:srgbClr val="6B7280"/>
                    </a:solidFill>
                    <a:latin typeface="Calibri" pitchFamily="34" charset="0"/>
                    <a:ea typeface="Calibri" pitchFamily="34" charset="-122"/>
                    <a:cs typeface="Calibri" pitchFamily="34" charset="-120"/>
                  </a:rPr>
                  <a:t>BASELINE FEATURES</a:t>
                </a:r>
                <a:endParaRPr lang="en-US" sz="950" dirty="0"/>
              </a:p>
            </p:txBody>
          </p:sp>
          <p:sp>
            <p:nvSpPr>
              <p:cNvPr id="14" name="Text 12"/>
              <p:cNvSpPr/>
              <p:nvPr/>
            </p:nvSpPr>
            <p:spPr>
              <a:xfrm>
                <a:off x="1874520" y="1490472"/>
                <a:ext cx="1371600" cy="502920"/>
              </a:xfrm>
              <a:prstGeom prst="rect">
                <a:avLst/>
              </a:prstGeom>
              <a:noFill/>
              <a:ln/>
            </p:spPr>
            <p:txBody>
              <a:bodyPr wrap="square" rtlCol="0" anchor="ctr"/>
              <a:lstStyle/>
              <a:p>
                <a:pPr marL="0" indent="0" algn="ctr">
                  <a:buNone/>
                </a:pPr>
                <a:r>
                  <a:rPr lang="en-US" sz="2800" b="1" dirty="0">
                    <a:solidFill>
                      <a:srgbClr val="2563EB"/>
                    </a:solidFill>
                    <a:latin typeface="Trebuchet MS" pitchFamily="34" charset="0"/>
                    <a:ea typeface="Trebuchet MS" pitchFamily="34" charset="-122"/>
                    <a:cs typeface="Trebuchet MS" pitchFamily="34" charset="-120"/>
                  </a:rPr>
                  <a:t>43</a:t>
                </a:r>
                <a:endParaRPr lang="en-US" sz="2800" dirty="0"/>
              </a:p>
            </p:txBody>
          </p:sp>
          <p:sp>
            <p:nvSpPr>
              <p:cNvPr id="15" name="Text 13"/>
              <p:cNvSpPr/>
              <p:nvPr/>
            </p:nvSpPr>
            <p:spPr>
              <a:xfrm>
                <a:off x="1874520" y="1947672"/>
                <a:ext cx="1371600" cy="347472"/>
              </a:xfrm>
              <a:prstGeom prst="rect">
                <a:avLst/>
              </a:prstGeom>
              <a:noFill/>
              <a:ln/>
            </p:spPr>
            <p:txBody>
              <a:bodyPr wrap="square" rtlCol="0" anchor="t"/>
              <a:lstStyle/>
              <a:p>
                <a:pPr marL="0" indent="0" algn="ctr">
                  <a:buNone/>
                </a:pPr>
                <a:r>
                  <a:rPr lang="en-US" sz="950" kern="0" spc="100" dirty="0">
                    <a:solidFill>
                      <a:srgbClr val="6B7280"/>
                    </a:solidFill>
                    <a:latin typeface="Calibri" pitchFamily="34" charset="0"/>
                    <a:ea typeface="Calibri" pitchFamily="34" charset="-122"/>
                    <a:cs typeface="Calibri" pitchFamily="34" charset="-120"/>
                  </a:rPr>
                  <a:t>ENHANCED FEATURES</a:t>
                </a:r>
                <a:endParaRPr lang="en-US" sz="950" dirty="0"/>
              </a:p>
            </p:txBody>
          </p:sp>
          <p:sp>
            <p:nvSpPr>
              <p:cNvPr id="17" name="Text 15"/>
              <p:cNvSpPr/>
              <p:nvPr/>
            </p:nvSpPr>
            <p:spPr>
              <a:xfrm>
                <a:off x="3383280" y="1490472"/>
                <a:ext cx="1371600" cy="502920"/>
              </a:xfrm>
              <a:prstGeom prst="rect">
                <a:avLst/>
              </a:prstGeom>
              <a:noFill/>
              <a:ln/>
            </p:spPr>
            <p:txBody>
              <a:bodyPr wrap="square" rtlCol="0" anchor="ctr"/>
              <a:lstStyle/>
              <a:p>
                <a:pPr marL="0" indent="0" algn="ctr">
                  <a:buNone/>
                </a:pPr>
                <a:r>
                  <a:rPr lang="en-US" sz="2800" b="1" dirty="0">
                    <a:solidFill>
                      <a:srgbClr val="059669"/>
                    </a:solidFill>
                    <a:latin typeface="Trebuchet MS" pitchFamily="34" charset="0"/>
                    <a:ea typeface="Trebuchet MS" pitchFamily="34" charset="-122"/>
                    <a:cs typeface="Trebuchet MS" pitchFamily="34" charset="-120"/>
                  </a:rPr>
                  <a:t>+0.248</a:t>
                </a:r>
                <a:endParaRPr lang="en-US" sz="2800" dirty="0"/>
              </a:p>
            </p:txBody>
          </p:sp>
          <p:sp>
            <p:nvSpPr>
              <p:cNvPr id="18" name="Text 16"/>
              <p:cNvSpPr/>
              <p:nvPr/>
            </p:nvSpPr>
            <p:spPr>
              <a:xfrm>
                <a:off x="3383280" y="1947672"/>
                <a:ext cx="1371600" cy="347472"/>
              </a:xfrm>
              <a:prstGeom prst="rect">
                <a:avLst/>
              </a:prstGeom>
              <a:noFill/>
              <a:ln/>
            </p:spPr>
            <p:txBody>
              <a:bodyPr wrap="square" rtlCol="0" anchor="t"/>
              <a:lstStyle/>
              <a:p>
                <a:pPr marL="0" indent="0" algn="ctr">
                  <a:buNone/>
                </a:pPr>
                <a:r>
                  <a:rPr lang="en-US" sz="950" kern="0" spc="100" dirty="0">
                    <a:solidFill>
                      <a:srgbClr val="6B7280"/>
                    </a:solidFill>
                    <a:latin typeface="Calibri" pitchFamily="34" charset="0"/>
                    <a:ea typeface="Calibri" pitchFamily="34" charset="-122"/>
                    <a:cs typeface="Calibri" pitchFamily="34" charset="-120"/>
                  </a:rPr>
                  <a:t>R² IMPROVEMENT</a:t>
                </a:r>
                <a:endParaRPr lang="en-US" sz="950" dirty="0"/>
              </a:p>
            </p:txBody>
          </p:sp>
          <p:sp>
            <p:nvSpPr>
              <p:cNvPr id="20" name="Text 18"/>
              <p:cNvSpPr/>
              <p:nvPr/>
            </p:nvSpPr>
            <p:spPr>
              <a:xfrm>
                <a:off x="4892040" y="1490472"/>
                <a:ext cx="1371600" cy="502920"/>
              </a:xfrm>
              <a:prstGeom prst="rect">
                <a:avLst/>
              </a:prstGeom>
              <a:noFill/>
              <a:ln/>
            </p:spPr>
            <p:txBody>
              <a:bodyPr wrap="square" rtlCol="0" anchor="ctr"/>
              <a:lstStyle/>
              <a:p>
                <a:pPr marL="0" indent="0" algn="ctr">
                  <a:buNone/>
                </a:pPr>
                <a:r>
                  <a:rPr lang="en-US" sz="2800" b="1" dirty="0">
                    <a:solidFill>
                      <a:srgbClr val="7C3AED"/>
                    </a:solidFill>
                    <a:latin typeface="Trebuchet MS" pitchFamily="34" charset="0"/>
                    <a:ea typeface="Trebuchet MS" pitchFamily="34" charset="-122"/>
                    <a:cs typeface="Trebuchet MS" pitchFamily="34" charset="-120"/>
                  </a:rPr>
                  <a:t>27</a:t>
                </a:r>
                <a:endParaRPr lang="en-US" sz="2800" dirty="0"/>
              </a:p>
            </p:txBody>
          </p:sp>
          <p:sp>
            <p:nvSpPr>
              <p:cNvPr id="21" name="Text 19"/>
              <p:cNvSpPr/>
              <p:nvPr/>
            </p:nvSpPr>
            <p:spPr>
              <a:xfrm>
                <a:off x="4892040" y="1947672"/>
                <a:ext cx="1371600" cy="347472"/>
              </a:xfrm>
              <a:prstGeom prst="rect">
                <a:avLst/>
              </a:prstGeom>
              <a:noFill/>
              <a:ln/>
            </p:spPr>
            <p:txBody>
              <a:bodyPr wrap="square" rtlCol="0" anchor="t"/>
              <a:lstStyle/>
              <a:p>
                <a:pPr marL="0" indent="0" algn="ctr">
                  <a:buNone/>
                </a:pPr>
                <a:r>
                  <a:rPr lang="en-US" sz="950" kern="0" spc="100" dirty="0">
                    <a:solidFill>
                      <a:srgbClr val="6B7280"/>
                    </a:solidFill>
                    <a:latin typeface="Calibri" pitchFamily="34" charset="0"/>
                    <a:ea typeface="Calibri" pitchFamily="34" charset="-122"/>
                    <a:cs typeface="Calibri" pitchFamily="34" charset="-120"/>
                  </a:rPr>
                  <a:t>DRUG CLASSES</a:t>
                </a:r>
                <a:endParaRPr lang="en-US" sz="950" dirty="0"/>
              </a:p>
            </p:txBody>
          </p:sp>
          <p:sp>
            <p:nvSpPr>
              <p:cNvPr id="23" name="Text 21"/>
              <p:cNvSpPr/>
              <p:nvPr/>
            </p:nvSpPr>
            <p:spPr>
              <a:xfrm>
                <a:off x="6400800" y="1490472"/>
                <a:ext cx="1371600" cy="502920"/>
              </a:xfrm>
              <a:prstGeom prst="rect">
                <a:avLst/>
              </a:prstGeom>
              <a:noFill/>
              <a:ln/>
            </p:spPr>
            <p:txBody>
              <a:bodyPr wrap="square" rtlCol="0" anchor="ctr"/>
              <a:lstStyle/>
              <a:p>
                <a:pPr marL="0" indent="0" algn="ctr">
                  <a:buNone/>
                </a:pPr>
                <a:r>
                  <a:rPr lang="en-US" sz="2800" b="1" dirty="0">
                    <a:solidFill>
                      <a:srgbClr val="D97706"/>
                    </a:solidFill>
                    <a:latin typeface="Trebuchet MS" pitchFamily="34" charset="0"/>
                    <a:ea typeface="Trebuchet MS" pitchFamily="34" charset="-122"/>
                    <a:cs typeface="Trebuchet MS" pitchFamily="34" charset="-120"/>
                  </a:rPr>
                  <a:t>LOO-CV</a:t>
                </a:r>
                <a:endParaRPr lang="en-US" sz="2800" dirty="0"/>
              </a:p>
            </p:txBody>
          </p:sp>
          <p:sp>
            <p:nvSpPr>
              <p:cNvPr id="24" name="Text 22"/>
              <p:cNvSpPr/>
              <p:nvPr/>
            </p:nvSpPr>
            <p:spPr>
              <a:xfrm>
                <a:off x="6400800" y="1947672"/>
                <a:ext cx="1371600" cy="347472"/>
              </a:xfrm>
              <a:prstGeom prst="rect">
                <a:avLst/>
              </a:prstGeom>
              <a:noFill/>
              <a:ln/>
            </p:spPr>
            <p:txBody>
              <a:bodyPr wrap="square" rtlCol="0" anchor="t"/>
              <a:lstStyle/>
              <a:p>
                <a:pPr marL="0" indent="0" algn="ctr">
                  <a:buNone/>
                </a:pPr>
                <a:r>
                  <a:rPr lang="en-US" sz="950" kern="0" spc="100" dirty="0">
                    <a:solidFill>
                      <a:srgbClr val="6B7280"/>
                    </a:solidFill>
                    <a:latin typeface="Calibri" pitchFamily="34" charset="0"/>
                    <a:ea typeface="Calibri" pitchFamily="34" charset="-122"/>
                    <a:cs typeface="Calibri" pitchFamily="34" charset="-120"/>
                  </a:rPr>
                  <a:t>VALIDATION METHOD</a:t>
                </a:r>
                <a:endParaRPr lang="en-US" sz="950" dirty="0"/>
              </a:p>
            </p:txBody>
          </p:sp>
        </p:grpSp>
      </p:grpSp>
      <p:sp>
        <p:nvSpPr>
          <p:cNvPr id="33" name="Shape 31"/>
          <p:cNvSpPr/>
          <p:nvPr/>
        </p:nvSpPr>
        <p:spPr>
          <a:xfrm>
            <a:off x="365760" y="4005072"/>
            <a:ext cx="4114800" cy="685800"/>
          </a:xfrm>
          <a:prstGeom prst="rect">
            <a:avLst/>
          </a:prstGeom>
          <a:solidFill>
            <a:srgbClr val="FFFFFF"/>
          </a:solidFill>
          <a:ln w="19050">
            <a:solidFill>
              <a:srgbClr val="059669"/>
            </a:solidFill>
            <a:prstDash val="solid"/>
          </a:ln>
          <a:effectLst>
            <a:outerShdw blurRad="101600" dist="25400" dir="8100000" algn="bl" rotWithShape="0">
              <a:srgbClr val="000000">
                <a:alpha val="10000"/>
              </a:srgbClr>
            </a:outerShdw>
          </a:effectLst>
        </p:spPr>
        <p:txBody>
          <a:bodyPr/>
          <a:lstStyle/>
          <a:p>
            <a:endParaRPr lang="en-US"/>
          </a:p>
        </p:txBody>
      </p:sp>
      <p:sp>
        <p:nvSpPr>
          <p:cNvPr id="34" name="Shape 32"/>
          <p:cNvSpPr/>
          <p:nvPr/>
        </p:nvSpPr>
        <p:spPr>
          <a:xfrm>
            <a:off x="365760" y="4005072"/>
            <a:ext cx="54864" cy="685800"/>
          </a:xfrm>
          <a:prstGeom prst="rect">
            <a:avLst/>
          </a:prstGeom>
          <a:solidFill>
            <a:srgbClr val="059669"/>
          </a:solidFill>
          <a:ln w="12700">
            <a:solidFill>
              <a:srgbClr val="059669"/>
            </a:solidFill>
            <a:prstDash val="solid"/>
          </a:ln>
        </p:spPr>
        <p:txBody>
          <a:bodyPr/>
          <a:lstStyle/>
          <a:p>
            <a:endParaRPr lang="en-US"/>
          </a:p>
        </p:txBody>
      </p:sp>
      <p:sp>
        <p:nvSpPr>
          <p:cNvPr id="36" name="Text 34"/>
          <p:cNvSpPr/>
          <p:nvPr/>
        </p:nvSpPr>
        <p:spPr>
          <a:xfrm>
            <a:off x="493776" y="4288536"/>
            <a:ext cx="3931920" cy="365760"/>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For each drug, we measured how spread out the review scores were. A drug with polarized reviews means half of patients love it and half hate it. High spread = polarizing drug. This became our strongest statistical finding.</a:t>
            </a:r>
            <a:endParaRPr lang="en-US" sz="950" dirty="0"/>
          </a:p>
        </p:txBody>
      </p:sp>
      <p:grpSp>
        <p:nvGrpSpPr>
          <p:cNvPr id="51" name="Group 50">
            <a:extLst>
              <a:ext uri="{FF2B5EF4-FFF2-40B4-BE49-F238E27FC236}">
                <a16:creationId xmlns:a16="http://schemas.microsoft.com/office/drawing/2014/main" id="{5585E398-A77B-166B-0205-111A3D97CD4C}"/>
              </a:ext>
            </a:extLst>
          </p:cNvPr>
          <p:cNvGrpSpPr/>
          <p:nvPr/>
        </p:nvGrpSpPr>
        <p:grpSpPr>
          <a:xfrm>
            <a:off x="365760" y="2167129"/>
            <a:ext cx="4352544" cy="2112263"/>
            <a:chOff x="365760" y="2487168"/>
            <a:chExt cx="4352544" cy="1792224"/>
          </a:xfrm>
        </p:grpSpPr>
        <p:sp>
          <p:nvSpPr>
            <p:cNvPr id="25" name="Shape 23"/>
            <p:cNvSpPr/>
            <p:nvPr/>
          </p:nvSpPr>
          <p:spPr>
            <a:xfrm>
              <a:off x="365760" y="2487168"/>
              <a:ext cx="4114800" cy="685800"/>
            </a:xfrm>
            <a:prstGeom prst="rect">
              <a:avLst/>
            </a:prstGeom>
            <a:solidFill>
              <a:srgbClr val="FFFFFF"/>
            </a:solidFill>
            <a:ln w="19050">
              <a:solidFill>
                <a:srgbClr val="7C3AED"/>
              </a:solidFill>
              <a:prstDash val="solid"/>
            </a:ln>
            <a:effectLst>
              <a:outerShdw blurRad="101600" dist="25400" dir="8100000" algn="bl" rotWithShape="0">
                <a:srgbClr val="000000">
                  <a:alpha val="10000"/>
                </a:srgbClr>
              </a:outerShdw>
            </a:effectLst>
          </p:spPr>
          <p:txBody>
            <a:bodyPr/>
            <a:lstStyle/>
            <a:p>
              <a:endParaRPr lang="en-US"/>
            </a:p>
          </p:txBody>
        </p:sp>
        <p:sp>
          <p:nvSpPr>
            <p:cNvPr id="26" name="Shape 24"/>
            <p:cNvSpPr/>
            <p:nvPr/>
          </p:nvSpPr>
          <p:spPr>
            <a:xfrm>
              <a:off x="365760" y="2487168"/>
              <a:ext cx="54864" cy="685800"/>
            </a:xfrm>
            <a:prstGeom prst="rect">
              <a:avLst/>
            </a:prstGeom>
            <a:solidFill>
              <a:srgbClr val="7C3AED"/>
            </a:solidFill>
            <a:ln w="12700">
              <a:solidFill>
                <a:srgbClr val="7C3AED"/>
              </a:solidFill>
              <a:prstDash val="solid"/>
            </a:ln>
          </p:spPr>
          <p:txBody>
            <a:bodyPr/>
            <a:lstStyle/>
            <a:p>
              <a:endParaRPr lang="en-US"/>
            </a:p>
          </p:txBody>
        </p:sp>
        <p:sp>
          <p:nvSpPr>
            <p:cNvPr id="27" name="Text 25"/>
            <p:cNvSpPr/>
            <p:nvPr/>
          </p:nvSpPr>
          <p:spPr>
            <a:xfrm>
              <a:off x="493776" y="2508502"/>
              <a:ext cx="3931920" cy="252986"/>
            </a:xfrm>
            <a:prstGeom prst="rect">
              <a:avLst/>
            </a:prstGeom>
            <a:noFill/>
            <a:ln/>
          </p:spPr>
          <p:txBody>
            <a:bodyPr wrap="square" rtlCol="0" anchor="ctr"/>
            <a:lstStyle/>
            <a:p>
              <a:pPr marL="0" indent="0">
                <a:buNone/>
              </a:pPr>
              <a:r>
                <a:rPr lang="en-US" sz="1050" b="1" dirty="0">
                  <a:solidFill>
                    <a:srgbClr val="7C3AED"/>
                  </a:solidFill>
                  <a:latin typeface="Trebuchet MS" pitchFamily="34" charset="0"/>
                  <a:ea typeface="Trebuchet MS" pitchFamily="34" charset="-122"/>
                  <a:cs typeface="Trebuchet MS" pitchFamily="34" charset="-120"/>
                </a:rPr>
                <a:t>Drug Class (27 categories)</a:t>
              </a:r>
              <a:endParaRPr lang="en-US" sz="1050" dirty="0"/>
            </a:p>
          </p:txBody>
        </p:sp>
        <p:sp>
          <p:nvSpPr>
            <p:cNvPr id="28" name="Text 26"/>
            <p:cNvSpPr/>
            <p:nvPr/>
          </p:nvSpPr>
          <p:spPr>
            <a:xfrm>
              <a:off x="493776" y="2723800"/>
              <a:ext cx="3931920" cy="412591"/>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We grouped all 50 drugs into therapeutic categories — statins, antidepressants, opioids, blood pressure drugs, insulins, etc. Each category became its own yes/no column. This is the single most powerful new feature we added.</a:t>
              </a:r>
              <a:endParaRPr lang="en-US" sz="950" dirty="0"/>
            </a:p>
          </p:txBody>
        </p:sp>
        <p:sp>
          <p:nvSpPr>
            <p:cNvPr id="29" name="Shape 27"/>
            <p:cNvSpPr/>
            <p:nvPr/>
          </p:nvSpPr>
          <p:spPr>
            <a:xfrm>
              <a:off x="365760" y="3246120"/>
              <a:ext cx="4114800" cy="685800"/>
            </a:xfrm>
            <a:prstGeom prst="rect">
              <a:avLst/>
            </a:prstGeom>
            <a:solidFill>
              <a:srgbClr val="FFFFFF"/>
            </a:solidFill>
            <a:ln w="19050">
              <a:solidFill>
                <a:srgbClr val="D97706"/>
              </a:solidFill>
              <a:prstDash val="solid"/>
            </a:ln>
            <a:effectLst>
              <a:outerShdw blurRad="101600" dist="25400" dir="8100000" algn="bl" rotWithShape="0">
                <a:srgbClr val="000000">
                  <a:alpha val="10000"/>
                </a:srgbClr>
              </a:outerShdw>
            </a:effectLst>
          </p:spPr>
          <p:txBody>
            <a:bodyPr/>
            <a:lstStyle/>
            <a:p>
              <a:endParaRPr lang="en-US"/>
            </a:p>
          </p:txBody>
        </p:sp>
        <p:sp>
          <p:nvSpPr>
            <p:cNvPr id="30" name="Shape 28"/>
            <p:cNvSpPr/>
            <p:nvPr/>
          </p:nvSpPr>
          <p:spPr>
            <a:xfrm>
              <a:off x="365760" y="3246120"/>
              <a:ext cx="54864" cy="685800"/>
            </a:xfrm>
            <a:prstGeom prst="rect">
              <a:avLst/>
            </a:prstGeom>
            <a:solidFill>
              <a:srgbClr val="D97706"/>
            </a:solidFill>
            <a:ln w="12700">
              <a:solidFill>
                <a:srgbClr val="D97706"/>
              </a:solidFill>
              <a:prstDash val="solid"/>
            </a:ln>
          </p:spPr>
          <p:txBody>
            <a:bodyPr/>
            <a:lstStyle/>
            <a:p>
              <a:endParaRPr lang="en-US"/>
            </a:p>
          </p:txBody>
        </p:sp>
        <p:sp>
          <p:nvSpPr>
            <p:cNvPr id="31" name="Text 29"/>
            <p:cNvSpPr/>
            <p:nvPr/>
          </p:nvSpPr>
          <p:spPr>
            <a:xfrm>
              <a:off x="493776" y="3291840"/>
              <a:ext cx="3931920" cy="228600"/>
            </a:xfrm>
            <a:prstGeom prst="rect">
              <a:avLst/>
            </a:prstGeom>
            <a:noFill/>
            <a:ln/>
          </p:spPr>
          <p:txBody>
            <a:bodyPr wrap="square" rtlCol="0" anchor="ctr"/>
            <a:lstStyle/>
            <a:p>
              <a:pPr marL="0" indent="0">
                <a:buNone/>
              </a:pPr>
              <a:r>
                <a:rPr lang="en-US" sz="1050" b="1" dirty="0">
                  <a:solidFill>
                    <a:srgbClr val="D97706"/>
                  </a:solidFill>
                  <a:latin typeface="Trebuchet MS" pitchFamily="34" charset="0"/>
                  <a:ea typeface="Trebuchet MS" pitchFamily="34" charset="-122"/>
                  <a:cs typeface="Trebuchet MS" pitchFamily="34" charset="-120"/>
                </a:rPr>
                <a:t>Drug Age</a:t>
              </a:r>
              <a:endParaRPr lang="en-US" sz="1050" dirty="0"/>
            </a:p>
          </p:txBody>
        </p:sp>
        <p:sp>
          <p:nvSpPr>
            <p:cNvPr id="32" name="Text 30"/>
            <p:cNvSpPr/>
            <p:nvPr/>
          </p:nvSpPr>
          <p:spPr>
            <a:xfrm>
              <a:off x="493776" y="3529584"/>
              <a:ext cx="3931920" cy="365760"/>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How many years since the drug received FDA approval. Warfarin was approved in 1954 (70 years old). Semaglutide was approved in 2017 (7 years old). We also added a simple yes/no flag: was it approved after 2010?</a:t>
              </a:r>
              <a:endParaRPr lang="en-US" sz="950" dirty="0"/>
            </a:p>
          </p:txBody>
        </p:sp>
        <p:sp>
          <p:nvSpPr>
            <p:cNvPr id="35" name="Text 33"/>
            <p:cNvSpPr/>
            <p:nvPr/>
          </p:nvSpPr>
          <p:spPr>
            <a:xfrm>
              <a:off x="493776" y="4050792"/>
              <a:ext cx="3931920" cy="228600"/>
            </a:xfrm>
            <a:prstGeom prst="rect">
              <a:avLst/>
            </a:prstGeom>
            <a:noFill/>
            <a:ln/>
          </p:spPr>
          <p:txBody>
            <a:bodyPr wrap="square" rtlCol="0" anchor="ctr"/>
            <a:lstStyle/>
            <a:p>
              <a:pPr marL="0" indent="0">
                <a:buNone/>
              </a:pPr>
              <a:r>
                <a:rPr lang="en-US" sz="1050" b="1" dirty="0">
                  <a:solidFill>
                    <a:srgbClr val="059669"/>
                  </a:solidFill>
                  <a:latin typeface="Trebuchet MS" pitchFamily="34" charset="0"/>
                  <a:ea typeface="Trebuchet MS" pitchFamily="34" charset="-122"/>
                  <a:cs typeface="Trebuchet MS" pitchFamily="34" charset="-120"/>
                </a:rPr>
                <a:t>Sentiment Polarization</a:t>
              </a:r>
              <a:endParaRPr lang="en-US" sz="1050" dirty="0"/>
            </a:p>
          </p:txBody>
        </p:sp>
        <p:sp>
          <p:nvSpPr>
            <p:cNvPr id="38" name="Shape 36"/>
            <p:cNvSpPr/>
            <p:nvPr/>
          </p:nvSpPr>
          <p:spPr>
            <a:xfrm>
              <a:off x="4663440" y="2487168"/>
              <a:ext cx="54864" cy="685800"/>
            </a:xfrm>
            <a:prstGeom prst="rect">
              <a:avLst/>
            </a:prstGeom>
            <a:solidFill>
              <a:srgbClr val="0891B2"/>
            </a:solidFill>
            <a:ln w="12700">
              <a:solidFill>
                <a:srgbClr val="0891B2"/>
              </a:solidFill>
              <a:prstDash val="solid"/>
            </a:ln>
          </p:spPr>
          <p:txBody>
            <a:bodyPr/>
            <a:lstStyle/>
            <a:p>
              <a:endParaRPr lang="en-US"/>
            </a:p>
          </p:txBody>
        </p:sp>
        <p:sp>
          <p:nvSpPr>
            <p:cNvPr id="42" name="Shape 40"/>
            <p:cNvSpPr/>
            <p:nvPr/>
          </p:nvSpPr>
          <p:spPr>
            <a:xfrm>
              <a:off x="4663440" y="3246120"/>
              <a:ext cx="54864" cy="685800"/>
            </a:xfrm>
            <a:prstGeom prst="rect">
              <a:avLst/>
            </a:prstGeom>
            <a:solidFill>
              <a:srgbClr val="9D1535"/>
            </a:solidFill>
            <a:ln w="12700">
              <a:solidFill>
                <a:srgbClr val="9D1535"/>
              </a:solidFill>
              <a:prstDash val="solid"/>
            </a:ln>
          </p:spPr>
          <p:txBody>
            <a:bodyPr/>
            <a:lstStyle/>
            <a:p>
              <a:endParaRPr lang="en-US"/>
            </a:p>
          </p:txBody>
        </p:sp>
      </p:grpSp>
      <p:grpSp>
        <p:nvGrpSpPr>
          <p:cNvPr id="52" name="Group 51">
            <a:extLst>
              <a:ext uri="{FF2B5EF4-FFF2-40B4-BE49-F238E27FC236}">
                <a16:creationId xmlns:a16="http://schemas.microsoft.com/office/drawing/2014/main" id="{BDCB0135-FB7A-8D9E-1D98-BB7A7CD76DBB}"/>
              </a:ext>
            </a:extLst>
          </p:cNvPr>
          <p:cNvGrpSpPr/>
          <p:nvPr/>
        </p:nvGrpSpPr>
        <p:grpSpPr>
          <a:xfrm>
            <a:off x="4663440" y="2137736"/>
            <a:ext cx="4114800" cy="1794184"/>
            <a:chOff x="4663440" y="2487168"/>
            <a:chExt cx="4114800" cy="1444752"/>
          </a:xfrm>
        </p:grpSpPr>
        <p:sp>
          <p:nvSpPr>
            <p:cNvPr id="37" name="Shape 35"/>
            <p:cNvSpPr/>
            <p:nvPr/>
          </p:nvSpPr>
          <p:spPr>
            <a:xfrm>
              <a:off x="4663440" y="2487168"/>
              <a:ext cx="4114800" cy="685800"/>
            </a:xfrm>
            <a:prstGeom prst="rect">
              <a:avLst/>
            </a:prstGeom>
            <a:solidFill>
              <a:srgbClr val="FFFFFF"/>
            </a:solidFill>
            <a:ln w="19050">
              <a:solidFill>
                <a:srgbClr val="0891B2"/>
              </a:solidFill>
              <a:prstDash val="solid"/>
            </a:ln>
            <a:effectLst>
              <a:outerShdw blurRad="101600" dist="25400" dir="8100000" algn="bl" rotWithShape="0">
                <a:srgbClr val="000000">
                  <a:alpha val="10000"/>
                </a:srgbClr>
              </a:outerShdw>
            </a:effectLst>
          </p:spPr>
          <p:txBody>
            <a:bodyPr/>
            <a:lstStyle/>
            <a:p>
              <a:endParaRPr lang="en-US"/>
            </a:p>
          </p:txBody>
        </p:sp>
        <p:sp>
          <p:nvSpPr>
            <p:cNvPr id="39" name="Text 37"/>
            <p:cNvSpPr/>
            <p:nvPr/>
          </p:nvSpPr>
          <p:spPr>
            <a:xfrm>
              <a:off x="4791456" y="2532888"/>
              <a:ext cx="3931920" cy="228600"/>
            </a:xfrm>
            <a:prstGeom prst="rect">
              <a:avLst/>
            </a:prstGeom>
            <a:noFill/>
            <a:ln/>
          </p:spPr>
          <p:txBody>
            <a:bodyPr wrap="square" rtlCol="0" anchor="ctr"/>
            <a:lstStyle/>
            <a:p>
              <a:pPr marL="0" indent="0">
                <a:buNone/>
              </a:pPr>
              <a:r>
                <a:rPr lang="en-US" sz="1050" b="1" dirty="0">
                  <a:solidFill>
                    <a:srgbClr val="0891B2"/>
                  </a:solidFill>
                  <a:latin typeface="Trebuchet MS" pitchFamily="34" charset="0"/>
                  <a:ea typeface="Trebuchet MS" pitchFamily="34" charset="-122"/>
                  <a:cs typeface="Trebuchet MS" pitchFamily="34" charset="-120"/>
                </a:rPr>
                <a:t>Condition Diversity</a:t>
              </a:r>
              <a:endParaRPr lang="en-US" sz="1050" dirty="0"/>
            </a:p>
          </p:txBody>
        </p:sp>
        <p:sp>
          <p:nvSpPr>
            <p:cNvPr id="40" name="Text 38"/>
            <p:cNvSpPr/>
            <p:nvPr/>
          </p:nvSpPr>
          <p:spPr>
            <a:xfrm>
              <a:off x="4791456" y="2770632"/>
              <a:ext cx="3931920" cy="365760"/>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How many different medical conditions patients were treating with this drug. A drug prescribed for 10 different conditions has a much more diverse group of patient experiences than one used for a single condition.</a:t>
              </a:r>
              <a:endParaRPr lang="en-US" sz="950" dirty="0"/>
            </a:p>
          </p:txBody>
        </p:sp>
        <p:sp>
          <p:nvSpPr>
            <p:cNvPr id="41" name="Shape 39"/>
            <p:cNvSpPr/>
            <p:nvPr/>
          </p:nvSpPr>
          <p:spPr>
            <a:xfrm>
              <a:off x="4663440" y="3246120"/>
              <a:ext cx="4114800" cy="685800"/>
            </a:xfrm>
            <a:prstGeom prst="rect">
              <a:avLst/>
            </a:prstGeom>
            <a:solidFill>
              <a:srgbClr val="FFFFFF"/>
            </a:solidFill>
            <a:ln w="19050">
              <a:solidFill>
                <a:srgbClr val="9D1535"/>
              </a:solidFill>
              <a:prstDash val="solid"/>
            </a:ln>
            <a:effectLst>
              <a:outerShdw blurRad="101600" dist="25400" dir="8100000" algn="bl" rotWithShape="0">
                <a:srgbClr val="000000">
                  <a:alpha val="10000"/>
                </a:srgbClr>
              </a:outerShdw>
            </a:effectLst>
          </p:spPr>
          <p:txBody>
            <a:bodyPr/>
            <a:lstStyle/>
            <a:p>
              <a:endParaRPr lang="en-US"/>
            </a:p>
          </p:txBody>
        </p:sp>
        <p:sp>
          <p:nvSpPr>
            <p:cNvPr id="43" name="Text 41"/>
            <p:cNvSpPr/>
            <p:nvPr/>
          </p:nvSpPr>
          <p:spPr>
            <a:xfrm>
              <a:off x="4791456" y="3291840"/>
              <a:ext cx="3931920" cy="228600"/>
            </a:xfrm>
            <a:prstGeom prst="rect">
              <a:avLst/>
            </a:prstGeom>
            <a:noFill/>
            <a:ln/>
          </p:spPr>
          <p:txBody>
            <a:bodyPr wrap="square" rtlCol="0" anchor="ctr"/>
            <a:lstStyle/>
            <a:p>
              <a:pPr marL="0" indent="0">
                <a:buNone/>
              </a:pPr>
              <a:r>
                <a:rPr lang="en-US" sz="1050" b="1" dirty="0">
                  <a:solidFill>
                    <a:srgbClr val="9D1535"/>
                  </a:solidFill>
                  <a:latin typeface="Trebuchet MS" pitchFamily="34" charset="0"/>
                  <a:ea typeface="Trebuchet MS" pitchFamily="34" charset="-122"/>
                  <a:cs typeface="Trebuchet MS" pitchFamily="34" charset="-120"/>
                </a:rPr>
                <a:t>Review Recency</a:t>
              </a:r>
              <a:endParaRPr lang="en-US" sz="1050" dirty="0"/>
            </a:p>
          </p:txBody>
        </p:sp>
        <p:sp>
          <p:nvSpPr>
            <p:cNvPr id="44" name="Text 42"/>
            <p:cNvSpPr/>
            <p:nvPr/>
          </p:nvSpPr>
          <p:spPr>
            <a:xfrm>
              <a:off x="4791456" y="3529584"/>
              <a:ext cx="3931920" cy="365760"/>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What percentage of reviews were written in 2020 or later. Recent reviews reflect the current version of the drug and today's patient population — older reviews may describe discontinued formulations.</a:t>
              </a:r>
              <a:endParaRPr lang="en-US" sz="950" dirty="0"/>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365760" y="201168"/>
            <a:ext cx="2377440" cy="256032"/>
          </a:xfrm>
          <a:prstGeom prst="rect">
            <a:avLst/>
          </a:prstGeom>
          <a:solidFill>
            <a:srgbClr val="2563EB"/>
          </a:solidFill>
          <a:ln w="12700">
            <a:solidFill>
              <a:srgbClr val="2563EB"/>
            </a:solidFill>
            <a:prstDash val="solid"/>
          </a:ln>
        </p:spPr>
        <p:txBody>
          <a:bodyPr/>
          <a:lstStyle/>
          <a:p>
            <a:endParaRPr lang="en-US"/>
          </a:p>
        </p:txBody>
      </p:sp>
      <p:sp>
        <p:nvSpPr>
          <p:cNvPr id="3" name="Text 1"/>
          <p:cNvSpPr/>
          <p:nvPr/>
        </p:nvSpPr>
        <p:spPr>
          <a:xfrm>
            <a:off x="365760" y="201168"/>
            <a:ext cx="2377440"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rPr>
              <a:t>MODEL RESULTS</a:t>
            </a:r>
            <a:endParaRPr lang="en-US" sz="800" dirty="0"/>
          </a:p>
        </p:txBody>
      </p:sp>
      <p:sp>
        <p:nvSpPr>
          <p:cNvPr id="4" name="Text 2"/>
          <p:cNvSpPr/>
          <p:nvPr/>
        </p:nvSpPr>
        <p:spPr>
          <a:xfrm>
            <a:off x="365760" y="566928"/>
            <a:ext cx="8412480" cy="640080"/>
          </a:xfrm>
          <a:prstGeom prst="rect">
            <a:avLst/>
          </a:prstGeom>
          <a:noFill/>
          <a:ln/>
        </p:spPr>
        <p:txBody>
          <a:bodyPr wrap="square" rtlCol="0" anchor="ctr"/>
          <a:lstStyle/>
          <a:p>
            <a:pPr marL="0" indent="0">
              <a:buNone/>
            </a:pPr>
            <a:r>
              <a:rPr lang="en-US" sz="2800" b="1" dirty="0">
                <a:solidFill>
                  <a:srgbClr val="111827"/>
                </a:solidFill>
                <a:latin typeface="Trebuchet MS" pitchFamily="34" charset="0"/>
                <a:ea typeface="Trebuchet MS" pitchFamily="34" charset="-122"/>
                <a:cs typeface="Trebuchet MS" pitchFamily="34" charset="-120"/>
              </a:rPr>
              <a:t>Satisfaction Predictor — Model Performance</a:t>
            </a:r>
            <a:endParaRPr lang="en-US" sz="2800" dirty="0"/>
          </a:p>
        </p:txBody>
      </p:sp>
      <p:sp>
        <p:nvSpPr>
          <p:cNvPr id="5" name="Shape 3"/>
          <p:cNvSpPr/>
          <p:nvPr/>
        </p:nvSpPr>
        <p:spPr>
          <a:xfrm>
            <a:off x="365760" y="1298448"/>
            <a:ext cx="8412480" cy="0"/>
          </a:xfrm>
          <a:prstGeom prst="line">
            <a:avLst/>
          </a:prstGeom>
          <a:noFill/>
          <a:ln w="12700">
            <a:solidFill>
              <a:srgbClr val="E5E7EB"/>
            </a:solidFill>
            <a:prstDash val="solid"/>
          </a:ln>
        </p:spPr>
        <p:txBody>
          <a:bodyPr/>
          <a:lstStyle/>
          <a:p>
            <a:endParaRPr lang="en-US"/>
          </a:p>
        </p:txBody>
      </p:sp>
      <p:sp>
        <p:nvSpPr>
          <p:cNvPr id="6" name="Shape 4"/>
          <p:cNvSpPr/>
          <p:nvPr/>
        </p:nvSpPr>
        <p:spPr>
          <a:xfrm>
            <a:off x="0" y="4800600"/>
            <a:ext cx="9144000" cy="347472"/>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365760" y="4809744"/>
            <a:ext cx="731520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Speaker 2  ·  Phase 2B v3 — LOO Cross-Validation Results</a:t>
            </a:r>
            <a:endParaRPr lang="en-US" sz="900" dirty="0"/>
          </a:p>
        </p:txBody>
      </p:sp>
      <p:sp>
        <p:nvSpPr>
          <p:cNvPr id="8" name="Text 6"/>
          <p:cNvSpPr/>
          <p:nvPr/>
        </p:nvSpPr>
        <p:spPr>
          <a:xfrm>
            <a:off x="4572000" y="4809744"/>
            <a:ext cx="438912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Stevens Institute of Technology  ·  BIA-660 Web Mining</a:t>
            </a:r>
            <a:endParaRPr lang="en-US" sz="900" dirty="0"/>
          </a:p>
        </p:txBody>
      </p:sp>
      <p:sp>
        <p:nvSpPr>
          <p:cNvPr id="9" name="Text 7"/>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AAAAAA"/>
                </a:solidFill>
              </a:rPr>
              <a:t>17 / 25</a:t>
            </a:r>
            <a:endParaRPr lang="en-US" sz="900" dirty="0"/>
          </a:p>
        </p:txBody>
      </p:sp>
      <p:graphicFrame>
        <p:nvGraphicFramePr>
          <p:cNvPr id="10" name="Chart 0"/>
          <p:cNvGraphicFramePr/>
          <p:nvPr/>
        </p:nvGraphicFramePr>
        <p:xfrm>
          <a:off x="365760" y="1417320"/>
          <a:ext cx="45720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11" name="Shape 8"/>
          <p:cNvSpPr/>
          <p:nvPr/>
        </p:nvSpPr>
        <p:spPr>
          <a:xfrm>
            <a:off x="5120640" y="1417320"/>
            <a:ext cx="3657600" cy="3200400"/>
          </a:xfrm>
          <a:prstGeom prst="rect">
            <a:avLst/>
          </a:prstGeom>
          <a:solidFill>
            <a:srgbClr val="F7EEF1"/>
          </a:solidFill>
          <a:ln w="25400">
            <a:solidFill>
              <a:srgbClr val="9D1535"/>
            </a:solidFill>
            <a:prstDash val="solid"/>
          </a:ln>
          <a:effectLst>
            <a:outerShdw blurRad="101600" dist="25400" dir="8100000" algn="bl" rotWithShape="0">
              <a:srgbClr val="000000">
                <a:alpha val="10000"/>
              </a:srgbClr>
            </a:outerShdw>
          </a:effectLst>
        </p:spPr>
        <p:txBody>
          <a:bodyPr/>
          <a:lstStyle/>
          <a:p>
            <a:endParaRPr lang="en-US"/>
          </a:p>
        </p:txBody>
      </p:sp>
      <p:sp>
        <p:nvSpPr>
          <p:cNvPr id="12" name="Text 9"/>
          <p:cNvSpPr/>
          <p:nvPr/>
        </p:nvSpPr>
        <p:spPr>
          <a:xfrm>
            <a:off x="5257800" y="1481328"/>
            <a:ext cx="3383280" cy="320040"/>
          </a:xfrm>
          <a:prstGeom prst="rect">
            <a:avLst/>
          </a:prstGeom>
          <a:noFill/>
          <a:ln/>
        </p:spPr>
        <p:txBody>
          <a:bodyPr wrap="square" rtlCol="0" anchor="ctr"/>
          <a:lstStyle/>
          <a:p>
            <a:pPr marL="0" indent="0">
              <a:buNone/>
            </a:pPr>
            <a:r>
              <a:rPr lang="en-US" sz="1200" b="1" dirty="0">
                <a:solidFill>
                  <a:srgbClr val="9D1535"/>
                </a:solidFill>
                <a:latin typeface="Trebuchet MS" pitchFamily="34" charset="0"/>
                <a:ea typeface="Trebuchet MS" pitchFamily="34" charset="-122"/>
                <a:cs typeface="Trebuchet MS" pitchFamily="34" charset="-120"/>
              </a:rPr>
              <a:t>Why R² is Low — and Why That's OK</a:t>
            </a:r>
            <a:endParaRPr lang="en-US" sz="1200" dirty="0"/>
          </a:p>
        </p:txBody>
      </p:sp>
      <p:sp>
        <p:nvSpPr>
          <p:cNvPr id="13" name="Text 10"/>
          <p:cNvSpPr/>
          <p:nvPr/>
        </p:nvSpPr>
        <p:spPr>
          <a:xfrm>
            <a:off x="5257800" y="1920240"/>
            <a:ext cx="3383280" cy="457200"/>
          </a:xfrm>
          <a:prstGeom prst="rect">
            <a:avLst/>
          </a:prstGeom>
          <a:noFill/>
          <a:ln/>
        </p:spPr>
        <p:txBody>
          <a:bodyPr wrap="square" rtlCol="0" anchor="ctr"/>
          <a:lstStyle/>
          <a:p>
            <a:pPr marL="0" indent="0">
              <a:buNone/>
            </a:pPr>
            <a:r>
              <a:rPr lang="en-US" sz="1050" b="1" dirty="0">
                <a:solidFill>
                  <a:srgbClr val="9D1535"/>
                </a:solidFill>
                <a:latin typeface="Calibri" pitchFamily="34" charset="0"/>
                <a:ea typeface="Calibri" pitchFamily="34" charset="-122"/>
                <a:cs typeface="Calibri" pitchFamily="34" charset="-120"/>
              </a:rPr>
              <a:t>→  </a:t>
            </a:r>
            <a:r>
              <a:rPr lang="en-US" sz="1050" dirty="0">
                <a:solidFill>
                  <a:srgbClr val="374151"/>
                </a:solidFill>
                <a:latin typeface="Calibri" pitchFamily="34" charset="0"/>
                <a:ea typeface="Calibri" pitchFamily="34" charset="-122"/>
                <a:cs typeface="Calibri" pitchFamily="34" charset="-120"/>
              </a:rPr>
              <a:t>n=50 is a small sample for 43 features — LOO-CV produces high variance estimates</a:t>
            </a:r>
            <a:endParaRPr lang="en-US" sz="1050" dirty="0"/>
          </a:p>
        </p:txBody>
      </p:sp>
      <p:sp>
        <p:nvSpPr>
          <p:cNvPr id="14" name="Text 11"/>
          <p:cNvSpPr/>
          <p:nvPr/>
        </p:nvSpPr>
        <p:spPr>
          <a:xfrm>
            <a:off x="5257800" y="2423160"/>
            <a:ext cx="3383280" cy="457200"/>
          </a:xfrm>
          <a:prstGeom prst="rect">
            <a:avLst/>
          </a:prstGeom>
          <a:noFill/>
          <a:ln/>
        </p:spPr>
        <p:txBody>
          <a:bodyPr wrap="square" rtlCol="0" anchor="ctr"/>
          <a:lstStyle/>
          <a:p>
            <a:pPr marL="0" indent="0">
              <a:buNone/>
            </a:pPr>
            <a:r>
              <a:rPr lang="en-US" sz="1050" b="1" dirty="0">
                <a:solidFill>
                  <a:srgbClr val="9D1535"/>
                </a:solidFill>
                <a:latin typeface="Calibri" pitchFamily="34" charset="0"/>
                <a:ea typeface="Calibri" pitchFamily="34" charset="-122"/>
                <a:cs typeface="Calibri" pitchFamily="34" charset="-120"/>
              </a:rPr>
              <a:t>→  </a:t>
            </a:r>
            <a:r>
              <a:rPr lang="en-US" sz="1050" dirty="0">
                <a:solidFill>
                  <a:srgbClr val="374151"/>
                </a:solidFill>
                <a:latin typeface="Calibri" pitchFamily="34" charset="0"/>
                <a:ea typeface="Calibri" pitchFamily="34" charset="-122"/>
                <a:cs typeface="Calibri" pitchFamily="34" charset="-120"/>
              </a:rPr>
              <a:t>Drug-level features can't capture patient-level variation (age, other meds, condition severity)</a:t>
            </a:r>
            <a:endParaRPr lang="en-US" sz="1050" dirty="0"/>
          </a:p>
        </p:txBody>
      </p:sp>
      <p:sp>
        <p:nvSpPr>
          <p:cNvPr id="15" name="Text 12"/>
          <p:cNvSpPr/>
          <p:nvPr/>
        </p:nvSpPr>
        <p:spPr>
          <a:xfrm>
            <a:off x="5257800" y="2926080"/>
            <a:ext cx="3383280" cy="457200"/>
          </a:xfrm>
          <a:prstGeom prst="rect">
            <a:avLst/>
          </a:prstGeom>
          <a:noFill/>
          <a:ln/>
        </p:spPr>
        <p:txBody>
          <a:bodyPr wrap="square" rtlCol="0" anchor="ctr"/>
          <a:lstStyle/>
          <a:p>
            <a:pPr marL="0" indent="0">
              <a:buNone/>
            </a:pPr>
            <a:r>
              <a:rPr lang="en-US" sz="1050" b="1" dirty="0">
                <a:solidFill>
                  <a:srgbClr val="9D1535"/>
                </a:solidFill>
                <a:latin typeface="Calibri" pitchFamily="34" charset="0"/>
                <a:ea typeface="Calibri" pitchFamily="34" charset="-122"/>
                <a:cs typeface="Calibri" pitchFamily="34" charset="-120"/>
              </a:rPr>
              <a:t>→  </a:t>
            </a:r>
            <a:r>
              <a:rPr lang="en-US" sz="1050" dirty="0">
                <a:solidFill>
                  <a:srgbClr val="374151"/>
                </a:solidFill>
                <a:latin typeface="Calibri" pitchFamily="34" charset="0"/>
                <a:ea typeface="Calibri" pitchFamily="34" charset="-122"/>
                <a:cs typeface="Calibri" pitchFamily="34" charset="-120"/>
              </a:rPr>
              <a:t>Crossing from negative to positive R² for the first time shows real improvement</a:t>
            </a:r>
            <a:endParaRPr lang="en-US" sz="1050" dirty="0"/>
          </a:p>
        </p:txBody>
      </p:sp>
      <p:sp>
        <p:nvSpPr>
          <p:cNvPr id="16" name="Text 13"/>
          <p:cNvSpPr/>
          <p:nvPr/>
        </p:nvSpPr>
        <p:spPr>
          <a:xfrm>
            <a:off x="5257800" y="3429000"/>
            <a:ext cx="3383280" cy="457200"/>
          </a:xfrm>
          <a:prstGeom prst="rect">
            <a:avLst/>
          </a:prstGeom>
          <a:noFill/>
          <a:ln/>
        </p:spPr>
        <p:txBody>
          <a:bodyPr wrap="square" rtlCol="0" anchor="ctr"/>
          <a:lstStyle/>
          <a:p>
            <a:pPr marL="0" indent="0">
              <a:buNone/>
            </a:pPr>
            <a:r>
              <a:rPr lang="en-US" sz="1050" b="1" dirty="0">
                <a:solidFill>
                  <a:srgbClr val="9D1535"/>
                </a:solidFill>
                <a:latin typeface="Calibri" pitchFamily="34" charset="0"/>
                <a:ea typeface="Calibri" pitchFamily="34" charset="-122"/>
                <a:cs typeface="Calibri" pitchFamily="34" charset="-120"/>
              </a:rPr>
              <a:t>→  </a:t>
            </a:r>
            <a:r>
              <a:rPr lang="en-US" sz="1050" dirty="0">
                <a:solidFill>
                  <a:srgbClr val="374151"/>
                </a:solidFill>
                <a:latin typeface="Calibri" pitchFamily="34" charset="0"/>
                <a:ea typeface="Calibri" pitchFamily="34" charset="-122"/>
                <a:cs typeface="Calibri" pitchFamily="34" charset="-120"/>
              </a:rPr>
              <a:t>Drug class alone explains the ARB/losartan pattern — structural features never could</a:t>
            </a:r>
            <a:endParaRPr lang="en-US" sz="1050" dirty="0"/>
          </a:p>
        </p:txBody>
      </p:sp>
      <p:sp>
        <p:nvSpPr>
          <p:cNvPr id="17" name="Text 14"/>
          <p:cNvSpPr/>
          <p:nvPr/>
        </p:nvSpPr>
        <p:spPr>
          <a:xfrm>
            <a:off x="5257800" y="3931920"/>
            <a:ext cx="3383280" cy="457200"/>
          </a:xfrm>
          <a:prstGeom prst="rect">
            <a:avLst/>
          </a:prstGeom>
          <a:noFill/>
          <a:ln/>
        </p:spPr>
        <p:txBody>
          <a:bodyPr wrap="square" rtlCol="0" anchor="ctr"/>
          <a:lstStyle/>
          <a:p>
            <a:pPr marL="0" indent="0">
              <a:buNone/>
            </a:pPr>
            <a:r>
              <a:rPr lang="en-US" sz="1050" b="1" dirty="0">
                <a:solidFill>
                  <a:srgbClr val="9D1535"/>
                </a:solidFill>
                <a:latin typeface="Calibri" pitchFamily="34" charset="0"/>
                <a:ea typeface="Calibri" pitchFamily="34" charset="-122"/>
                <a:cs typeface="Calibri" pitchFamily="34" charset="-120"/>
              </a:rPr>
              <a:t>→  </a:t>
            </a:r>
            <a:r>
              <a:rPr lang="en-US" sz="1050" dirty="0">
                <a:solidFill>
                  <a:srgbClr val="374151"/>
                </a:solidFill>
                <a:latin typeface="Calibri" pitchFamily="34" charset="0"/>
                <a:ea typeface="Calibri" pitchFamily="34" charset="-122"/>
                <a:cs typeface="Calibri" pitchFamily="34" charset="-120"/>
              </a:rPr>
              <a:t>The null finding IS the finding: pharmacological profile &gt; structural characteristics</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365760" y="201168"/>
            <a:ext cx="2377440" cy="256032"/>
          </a:xfrm>
          <a:prstGeom prst="rect">
            <a:avLst/>
          </a:prstGeom>
          <a:solidFill>
            <a:srgbClr val="2563EB"/>
          </a:solidFill>
          <a:ln w="12700">
            <a:solidFill>
              <a:srgbClr val="2563EB"/>
            </a:solidFill>
            <a:prstDash val="solid"/>
          </a:ln>
        </p:spPr>
        <p:txBody>
          <a:bodyPr/>
          <a:lstStyle/>
          <a:p>
            <a:endParaRPr lang="en-US"/>
          </a:p>
        </p:txBody>
      </p:sp>
      <p:sp>
        <p:nvSpPr>
          <p:cNvPr id="3" name="Text 1"/>
          <p:cNvSpPr/>
          <p:nvPr/>
        </p:nvSpPr>
        <p:spPr>
          <a:xfrm>
            <a:off x="365760" y="201168"/>
            <a:ext cx="2377440"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rPr>
              <a:t>HYPOTHESIS TESTING</a:t>
            </a:r>
            <a:endParaRPr lang="en-US" sz="800" dirty="0"/>
          </a:p>
        </p:txBody>
      </p:sp>
      <p:sp>
        <p:nvSpPr>
          <p:cNvPr id="4" name="Text 2"/>
          <p:cNvSpPr/>
          <p:nvPr/>
        </p:nvSpPr>
        <p:spPr>
          <a:xfrm>
            <a:off x="365760" y="566928"/>
            <a:ext cx="8412480" cy="640080"/>
          </a:xfrm>
          <a:prstGeom prst="rect">
            <a:avLst/>
          </a:prstGeom>
          <a:noFill/>
          <a:ln/>
        </p:spPr>
        <p:txBody>
          <a:bodyPr wrap="square" rtlCol="0" anchor="ctr"/>
          <a:lstStyle/>
          <a:p>
            <a:pPr marL="0" indent="0">
              <a:buNone/>
            </a:pPr>
            <a:r>
              <a:rPr lang="en-US" sz="2800" b="1" dirty="0">
                <a:solidFill>
                  <a:srgbClr val="111827"/>
                </a:solidFill>
                <a:latin typeface="Trebuchet MS" pitchFamily="34" charset="0"/>
                <a:ea typeface="Trebuchet MS" pitchFamily="34" charset="-122"/>
                <a:cs typeface="Trebuchet MS" pitchFamily="34" charset="-120"/>
              </a:rPr>
              <a:t>8 Hypothesis Tests — Results</a:t>
            </a:r>
            <a:endParaRPr lang="en-US" sz="2800" dirty="0"/>
          </a:p>
        </p:txBody>
      </p:sp>
      <p:sp>
        <p:nvSpPr>
          <p:cNvPr id="5" name="Shape 3"/>
          <p:cNvSpPr/>
          <p:nvPr/>
        </p:nvSpPr>
        <p:spPr>
          <a:xfrm>
            <a:off x="365760" y="1298448"/>
            <a:ext cx="8412480" cy="0"/>
          </a:xfrm>
          <a:prstGeom prst="line">
            <a:avLst/>
          </a:prstGeom>
          <a:noFill/>
          <a:ln w="12700">
            <a:solidFill>
              <a:srgbClr val="E5E7EB"/>
            </a:solidFill>
            <a:prstDash val="solid"/>
          </a:ln>
        </p:spPr>
        <p:txBody>
          <a:bodyPr/>
          <a:lstStyle/>
          <a:p>
            <a:endParaRPr lang="en-US"/>
          </a:p>
        </p:txBody>
      </p:sp>
      <p:sp>
        <p:nvSpPr>
          <p:cNvPr id="6" name="Shape 4"/>
          <p:cNvSpPr/>
          <p:nvPr/>
        </p:nvSpPr>
        <p:spPr>
          <a:xfrm>
            <a:off x="0" y="4809744"/>
            <a:ext cx="9144000" cy="347472"/>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365760" y="4809744"/>
            <a:ext cx="7315200" cy="274320"/>
          </a:xfrm>
          <a:prstGeom prst="rect">
            <a:avLst/>
          </a:prstGeom>
          <a:noFill/>
          <a:ln/>
        </p:spPr>
        <p:txBody>
          <a:bodyPr wrap="square" rtlCol="0" anchor="ctr"/>
          <a:lstStyle/>
          <a:p>
            <a:pPr marL="0" indent="0">
              <a:buNone/>
            </a:pPr>
            <a:endParaRPr lang="en-US" sz="900" dirty="0"/>
          </a:p>
        </p:txBody>
      </p:sp>
      <p:sp>
        <p:nvSpPr>
          <p:cNvPr id="8" name="Text 6"/>
          <p:cNvSpPr/>
          <p:nvPr/>
        </p:nvSpPr>
        <p:spPr>
          <a:xfrm>
            <a:off x="4572000" y="4809744"/>
            <a:ext cx="4389120" cy="274320"/>
          </a:xfrm>
          <a:prstGeom prst="rect">
            <a:avLst/>
          </a:prstGeom>
          <a:noFill/>
          <a:ln/>
        </p:spPr>
        <p:txBody>
          <a:bodyPr wrap="square" rtlCol="0" anchor="ctr"/>
          <a:lstStyle/>
          <a:p>
            <a:pPr marL="0" indent="0" algn="r">
              <a:buNone/>
            </a:pPr>
            <a:endParaRPr lang="en-US" sz="900" dirty="0"/>
          </a:p>
        </p:txBody>
      </p:sp>
      <p:sp>
        <p:nvSpPr>
          <p:cNvPr id="9" name="Text 7"/>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AAAAAA"/>
                </a:solidFill>
              </a:rPr>
              <a:t>18 / 25</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992008018"/>
              </p:ext>
            </p:extLst>
          </p:nvPr>
        </p:nvGraphicFramePr>
        <p:xfrm>
          <a:off x="365760" y="1103587"/>
          <a:ext cx="8412480" cy="3578139"/>
        </p:xfrm>
        <a:graphic>
          <a:graphicData uri="http://schemas.openxmlformats.org/drawingml/2006/table">
            <a:tbl>
              <a:tblPr/>
              <a:tblGrid>
                <a:gridCol w="6400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397571">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9D1535"/>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Hypothesis</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9D153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Pearson r</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9D153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p-value</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9D153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Result</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9D1535"/>
                    </a:solidFill>
                  </a:tcPr>
                </a:tc>
                <a:extLst>
                  <a:ext uri="{0D108BD9-81ED-4DB2-BD59-A6C34878D82A}">
                    <a16:rowId xmlns:a16="http://schemas.microsoft.com/office/drawing/2014/main" val="10000"/>
                  </a:ext>
                </a:extLst>
              </a:tr>
              <a:tr h="397571">
                <a:tc>
                  <a:txBody>
                    <a:bodyPr/>
                    <a:lstStyle/>
                    <a:p>
                      <a:pPr marL="0" indent="0" algn="ctr">
                        <a:buNone/>
                      </a:pPr>
                      <a:r>
                        <a:rPr lang="en-US" sz="1000" b="1" dirty="0">
                          <a:solidFill>
                            <a:srgbClr val="6B7280"/>
                          </a:solidFill>
                          <a:latin typeface="Calibri" pitchFamily="34" charset="0"/>
                          <a:ea typeface="Calibri" pitchFamily="34" charset="-122"/>
                          <a:cs typeface="Calibri" pitchFamily="34" charset="-120"/>
                        </a:rPr>
                        <a:t>H1</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74151"/>
                          </a:solidFill>
                          <a:latin typeface="Calibri" pitchFamily="34" charset="0"/>
                          <a:ea typeface="Calibri" pitchFamily="34" charset="-122"/>
                          <a:cs typeface="Calibri" pitchFamily="34" charset="-120"/>
                        </a:rPr>
                        <a:t>Adverse Event Diversity → lower satisfaction</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6B7280"/>
                          </a:solidFill>
                          <a:latin typeface="Calibri" pitchFamily="34" charset="0"/>
                          <a:ea typeface="Calibri" pitchFamily="34" charset="-122"/>
                          <a:cs typeface="Calibri" pitchFamily="34" charset="-120"/>
                        </a:rPr>
                        <a:t>-0.053</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6B7280"/>
                          </a:solidFill>
                          <a:latin typeface="Calibri" pitchFamily="34" charset="0"/>
                          <a:ea typeface="Calibri" pitchFamily="34" charset="-122"/>
                          <a:cs typeface="Calibri" pitchFamily="34" charset="-120"/>
                        </a:rPr>
                        <a:t>0.713</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6B7280"/>
                          </a:solidFill>
                          <a:latin typeface="Calibri" pitchFamily="34" charset="0"/>
                          <a:ea typeface="Calibri" pitchFamily="34" charset="-122"/>
                          <a:cs typeface="Calibri" pitchFamily="34" charset="-120"/>
                        </a:rPr>
                        <a:t>~ Trend</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7571">
                <a:tc>
                  <a:txBody>
                    <a:bodyPr/>
                    <a:lstStyle/>
                    <a:p>
                      <a:pPr marL="0" indent="0" algn="ctr">
                        <a:buNone/>
                      </a:pPr>
                      <a:r>
                        <a:rPr lang="en-US" sz="1000" b="1" dirty="0">
                          <a:solidFill>
                            <a:srgbClr val="6B7280"/>
                          </a:solidFill>
                          <a:latin typeface="Calibri" pitchFamily="34" charset="0"/>
                          <a:ea typeface="Calibri" pitchFamily="34" charset="-122"/>
                          <a:cs typeface="Calibri" pitchFamily="34" charset="-120"/>
                        </a:rPr>
                        <a:t>H2</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l">
                        <a:buNone/>
                      </a:pPr>
                      <a:r>
                        <a:rPr lang="en-US" sz="1000" dirty="0">
                          <a:solidFill>
                            <a:srgbClr val="374151"/>
                          </a:solidFill>
                          <a:latin typeface="Calibri" pitchFamily="34" charset="0"/>
                          <a:ea typeface="Calibri" pitchFamily="34" charset="-122"/>
                          <a:cs typeface="Calibri" pitchFamily="34" charset="-120"/>
                        </a:rPr>
                        <a:t>Active shortage → lower satisfaction</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000" dirty="0">
                          <a:solidFill>
                            <a:srgbClr val="6B7280"/>
                          </a:solidFill>
                          <a:latin typeface="Calibri" pitchFamily="34" charset="0"/>
                          <a:ea typeface="Calibri" pitchFamily="34" charset="-122"/>
                          <a:cs typeface="Calibri" pitchFamily="34" charset="-120"/>
                        </a:rPr>
                        <a:t>-0.091</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000" dirty="0">
                          <a:solidFill>
                            <a:srgbClr val="6B7280"/>
                          </a:solidFill>
                          <a:latin typeface="Calibri" pitchFamily="34" charset="0"/>
                          <a:ea typeface="Calibri" pitchFamily="34" charset="-122"/>
                          <a:cs typeface="Calibri" pitchFamily="34" charset="-120"/>
                        </a:rPr>
                        <a:t>0.531</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000" b="1" dirty="0">
                          <a:solidFill>
                            <a:srgbClr val="6B7280"/>
                          </a:solidFill>
                          <a:latin typeface="Calibri" pitchFamily="34" charset="0"/>
                          <a:ea typeface="Calibri" pitchFamily="34" charset="-122"/>
                          <a:cs typeface="Calibri" pitchFamily="34" charset="-120"/>
                        </a:rPr>
                        <a:t>~ Trend</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extLst>
                  <a:ext uri="{0D108BD9-81ED-4DB2-BD59-A6C34878D82A}">
                    <a16:rowId xmlns:a16="http://schemas.microsoft.com/office/drawing/2014/main" val="10002"/>
                  </a:ext>
                </a:extLst>
              </a:tr>
              <a:tr h="397571">
                <a:tc>
                  <a:txBody>
                    <a:bodyPr/>
                    <a:lstStyle/>
                    <a:p>
                      <a:pPr marL="0" indent="0" algn="ctr">
                        <a:buNone/>
                      </a:pPr>
                      <a:r>
                        <a:rPr lang="en-US" sz="1000" b="1" dirty="0">
                          <a:solidFill>
                            <a:srgbClr val="D97706"/>
                          </a:solidFill>
                          <a:latin typeface="Calibri" pitchFamily="34" charset="0"/>
                          <a:ea typeface="Calibri" pitchFamily="34" charset="-122"/>
                          <a:cs typeface="Calibri" pitchFamily="34" charset="-120"/>
                        </a:rPr>
                        <a:t>H3</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74151"/>
                          </a:solidFill>
                          <a:latin typeface="Calibri" pitchFamily="34" charset="0"/>
                          <a:ea typeface="Calibri" pitchFamily="34" charset="-122"/>
                          <a:cs typeface="Calibri" pitchFamily="34" charset="-120"/>
                        </a:rPr>
                        <a:t>Higher price → lower satisfaction</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D97706"/>
                          </a:solidFill>
                          <a:latin typeface="Calibri" pitchFamily="34" charset="0"/>
                          <a:ea typeface="Calibri" pitchFamily="34" charset="-122"/>
                          <a:cs typeface="Calibri" pitchFamily="34" charset="-120"/>
                        </a:rPr>
                        <a:t>-0.199</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D97706"/>
                          </a:solidFill>
                          <a:latin typeface="Calibri" pitchFamily="34" charset="0"/>
                          <a:ea typeface="Calibri" pitchFamily="34" charset="-122"/>
                          <a:cs typeface="Calibri" pitchFamily="34" charset="-120"/>
                        </a:rPr>
                        <a:t>0.051</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D97706"/>
                          </a:solidFill>
                          <a:latin typeface="Calibri" pitchFamily="34" charset="0"/>
                          <a:ea typeface="Calibri" pitchFamily="34" charset="-122"/>
                          <a:cs typeface="Calibri" pitchFamily="34" charset="-120"/>
                        </a:rPr>
                        <a:t>~ p&lt;0.10</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7571">
                <a:tc>
                  <a:txBody>
                    <a:bodyPr/>
                    <a:lstStyle/>
                    <a:p>
                      <a:pPr marL="0" indent="0" algn="ctr">
                        <a:buNone/>
                      </a:pPr>
                      <a:r>
                        <a:rPr lang="en-US" sz="1000" b="1" dirty="0">
                          <a:solidFill>
                            <a:srgbClr val="6B7280"/>
                          </a:solidFill>
                          <a:latin typeface="Calibri" pitchFamily="34" charset="0"/>
                          <a:ea typeface="Calibri" pitchFamily="34" charset="-122"/>
                          <a:cs typeface="Calibri" pitchFamily="34" charset="-120"/>
                        </a:rPr>
                        <a:t>H4</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l">
                        <a:buNone/>
                      </a:pPr>
                      <a:r>
                        <a:rPr lang="en-US" sz="1000" dirty="0">
                          <a:solidFill>
                            <a:srgbClr val="374151"/>
                          </a:solidFill>
                          <a:latin typeface="Calibri" pitchFamily="34" charset="0"/>
                          <a:ea typeface="Calibri" pitchFamily="34" charset="-122"/>
                          <a:cs typeface="Calibri" pitchFamily="34" charset="-120"/>
                        </a:rPr>
                        <a:t>Trial completion → higher satisfaction</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000" dirty="0">
                          <a:solidFill>
                            <a:srgbClr val="6B7280"/>
                          </a:solidFill>
                          <a:latin typeface="Calibri" pitchFamily="34" charset="0"/>
                          <a:ea typeface="Calibri" pitchFamily="34" charset="-122"/>
                          <a:cs typeface="Calibri" pitchFamily="34" charset="-120"/>
                        </a:rPr>
                        <a:t>+0.094</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000" dirty="0">
                          <a:solidFill>
                            <a:srgbClr val="6B7280"/>
                          </a:solidFill>
                          <a:latin typeface="Calibri" pitchFamily="34" charset="0"/>
                          <a:ea typeface="Calibri" pitchFamily="34" charset="-122"/>
                          <a:cs typeface="Calibri" pitchFamily="34" charset="-120"/>
                        </a:rPr>
                        <a:t>0.437</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000" b="1" dirty="0">
                          <a:solidFill>
                            <a:srgbClr val="6B7280"/>
                          </a:solidFill>
                          <a:latin typeface="Calibri" pitchFamily="34" charset="0"/>
                          <a:ea typeface="Calibri" pitchFamily="34" charset="-122"/>
                          <a:cs typeface="Calibri" pitchFamily="34" charset="-120"/>
                        </a:rPr>
                        <a:t>~ Trend</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extLst>
                  <a:ext uri="{0D108BD9-81ED-4DB2-BD59-A6C34878D82A}">
                    <a16:rowId xmlns:a16="http://schemas.microsoft.com/office/drawing/2014/main" val="10004"/>
                  </a:ext>
                </a:extLst>
              </a:tr>
              <a:tr h="397571">
                <a:tc>
                  <a:txBody>
                    <a:bodyPr/>
                    <a:lstStyle/>
                    <a:p>
                      <a:pPr marL="0" indent="0" algn="ctr">
                        <a:buNone/>
                      </a:pPr>
                      <a:r>
                        <a:rPr lang="en-US" sz="1000" b="1" dirty="0">
                          <a:solidFill>
                            <a:srgbClr val="6B7280"/>
                          </a:solidFill>
                          <a:latin typeface="Calibri" pitchFamily="34" charset="0"/>
                          <a:ea typeface="Calibri" pitchFamily="34" charset="-122"/>
                          <a:cs typeface="Calibri" pitchFamily="34" charset="-120"/>
                        </a:rPr>
                        <a:t>H5</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74151"/>
                          </a:solidFill>
                          <a:latin typeface="Calibri" pitchFamily="34" charset="0"/>
                          <a:ea typeface="Calibri" pitchFamily="34" charset="-122"/>
                          <a:cs typeface="Calibri" pitchFamily="34" charset="-120"/>
                        </a:rPr>
                        <a:t>Older drug → higher satisfaction</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6B7280"/>
                          </a:solidFill>
                          <a:latin typeface="Calibri" pitchFamily="34" charset="0"/>
                          <a:ea typeface="Calibri" pitchFamily="34" charset="-122"/>
                          <a:cs typeface="Calibri" pitchFamily="34" charset="-120"/>
                        </a:rPr>
                        <a:t>+0.165</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6B7280"/>
                          </a:solidFill>
                          <a:latin typeface="Calibri" pitchFamily="34" charset="0"/>
                          <a:ea typeface="Calibri" pitchFamily="34" charset="-122"/>
                          <a:cs typeface="Calibri" pitchFamily="34" charset="-120"/>
                        </a:rPr>
                        <a:t>0.126</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6B7280"/>
                          </a:solidFill>
                          <a:latin typeface="Calibri" pitchFamily="34" charset="0"/>
                          <a:ea typeface="Calibri" pitchFamily="34" charset="-122"/>
                          <a:cs typeface="Calibri" pitchFamily="34" charset="-120"/>
                        </a:rPr>
                        <a:t>~ Trend</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97571">
                <a:tc>
                  <a:txBody>
                    <a:bodyPr/>
                    <a:lstStyle/>
                    <a:p>
                      <a:pPr marL="0" indent="0" algn="ctr">
                        <a:buNone/>
                      </a:pPr>
                      <a:r>
                        <a:rPr lang="en-US" sz="1000" b="1" dirty="0">
                          <a:solidFill>
                            <a:srgbClr val="D97706"/>
                          </a:solidFill>
                          <a:latin typeface="Calibri" pitchFamily="34" charset="0"/>
                          <a:ea typeface="Calibri" pitchFamily="34" charset="-122"/>
                          <a:cs typeface="Calibri" pitchFamily="34" charset="-120"/>
                        </a:rPr>
                        <a:t>H6</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l">
                        <a:buNone/>
                      </a:pPr>
                      <a:r>
                        <a:rPr lang="en-US" sz="1000" dirty="0">
                          <a:solidFill>
                            <a:srgbClr val="374151"/>
                          </a:solidFill>
                          <a:latin typeface="Calibri" pitchFamily="34" charset="0"/>
                          <a:ea typeface="Calibri" pitchFamily="34" charset="-122"/>
                          <a:cs typeface="Calibri" pitchFamily="34" charset="-120"/>
                        </a:rPr>
                        <a:t>New drug → lower satisfaction</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000" dirty="0">
                          <a:solidFill>
                            <a:srgbClr val="D97706"/>
                          </a:solidFill>
                          <a:latin typeface="Calibri" pitchFamily="34" charset="0"/>
                          <a:ea typeface="Calibri" pitchFamily="34" charset="-122"/>
                          <a:cs typeface="Calibri" pitchFamily="34" charset="-120"/>
                        </a:rPr>
                        <a:t>-0.256</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000" dirty="0">
                          <a:solidFill>
                            <a:srgbClr val="D97706"/>
                          </a:solidFill>
                          <a:latin typeface="Calibri" pitchFamily="34" charset="0"/>
                          <a:ea typeface="Calibri" pitchFamily="34" charset="-122"/>
                          <a:cs typeface="Calibri" pitchFamily="34" charset="-120"/>
                        </a:rPr>
                        <a:t>0.084</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000" b="1" dirty="0">
                          <a:solidFill>
                            <a:srgbClr val="D97706"/>
                          </a:solidFill>
                          <a:latin typeface="Calibri" pitchFamily="34" charset="0"/>
                          <a:ea typeface="Calibri" pitchFamily="34" charset="-122"/>
                          <a:cs typeface="Calibri" pitchFamily="34" charset="-120"/>
                        </a:rPr>
                        <a:t>~ p&lt;0.10</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extLst>
                  <a:ext uri="{0D108BD9-81ED-4DB2-BD59-A6C34878D82A}">
                    <a16:rowId xmlns:a16="http://schemas.microsoft.com/office/drawing/2014/main" val="10006"/>
                  </a:ext>
                </a:extLst>
              </a:tr>
              <a:tr h="397571">
                <a:tc>
                  <a:txBody>
                    <a:bodyPr/>
                    <a:lstStyle/>
                    <a:p>
                      <a:pPr marL="0" indent="0" algn="ctr">
                        <a:buNone/>
                      </a:pPr>
                      <a:r>
                        <a:rPr lang="en-US" sz="1000" b="1" dirty="0">
                          <a:solidFill>
                            <a:srgbClr val="6B7280"/>
                          </a:solidFill>
                          <a:latin typeface="Calibri" pitchFamily="34" charset="0"/>
                          <a:ea typeface="Calibri" pitchFamily="34" charset="-122"/>
                          <a:cs typeface="Calibri" pitchFamily="34" charset="-120"/>
                        </a:rPr>
                        <a:t>H7</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74151"/>
                          </a:solidFill>
                          <a:latin typeface="Calibri" pitchFamily="34" charset="0"/>
                          <a:ea typeface="Calibri" pitchFamily="34" charset="-122"/>
                          <a:cs typeface="Calibri" pitchFamily="34" charset="-120"/>
                        </a:rPr>
                        <a:t>Condition diversity → lower satisfaction</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6B7280"/>
                          </a:solidFill>
                          <a:latin typeface="Calibri" pitchFamily="34" charset="0"/>
                          <a:ea typeface="Calibri" pitchFamily="34" charset="-122"/>
                          <a:cs typeface="Calibri" pitchFamily="34" charset="-120"/>
                        </a:rPr>
                        <a:t>-0.139</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6B7280"/>
                          </a:solidFill>
                          <a:latin typeface="Calibri" pitchFamily="34" charset="0"/>
                          <a:ea typeface="Calibri" pitchFamily="34" charset="-122"/>
                          <a:cs typeface="Calibri" pitchFamily="34" charset="-120"/>
                        </a:rPr>
                        <a:t>0.216</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6B7280"/>
                          </a:solidFill>
                          <a:latin typeface="Calibri" pitchFamily="34" charset="0"/>
                          <a:ea typeface="Calibri" pitchFamily="34" charset="-122"/>
                          <a:cs typeface="Calibri" pitchFamily="34" charset="-120"/>
                        </a:rPr>
                        <a:t>~ Trend</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97571">
                <a:tc>
                  <a:txBody>
                    <a:bodyPr/>
                    <a:lstStyle/>
                    <a:p>
                      <a:pPr marL="0" indent="0" algn="ctr">
                        <a:buNone/>
                      </a:pPr>
                      <a:r>
                        <a:rPr lang="en-US" sz="1000" b="1" dirty="0">
                          <a:solidFill>
                            <a:srgbClr val="059669"/>
                          </a:solidFill>
                          <a:latin typeface="Calibri" pitchFamily="34" charset="0"/>
                          <a:ea typeface="Calibri" pitchFamily="34" charset="-122"/>
                          <a:cs typeface="Calibri" pitchFamily="34" charset="-120"/>
                        </a:rPr>
                        <a:t>H8 ✓</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EA"/>
                    </a:solidFill>
                  </a:tcPr>
                </a:tc>
                <a:tc>
                  <a:txBody>
                    <a:bodyPr/>
                    <a:lstStyle/>
                    <a:p>
                      <a:pPr marL="0" indent="0" algn="l">
                        <a:buNone/>
                      </a:pPr>
                      <a:r>
                        <a:rPr lang="en-US" sz="1000" b="1" dirty="0">
                          <a:solidFill>
                            <a:srgbClr val="374151"/>
                          </a:solidFill>
                          <a:latin typeface="Calibri" pitchFamily="34" charset="0"/>
                          <a:ea typeface="Calibri" pitchFamily="34" charset="-122"/>
                          <a:cs typeface="Calibri" pitchFamily="34" charset="-120"/>
                        </a:rPr>
                        <a:t>Sentiment polarization → higher satisfaction</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EA"/>
                    </a:solidFill>
                  </a:tcPr>
                </a:tc>
                <a:tc>
                  <a:txBody>
                    <a:bodyPr/>
                    <a:lstStyle/>
                    <a:p>
                      <a:pPr marL="0" indent="0" algn="ctr">
                        <a:buNone/>
                      </a:pPr>
                      <a:r>
                        <a:rPr lang="en-US" sz="1000" b="1" dirty="0">
                          <a:solidFill>
                            <a:srgbClr val="059669"/>
                          </a:solidFill>
                          <a:latin typeface="Calibri" pitchFamily="34" charset="0"/>
                          <a:ea typeface="Calibri" pitchFamily="34" charset="-122"/>
                          <a:cs typeface="Calibri" pitchFamily="34" charset="-120"/>
                        </a:rPr>
                        <a:t>+0.485</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EA"/>
                    </a:solidFill>
                  </a:tcPr>
                </a:tc>
                <a:tc>
                  <a:txBody>
                    <a:bodyPr/>
                    <a:lstStyle/>
                    <a:p>
                      <a:pPr marL="0" indent="0" algn="ctr">
                        <a:buNone/>
                      </a:pPr>
                      <a:r>
                        <a:rPr lang="en-US" sz="1000" b="1" dirty="0">
                          <a:solidFill>
                            <a:srgbClr val="059669"/>
                          </a:solidFill>
                          <a:latin typeface="Calibri" pitchFamily="34" charset="0"/>
                          <a:ea typeface="Calibri" pitchFamily="34" charset="-122"/>
                          <a:cs typeface="Calibri" pitchFamily="34" charset="-120"/>
                        </a:rPr>
                        <a:t>0.021</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EA"/>
                    </a:solidFill>
                  </a:tcPr>
                </a:tc>
                <a:tc>
                  <a:txBody>
                    <a:bodyPr/>
                    <a:lstStyle/>
                    <a:p>
                      <a:pPr marL="0" indent="0" algn="ctr">
                        <a:buNone/>
                      </a:pPr>
                      <a:r>
                        <a:rPr lang="en-US" sz="1000" b="1" dirty="0">
                          <a:solidFill>
                            <a:srgbClr val="059669"/>
                          </a:solidFill>
                          <a:latin typeface="Calibri" pitchFamily="34" charset="0"/>
                          <a:ea typeface="Calibri" pitchFamily="34" charset="-122"/>
                          <a:cs typeface="Calibri" pitchFamily="34" charset="-120"/>
                        </a:rPr>
                        <a:t>SUPPORTED</a:t>
                      </a:r>
                      <a:endParaRPr lang="en-US" sz="1000" dirty="0">
                        <a:latin typeface="Calibri" charset="0"/>
                        <a:ea typeface="Calibri" charset="0"/>
                        <a:cs typeface="Calibri" charset="0"/>
                      </a:endParaRPr>
                    </a:p>
                  </a:txBody>
                  <a:tcPr marL="50800" marR="50800" marT="38100" marB="381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EA"/>
                    </a:solidFill>
                  </a:tcPr>
                </a:tc>
                <a:extLst>
                  <a:ext uri="{0D108BD9-81ED-4DB2-BD59-A6C34878D82A}">
                    <a16:rowId xmlns:a16="http://schemas.microsoft.com/office/drawing/2014/main" val="10008"/>
                  </a:ext>
                </a:extLst>
              </a:tr>
            </a:tbl>
          </a:graphicData>
        </a:graphic>
      </p:graphicFrame>
      <p:sp>
        <p:nvSpPr>
          <p:cNvPr id="11" name="Text 8"/>
          <p:cNvSpPr/>
          <p:nvPr/>
        </p:nvSpPr>
        <p:spPr>
          <a:xfrm>
            <a:off x="365760" y="4754880"/>
            <a:ext cx="8412480" cy="256032"/>
          </a:xfrm>
          <a:prstGeom prst="rect">
            <a:avLst/>
          </a:prstGeom>
          <a:noFill/>
          <a:ln/>
        </p:spPr>
        <p:txBody>
          <a:bodyPr wrap="square" rtlCol="0" anchor="ctr"/>
          <a:lstStyle/>
          <a:p>
            <a:pPr marL="0" indent="0">
              <a:buNone/>
            </a:pPr>
            <a:r>
              <a:rPr lang="en-US" sz="1050" b="1" i="1" dirty="0">
                <a:solidFill>
                  <a:srgbClr val="059669"/>
                </a:solidFill>
                <a:latin typeface="Calibri" pitchFamily="34" charset="0"/>
                <a:ea typeface="Calibri" pitchFamily="34" charset="-122"/>
                <a:cs typeface="Calibri" pitchFamily="34" charset="-120"/>
              </a:rPr>
              <a:t>7 of 8 hypotheses point in the correct direction — confirming the theoretical framework</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5943600" y="2286000"/>
            <a:ext cx="4572000" cy="4572000"/>
          </a:xfrm>
          <a:prstGeom prst="ellipse">
            <a:avLst/>
          </a:prstGeom>
          <a:solidFill>
            <a:srgbClr val="059669">
              <a:alpha val="15000"/>
            </a:srgbClr>
          </a:solidFill>
          <a:ln w="12700">
            <a:solidFill>
              <a:srgbClr val="059669"/>
            </a:solidFill>
            <a:prstDash val="solid"/>
          </a:ln>
        </p:spPr>
        <p:txBody>
          <a:bodyPr/>
          <a:lstStyle/>
          <a:p>
            <a:endParaRPr lang="en-US"/>
          </a:p>
        </p:txBody>
      </p:sp>
      <p:sp>
        <p:nvSpPr>
          <p:cNvPr id="3" name="Text 1"/>
          <p:cNvSpPr/>
          <p:nvPr/>
        </p:nvSpPr>
        <p:spPr>
          <a:xfrm>
            <a:off x="457200" y="1371600"/>
            <a:ext cx="8229600" cy="457200"/>
          </a:xfrm>
          <a:prstGeom prst="rect">
            <a:avLst/>
          </a:prstGeom>
          <a:noFill/>
          <a:ln/>
        </p:spPr>
        <p:txBody>
          <a:bodyPr wrap="square" rtlCol="0" anchor="ctr"/>
          <a:lstStyle/>
          <a:p>
            <a:pPr marL="0" indent="0" algn="ctr">
              <a:buNone/>
            </a:pPr>
            <a:r>
              <a:rPr lang="en-US" sz="1200" kern="0" spc="600" dirty="0">
                <a:solidFill>
                  <a:srgbClr val="FFFFFF"/>
                </a:solidFill>
                <a:latin typeface="Calibri" pitchFamily="34" charset="0"/>
                <a:ea typeface="Calibri" pitchFamily="34" charset="-122"/>
                <a:cs typeface="Calibri" pitchFamily="34" charset="-120"/>
              </a:rPr>
              <a:t>SECTION 3</a:t>
            </a:r>
            <a:endParaRPr lang="en-US" sz="1200" dirty="0"/>
          </a:p>
        </p:txBody>
      </p:sp>
      <p:sp>
        <p:nvSpPr>
          <p:cNvPr id="4" name="Text 2"/>
          <p:cNvSpPr/>
          <p:nvPr/>
        </p:nvSpPr>
        <p:spPr>
          <a:xfrm>
            <a:off x="457200" y="1920240"/>
            <a:ext cx="8229600" cy="1645920"/>
          </a:xfrm>
          <a:prstGeom prst="rect">
            <a:avLst/>
          </a:prstGeom>
          <a:noFill/>
          <a:ln/>
        </p:spPr>
        <p:txBody>
          <a:bodyPr wrap="square" rtlCol="0" anchor="ctr"/>
          <a:lstStyle/>
          <a:p>
            <a:pPr marL="0" indent="0" algn="ctr">
              <a:buNone/>
            </a:pPr>
            <a:r>
              <a:rPr lang="en-US" sz="4400" b="1" dirty="0">
                <a:solidFill>
                  <a:srgbClr val="FFFFFF"/>
                </a:solidFill>
                <a:latin typeface="Trebuchet MS" pitchFamily="34" charset="0"/>
                <a:ea typeface="Trebuchet MS" pitchFamily="34" charset="-122"/>
                <a:cs typeface="Trebuchet MS" pitchFamily="34" charset="-120"/>
              </a:rPr>
              <a:t>Predictions,</a:t>
            </a:r>
            <a:endParaRPr lang="en-US" sz="4400" dirty="0"/>
          </a:p>
          <a:p>
            <a:pPr marL="0" indent="0" algn="ctr">
              <a:buNone/>
            </a:pPr>
            <a:r>
              <a:rPr lang="en-US" sz="4400" b="1" dirty="0">
                <a:solidFill>
                  <a:srgbClr val="FFFFFF"/>
                </a:solidFill>
                <a:latin typeface="Trebuchet MS" pitchFamily="34" charset="0"/>
                <a:ea typeface="Trebuchet MS" pitchFamily="34" charset="-122"/>
                <a:cs typeface="Trebuchet MS" pitchFamily="34" charset="-120"/>
              </a:rPr>
              <a:t>Findings &amp; Insights</a:t>
            </a:r>
            <a:endParaRPr lang="en-US" sz="4400" dirty="0"/>
          </a:p>
        </p:txBody>
      </p:sp>
      <p:sp>
        <p:nvSpPr>
          <p:cNvPr id="5" name="Text 3"/>
          <p:cNvSpPr/>
          <p:nvPr/>
        </p:nvSpPr>
        <p:spPr>
          <a:xfrm>
            <a:off x="457200" y="3657600"/>
            <a:ext cx="8229600" cy="411480"/>
          </a:xfrm>
          <a:prstGeom prst="rect">
            <a:avLst/>
          </a:prstGeom>
          <a:noFill/>
          <a:ln/>
        </p:spPr>
        <p:txBody>
          <a:bodyPr wrap="square"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Shortage Prediction  ·  Power Analysis  ·  Key Findings  ·  Conclusions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365760" y="201168"/>
            <a:ext cx="2377440" cy="256032"/>
          </a:xfrm>
          <a:prstGeom prst="rect">
            <a:avLst/>
          </a:prstGeom>
          <a:solidFill>
            <a:srgbClr val="059669"/>
          </a:solidFill>
          <a:ln w="12700">
            <a:solidFill>
              <a:srgbClr val="059669"/>
            </a:solidFill>
            <a:prstDash val="solid"/>
          </a:ln>
        </p:spPr>
        <p:txBody>
          <a:bodyPr/>
          <a:lstStyle/>
          <a:p>
            <a:endParaRPr lang="en-US"/>
          </a:p>
        </p:txBody>
      </p:sp>
      <p:sp>
        <p:nvSpPr>
          <p:cNvPr id="3" name="Text 1"/>
          <p:cNvSpPr/>
          <p:nvPr/>
        </p:nvSpPr>
        <p:spPr>
          <a:xfrm>
            <a:off x="365760" y="201168"/>
            <a:ext cx="2377440"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rPr>
              <a:t>PHASE 2C</a:t>
            </a:r>
            <a:endParaRPr lang="en-US" sz="800" dirty="0"/>
          </a:p>
        </p:txBody>
      </p:sp>
      <p:sp>
        <p:nvSpPr>
          <p:cNvPr id="4" name="Text 2"/>
          <p:cNvSpPr/>
          <p:nvPr/>
        </p:nvSpPr>
        <p:spPr>
          <a:xfrm>
            <a:off x="365760" y="566928"/>
            <a:ext cx="8412480" cy="640080"/>
          </a:xfrm>
          <a:prstGeom prst="rect">
            <a:avLst/>
          </a:prstGeom>
          <a:noFill/>
          <a:ln/>
        </p:spPr>
        <p:txBody>
          <a:bodyPr wrap="square" rtlCol="0" anchor="ctr"/>
          <a:lstStyle/>
          <a:p>
            <a:pPr marL="0" indent="0">
              <a:buNone/>
            </a:pPr>
            <a:r>
              <a:rPr lang="en-US" sz="2800" b="1" dirty="0">
                <a:solidFill>
                  <a:srgbClr val="111827"/>
                </a:solidFill>
                <a:latin typeface="Trebuchet MS" pitchFamily="34" charset="0"/>
                <a:ea typeface="Trebuchet MS" pitchFamily="34" charset="-122"/>
                <a:cs typeface="Trebuchet MS" pitchFamily="34" charset="-120"/>
              </a:rPr>
              <a:t>Drug Shortage Prediction — AUC 0.745 → 0.792</a:t>
            </a:r>
            <a:endParaRPr lang="en-US" sz="2800" dirty="0"/>
          </a:p>
        </p:txBody>
      </p:sp>
      <p:sp>
        <p:nvSpPr>
          <p:cNvPr id="5" name="Shape 3"/>
          <p:cNvSpPr/>
          <p:nvPr/>
        </p:nvSpPr>
        <p:spPr>
          <a:xfrm>
            <a:off x="365760" y="1298448"/>
            <a:ext cx="8412480" cy="0"/>
          </a:xfrm>
          <a:prstGeom prst="line">
            <a:avLst/>
          </a:prstGeom>
          <a:noFill/>
          <a:ln w="12700">
            <a:solidFill>
              <a:srgbClr val="E5E7EB"/>
            </a:solidFill>
            <a:prstDash val="solid"/>
          </a:ln>
        </p:spPr>
        <p:txBody>
          <a:bodyPr/>
          <a:lstStyle/>
          <a:p>
            <a:endParaRPr lang="en-US"/>
          </a:p>
        </p:txBody>
      </p:sp>
      <p:sp>
        <p:nvSpPr>
          <p:cNvPr id="6" name="Shape 4"/>
          <p:cNvSpPr/>
          <p:nvPr/>
        </p:nvSpPr>
        <p:spPr>
          <a:xfrm>
            <a:off x="0" y="4800600"/>
            <a:ext cx="9144000" cy="347472"/>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365760" y="4809744"/>
            <a:ext cx="7315200" cy="274320"/>
          </a:xfrm>
          <a:prstGeom prst="rect">
            <a:avLst/>
          </a:prstGeom>
          <a:noFill/>
          <a:ln/>
        </p:spPr>
        <p:txBody>
          <a:bodyPr wrap="square" rtlCol="0" anchor="ctr"/>
          <a:lstStyle/>
          <a:p>
            <a:pPr marL="0" indent="0">
              <a:buNone/>
            </a:pPr>
            <a:endParaRPr lang="en-US" sz="900" dirty="0"/>
          </a:p>
        </p:txBody>
      </p:sp>
      <p:sp>
        <p:nvSpPr>
          <p:cNvPr id="8" name="Text 6"/>
          <p:cNvSpPr/>
          <p:nvPr/>
        </p:nvSpPr>
        <p:spPr>
          <a:xfrm>
            <a:off x="4572000" y="4809744"/>
            <a:ext cx="4389120" cy="274320"/>
          </a:xfrm>
          <a:prstGeom prst="rect">
            <a:avLst/>
          </a:prstGeom>
          <a:noFill/>
          <a:ln/>
        </p:spPr>
        <p:txBody>
          <a:bodyPr wrap="square" rtlCol="0" anchor="ctr"/>
          <a:lstStyle/>
          <a:p>
            <a:pPr marL="0" indent="0" algn="r">
              <a:buNone/>
            </a:pPr>
            <a:endParaRPr lang="en-US" sz="900" dirty="0"/>
          </a:p>
        </p:txBody>
      </p:sp>
      <p:sp>
        <p:nvSpPr>
          <p:cNvPr id="9" name="Text 7"/>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AAAAAA"/>
                </a:solidFill>
              </a:rPr>
              <a:t>20 / 25</a:t>
            </a:r>
            <a:endParaRPr lang="en-US" sz="900" dirty="0"/>
          </a:p>
        </p:txBody>
      </p:sp>
      <p:sp>
        <p:nvSpPr>
          <p:cNvPr id="10" name="Shape 8"/>
          <p:cNvSpPr/>
          <p:nvPr/>
        </p:nvSpPr>
        <p:spPr>
          <a:xfrm>
            <a:off x="365760" y="1417320"/>
            <a:ext cx="1645920" cy="914400"/>
          </a:xfrm>
          <a:prstGeom prst="rect">
            <a:avLst/>
          </a:prstGeom>
          <a:solidFill>
            <a:srgbClr val="E6F4EA"/>
          </a:solidFill>
          <a:ln w="25400">
            <a:solidFill>
              <a:srgbClr val="059669"/>
            </a:solidFill>
            <a:prstDash val="solid"/>
          </a:ln>
          <a:effectLst>
            <a:outerShdw blurRad="101600" dist="25400" dir="8100000" algn="bl" rotWithShape="0">
              <a:srgbClr val="000000">
                <a:alpha val="10000"/>
              </a:srgbClr>
            </a:outerShdw>
          </a:effectLst>
        </p:spPr>
        <p:txBody>
          <a:bodyPr/>
          <a:lstStyle/>
          <a:p>
            <a:endParaRPr lang="en-US"/>
          </a:p>
        </p:txBody>
      </p:sp>
      <p:sp>
        <p:nvSpPr>
          <p:cNvPr id="11" name="Text 9"/>
          <p:cNvSpPr/>
          <p:nvPr/>
        </p:nvSpPr>
        <p:spPr>
          <a:xfrm>
            <a:off x="365760" y="1490472"/>
            <a:ext cx="1645920" cy="502920"/>
          </a:xfrm>
          <a:prstGeom prst="rect">
            <a:avLst/>
          </a:prstGeom>
          <a:noFill/>
          <a:ln/>
        </p:spPr>
        <p:txBody>
          <a:bodyPr wrap="square" rtlCol="0" anchor="ctr"/>
          <a:lstStyle/>
          <a:p>
            <a:pPr marL="0" indent="0" algn="ctr">
              <a:buNone/>
            </a:pPr>
            <a:r>
              <a:rPr lang="en-US" sz="2800" b="1" dirty="0">
                <a:solidFill>
                  <a:srgbClr val="059669"/>
                </a:solidFill>
                <a:latin typeface="Trebuchet MS" pitchFamily="34" charset="0"/>
                <a:ea typeface="Trebuchet MS" pitchFamily="34" charset="-122"/>
                <a:cs typeface="Trebuchet MS" pitchFamily="34" charset="-120"/>
              </a:rPr>
              <a:t>0.792</a:t>
            </a:r>
            <a:endParaRPr lang="en-US" sz="2800" dirty="0"/>
          </a:p>
        </p:txBody>
      </p:sp>
      <p:sp>
        <p:nvSpPr>
          <p:cNvPr id="12" name="Text 10"/>
          <p:cNvSpPr/>
          <p:nvPr/>
        </p:nvSpPr>
        <p:spPr>
          <a:xfrm>
            <a:off x="365760" y="1947672"/>
            <a:ext cx="1645920" cy="347472"/>
          </a:xfrm>
          <a:prstGeom prst="rect">
            <a:avLst/>
          </a:prstGeom>
          <a:noFill/>
          <a:ln/>
        </p:spPr>
        <p:txBody>
          <a:bodyPr wrap="square" rtlCol="0" anchor="t"/>
          <a:lstStyle/>
          <a:p>
            <a:pPr marL="0" indent="0" algn="ctr">
              <a:buNone/>
            </a:pPr>
            <a:r>
              <a:rPr lang="en-US" sz="950" kern="0" spc="100" dirty="0">
                <a:solidFill>
                  <a:srgbClr val="6B7280"/>
                </a:solidFill>
                <a:latin typeface="Calibri" pitchFamily="34" charset="0"/>
                <a:ea typeface="Calibri" pitchFamily="34" charset="-122"/>
                <a:cs typeface="Calibri" pitchFamily="34" charset="-120"/>
              </a:rPr>
              <a:t>BEST AUC (RF Enhanced)</a:t>
            </a:r>
            <a:endParaRPr lang="en-US" sz="950" dirty="0"/>
          </a:p>
        </p:txBody>
      </p:sp>
      <p:sp>
        <p:nvSpPr>
          <p:cNvPr id="13" name="Shape 11"/>
          <p:cNvSpPr/>
          <p:nvPr/>
        </p:nvSpPr>
        <p:spPr>
          <a:xfrm>
            <a:off x="2148840" y="1417320"/>
            <a:ext cx="1645920" cy="914400"/>
          </a:xfrm>
          <a:prstGeom prst="rect">
            <a:avLst/>
          </a:prstGeom>
          <a:solidFill>
            <a:srgbClr val="E8F0FE"/>
          </a:solidFill>
          <a:ln w="25400">
            <a:solidFill>
              <a:srgbClr val="2563EB"/>
            </a:solidFill>
            <a:prstDash val="solid"/>
          </a:ln>
          <a:effectLst>
            <a:outerShdw blurRad="101600" dist="25400" dir="8100000" algn="bl" rotWithShape="0">
              <a:srgbClr val="000000">
                <a:alpha val="10000"/>
              </a:srgbClr>
            </a:outerShdw>
          </a:effectLst>
        </p:spPr>
        <p:txBody>
          <a:bodyPr/>
          <a:lstStyle/>
          <a:p>
            <a:endParaRPr lang="en-US"/>
          </a:p>
        </p:txBody>
      </p:sp>
      <p:sp>
        <p:nvSpPr>
          <p:cNvPr id="14" name="Text 12"/>
          <p:cNvSpPr/>
          <p:nvPr/>
        </p:nvSpPr>
        <p:spPr>
          <a:xfrm>
            <a:off x="2148840" y="1490472"/>
            <a:ext cx="1645920" cy="502920"/>
          </a:xfrm>
          <a:prstGeom prst="rect">
            <a:avLst/>
          </a:prstGeom>
          <a:noFill/>
          <a:ln/>
        </p:spPr>
        <p:txBody>
          <a:bodyPr wrap="square" rtlCol="0" anchor="ctr"/>
          <a:lstStyle/>
          <a:p>
            <a:pPr marL="0" indent="0" algn="ctr">
              <a:buNone/>
            </a:pPr>
            <a:r>
              <a:rPr lang="en-US" sz="2800" b="1" dirty="0">
                <a:solidFill>
                  <a:srgbClr val="2563EB"/>
                </a:solidFill>
                <a:latin typeface="Trebuchet MS" pitchFamily="34" charset="0"/>
                <a:ea typeface="Trebuchet MS" pitchFamily="34" charset="-122"/>
                <a:cs typeface="Trebuchet MS" pitchFamily="34" charset="-120"/>
              </a:rPr>
              <a:t>+0.047</a:t>
            </a:r>
            <a:endParaRPr lang="en-US" sz="2800" dirty="0"/>
          </a:p>
        </p:txBody>
      </p:sp>
      <p:sp>
        <p:nvSpPr>
          <p:cNvPr id="15" name="Text 13"/>
          <p:cNvSpPr/>
          <p:nvPr/>
        </p:nvSpPr>
        <p:spPr>
          <a:xfrm>
            <a:off x="2148840" y="1947672"/>
            <a:ext cx="1645920" cy="347472"/>
          </a:xfrm>
          <a:prstGeom prst="rect">
            <a:avLst/>
          </a:prstGeom>
          <a:noFill/>
          <a:ln/>
        </p:spPr>
        <p:txBody>
          <a:bodyPr wrap="square" rtlCol="0" anchor="t"/>
          <a:lstStyle/>
          <a:p>
            <a:pPr marL="0" indent="0" algn="ctr">
              <a:buNone/>
            </a:pPr>
            <a:r>
              <a:rPr lang="en-US" sz="950" kern="0" spc="100" dirty="0">
                <a:solidFill>
                  <a:srgbClr val="6B7280"/>
                </a:solidFill>
                <a:latin typeface="Calibri" pitchFamily="34" charset="0"/>
                <a:ea typeface="Calibri" pitchFamily="34" charset="-122"/>
                <a:cs typeface="Calibri" pitchFamily="34" charset="-120"/>
              </a:rPr>
              <a:t>AUC IMPROVEMENT</a:t>
            </a:r>
            <a:endParaRPr lang="en-US" sz="950" dirty="0"/>
          </a:p>
        </p:txBody>
      </p:sp>
      <p:sp>
        <p:nvSpPr>
          <p:cNvPr id="16" name="Shape 14"/>
          <p:cNvSpPr/>
          <p:nvPr/>
        </p:nvSpPr>
        <p:spPr>
          <a:xfrm>
            <a:off x="3931920" y="1417320"/>
            <a:ext cx="1645920" cy="914400"/>
          </a:xfrm>
          <a:prstGeom prst="rect">
            <a:avLst/>
          </a:prstGeom>
          <a:solidFill>
            <a:srgbClr val="F7EEF1"/>
          </a:solidFill>
          <a:ln w="25400">
            <a:solidFill>
              <a:srgbClr val="9D1535"/>
            </a:solidFill>
            <a:prstDash val="solid"/>
          </a:ln>
          <a:effectLst>
            <a:outerShdw blurRad="101600" dist="25400" dir="8100000" algn="bl" rotWithShape="0">
              <a:srgbClr val="000000">
                <a:alpha val="10000"/>
              </a:srgbClr>
            </a:outerShdw>
          </a:effectLst>
        </p:spPr>
        <p:txBody>
          <a:bodyPr/>
          <a:lstStyle/>
          <a:p>
            <a:endParaRPr lang="en-US"/>
          </a:p>
        </p:txBody>
      </p:sp>
      <p:sp>
        <p:nvSpPr>
          <p:cNvPr id="17" name="Text 15"/>
          <p:cNvSpPr/>
          <p:nvPr/>
        </p:nvSpPr>
        <p:spPr>
          <a:xfrm>
            <a:off x="3931920" y="1490472"/>
            <a:ext cx="1645920" cy="502920"/>
          </a:xfrm>
          <a:prstGeom prst="rect">
            <a:avLst/>
          </a:prstGeom>
          <a:noFill/>
          <a:ln/>
        </p:spPr>
        <p:txBody>
          <a:bodyPr wrap="square" rtlCol="0" anchor="ctr"/>
          <a:lstStyle/>
          <a:p>
            <a:pPr marL="0" indent="0" algn="ctr">
              <a:buNone/>
            </a:pPr>
            <a:r>
              <a:rPr lang="en-US" sz="2800" b="1" dirty="0">
                <a:solidFill>
                  <a:srgbClr val="9D1535"/>
                </a:solidFill>
                <a:latin typeface="Trebuchet MS" pitchFamily="34" charset="0"/>
                <a:ea typeface="Trebuchet MS" pitchFamily="34" charset="-122"/>
                <a:cs typeface="Trebuchet MS" pitchFamily="34" charset="-120"/>
              </a:rPr>
              <a:t>20/50</a:t>
            </a:r>
            <a:endParaRPr lang="en-US" sz="2800" dirty="0"/>
          </a:p>
        </p:txBody>
      </p:sp>
      <p:sp>
        <p:nvSpPr>
          <p:cNvPr id="18" name="Text 16"/>
          <p:cNvSpPr/>
          <p:nvPr/>
        </p:nvSpPr>
        <p:spPr>
          <a:xfrm>
            <a:off x="3931920" y="1947672"/>
            <a:ext cx="1645920" cy="347472"/>
          </a:xfrm>
          <a:prstGeom prst="rect">
            <a:avLst/>
          </a:prstGeom>
          <a:noFill/>
          <a:ln/>
        </p:spPr>
        <p:txBody>
          <a:bodyPr wrap="square" rtlCol="0" anchor="t"/>
          <a:lstStyle/>
          <a:p>
            <a:pPr marL="0" indent="0" algn="ctr">
              <a:buNone/>
            </a:pPr>
            <a:r>
              <a:rPr lang="en-US" sz="950" kern="0" spc="100" dirty="0">
                <a:solidFill>
                  <a:srgbClr val="6B7280"/>
                </a:solidFill>
                <a:latin typeface="Calibri" pitchFamily="34" charset="0"/>
                <a:ea typeface="Calibri" pitchFamily="34" charset="-122"/>
                <a:cs typeface="Calibri" pitchFamily="34" charset="-120"/>
              </a:rPr>
              <a:t>DRUGS IN SHORTAGE</a:t>
            </a:r>
            <a:endParaRPr lang="en-US" sz="950" dirty="0"/>
          </a:p>
        </p:txBody>
      </p:sp>
      <p:sp>
        <p:nvSpPr>
          <p:cNvPr id="19" name="Shape 17"/>
          <p:cNvSpPr/>
          <p:nvPr/>
        </p:nvSpPr>
        <p:spPr>
          <a:xfrm>
            <a:off x="5715000" y="1417320"/>
            <a:ext cx="1645920" cy="914400"/>
          </a:xfrm>
          <a:prstGeom prst="rect">
            <a:avLst/>
          </a:prstGeom>
          <a:solidFill>
            <a:srgbClr val="FEF9E7"/>
          </a:solidFill>
          <a:ln w="25400">
            <a:solidFill>
              <a:srgbClr val="D97706"/>
            </a:solidFill>
            <a:prstDash val="solid"/>
          </a:ln>
          <a:effectLst>
            <a:outerShdw blurRad="101600" dist="25400" dir="8100000" algn="bl" rotWithShape="0">
              <a:srgbClr val="000000">
                <a:alpha val="10000"/>
              </a:srgbClr>
            </a:outerShdw>
          </a:effectLst>
        </p:spPr>
        <p:txBody>
          <a:bodyPr/>
          <a:lstStyle/>
          <a:p>
            <a:endParaRPr lang="en-US"/>
          </a:p>
        </p:txBody>
      </p:sp>
      <p:sp>
        <p:nvSpPr>
          <p:cNvPr id="20" name="Text 18"/>
          <p:cNvSpPr/>
          <p:nvPr/>
        </p:nvSpPr>
        <p:spPr>
          <a:xfrm>
            <a:off x="5715000" y="1490472"/>
            <a:ext cx="1645920" cy="502920"/>
          </a:xfrm>
          <a:prstGeom prst="rect">
            <a:avLst/>
          </a:prstGeom>
          <a:noFill/>
          <a:ln/>
        </p:spPr>
        <p:txBody>
          <a:bodyPr wrap="square" rtlCol="0" anchor="ctr"/>
          <a:lstStyle/>
          <a:p>
            <a:pPr marL="0" indent="0" algn="ctr">
              <a:buNone/>
            </a:pPr>
            <a:r>
              <a:rPr lang="en-US" sz="2800" b="1" dirty="0">
                <a:solidFill>
                  <a:srgbClr val="D97706"/>
                </a:solidFill>
                <a:latin typeface="Trebuchet MS" pitchFamily="34" charset="0"/>
                <a:ea typeface="Trebuchet MS" pitchFamily="34" charset="-122"/>
                <a:cs typeface="Trebuchet MS" pitchFamily="34" charset="-120"/>
              </a:rPr>
              <a:t>5-Fold</a:t>
            </a:r>
            <a:endParaRPr lang="en-US" sz="2800" dirty="0"/>
          </a:p>
        </p:txBody>
      </p:sp>
      <p:sp>
        <p:nvSpPr>
          <p:cNvPr id="21" name="Text 19"/>
          <p:cNvSpPr/>
          <p:nvPr/>
        </p:nvSpPr>
        <p:spPr>
          <a:xfrm>
            <a:off x="5715000" y="1947672"/>
            <a:ext cx="1645920" cy="347472"/>
          </a:xfrm>
          <a:prstGeom prst="rect">
            <a:avLst/>
          </a:prstGeom>
          <a:noFill/>
          <a:ln/>
        </p:spPr>
        <p:txBody>
          <a:bodyPr wrap="square" rtlCol="0" anchor="t"/>
          <a:lstStyle/>
          <a:p>
            <a:pPr marL="0" indent="0" algn="ctr">
              <a:buNone/>
            </a:pPr>
            <a:r>
              <a:rPr lang="en-US" sz="950" kern="0" spc="100" dirty="0">
                <a:solidFill>
                  <a:srgbClr val="6B7280"/>
                </a:solidFill>
                <a:latin typeface="Calibri" pitchFamily="34" charset="0"/>
                <a:ea typeface="Calibri" pitchFamily="34" charset="-122"/>
                <a:cs typeface="Calibri" pitchFamily="34" charset="-120"/>
              </a:rPr>
              <a:t>STRATIFIED CV</a:t>
            </a:r>
            <a:endParaRPr lang="en-US" sz="950" dirty="0"/>
          </a:p>
        </p:txBody>
      </p:sp>
      <p:graphicFrame>
        <p:nvGraphicFramePr>
          <p:cNvPr id="22" name="Chart 0"/>
          <p:cNvGraphicFramePr/>
          <p:nvPr/>
        </p:nvGraphicFramePr>
        <p:xfrm>
          <a:off x="365760" y="2514600"/>
          <a:ext cx="4389120" cy="2148840"/>
        </p:xfrm>
        <a:graphic>
          <a:graphicData uri="http://schemas.openxmlformats.org/drawingml/2006/chart">
            <c:chart xmlns:c="http://schemas.openxmlformats.org/drawingml/2006/chart" xmlns:r="http://schemas.openxmlformats.org/officeDocument/2006/relationships" r:id="rId3"/>
          </a:graphicData>
        </a:graphic>
      </p:graphicFrame>
      <p:sp>
        <p:nvSpPr>
          <p:cNvPr id="23" name="Shape 20"/>
          <p:cNvSpPr/>
          <p:nvPr/>
        </p:nvSpPr>
        <p:spPr>
          <a:xfrm>
            <a:off x="4937760" y="2514600"/>
            <a:ext cx="3840480" cy="475488"/>
          </a:xfrm>
          <a:prstGeom prst="rect">
            <a:avLst/>
          </a:prstGeom>
          <a:solidFill>
            <a:srgbClr val="FFFFFF"/>
          </a:solidFill>
          <a:ln w="19050">
            <a:solidFill>
              <a:srgbClr val="9D1535"/>
            </a:solidFill>
            <a:prstDash val="solid"/>
          </a:ln>
        </p:spPr>
        <p:txBody>
          <a:bodyPr/>
          <a:lstStyle/>
          <a:p>
            <a:endParaRPr lang="en-US"/>
          </a:p>
        </p:txBody>
      </p:sp>
      <p:sp>
        <p:nvSpPr>
          <p:cNvPr id="24" name="Shape 21"/>
          <p:cNvSpPr/>
          <p:nvPr/>
        </p:nvSpPr>
        <p:spPr>
          <a:xfrm>
            <a:off x="4937760" y="2514600"/>
            <a:ext cx="54864" cy="475488"/>
          </a:xfrm>
          <a:prstGeom prst="rect">
            <a:avLst/>
          </a:prstGeom>
          <a:solidFill>
            <a:srgbClr val="9D1535"/>
          </a:solidFill>
          <a:ln w="12700">
            <a:solidFill>
              <a:srgbClr val="9D1535"/>
            </a:solidFill>
            <a:prstDash val="solid"/>
          </a:ln>
        </p:spPr>
        <p:txBody>
          <a:bodyPr/>
          <a:lstStyle/>
          <a:p>
            <a:endParaRPr lang="en-US"/>
          </a:p>
        </p:txBody>
      </p:sp>
      <p:sp>
        <p:nvSpPr>
          <p:cNvPr id="25" name="Text 22"/>
          <p:cNvSpPr/>
          <p:nvPr/>
        </p:nvSpPr>
        <p:spPr>
          <a:xfrm>
            <a:off x="5074920" y="2532888"/>
            <a:ext cx="3657600" cy="182880"/>
          </a:xfrm>
          <a:prstGeom prst="rect">
            <a:avLst/>
          </a:prstGeom>
          <a:noFill/>
          <a:ln/>
        </p:spPr>
        <p:txBody>
          <a:bodyPr wrap="square" rtlCol="0" anchor="ctr"/>
          <a:lstStyle/>
          <a:p>
            <a:pPr marL="0" indent="0">
              <a:buNone/>
            </a:pPr>
            <a:r>
              <a:rPr lang="en-US" sz="1000" b="1" dirty="0">
                <a:solidFill>
                  <a:srgbClr val="9D1535"/>
                </a:solidFill>
                <a:latin typeface="Trebuchet MS" pitchFamily="34" charset="0"/>
                <a:ea typeface="Trebuchet MS" pitchFamily="34" charset="-122"/>
                <a:cs typeface="Trebuchet MS" pitchFamily="34" charset="-120"/>
              </a:rPr>
              <a:t>Dosage Risk Score</a:t>
            </a:r>
            <a:endParaRPr lang="en-US" sz="1000" dirty="0"/>
          </a:p>
        </p:txBody>
      </p:sp>
      <p:sp>
        <p:nvSpPr>
          <p:cNvPr id="26" name="Text 23"/>
          <p:cNvSpPr/>
          <p:nvPr/>
        </p:nvSpPr>
        <p:spPr>
          <a:xfrm>
            <a:off x="5074920" y="2715768"/>
            <a:ext cx="3657600" cy="256032"/>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Injection=3, Solution=2, Tablet=0</a:t>
            </a:r>
            <a:endParaRPr lang="en-US" sz="950" dirty="0"/>
          </a:p>
          <a:p>
            <a:pPr marL="0" indent="0">
              <a:buNone/>
            </a:pPr>
            <a:r>
              <a:rPr lang="en-US" sz="950" dirty="0">
                <a:solidFill>
                  <a:srgbClr val="374151"/>
                </a:solidFill>
                <a:latin typeface="Calibri" pitchFamily="34" charset="0"/>
                <a:ea typeface="Calibri" pitchFamily="34" charset="-122"/>
                <a:cs typeface="Calibri" pitchFamily="34" charset="-120"/>
              </a:rPr>
              <a:t>Manufacturing complexity drives shortage risk</a:t>
            </a:r>
            <a:endParaRPr lang="en-US" sz="950" dirty="0"/>
          </a:p>
        </p:txBody>
      </p:sp>
      <p:sp>
        <p:nvSpPr>
          <p:cNvPr id="27" name="Shape 24"/>
          <p:cNvSpPr/>
          <p:nvPr/>
        </p:nvSpPr>
        <p:spPr>
          <a:xfrm>
            <a:off x="4937760" y="3054096"/>
            <a:ext cx="3840480" cy="475488"/>
          </a:xfrm>
          <a:prstGeom prst="rect">
            <a:avLst/>
          </a:prstGeom>
          <a:solidFill>
            <a:srgbClr val="FFFFFF"/>
          </a:solidFill>
          <a:ln w="19050">
            <a:solidFill>
              <a:srgbClr val="2563EB"/>
            </a:solidFill>
            <a:prstDash val="solid"/>
          </a:ln>
        </p:spPr>
        <p:txBody>
          <a:bodyPr/>
          <a:lstStyle/>
          <a:p>
            <a:endParaRPr lang="en-US"/>
          </a:p>
        </p:txBody>
      </p:sp>
      <p:sp>
        <p:nvSpPr>
          <p:cNvPr id="28" name="Shape 25"/>
          <p:cNvSpPr/>
          <p:nvPr/>
        </p:nvSpPr>
        <p:spPr>
          <a:xfrm>
            <a:off x="4937760" y="3054096"/>
            <a:ext cx="54864" cy="475488"/>
          </a:xfrm>
          <a:prstGeom prst="rect">
            <a:avLst/>
          </a:prstGeom>
          <a:solidFill>
            <a:srgbClr val="2563EB"/>
          </a:solidFill>
          <a:ln w="12700">
            <a:solidFill>
              <a:srgbClr val="2563EB"/>
            </a:solidFill>
            <a:prstDash val="solid"/>
          </a:ln>
        </p:spPr>
        <p:txBody>
          <a:bodyPr/>
          <a:lstStyle/>
          <a:p>
            <a:endParaRPr lang="en-US"/>
          </a:p>
        </p:txBody>
      </p:sp>
      <p:sp>
        <p:nvSpPr>
          <p:cNvPr id="29" name="Text 26"/>
          <p:cNvSpPr/>
          <p:nvPr/>
        </p:nvSpPr>
        <p:spPr>
          <a:xfrm>
            <a:off x="5074920" y="3072384"/>
            <a:ext cx="3657600" cy="182880"/>
          </a:xfrm>
          <a:prstGeom prst="rect">
            <a:avLst/>
          </a:prstGeom>
          <a:noFill/>
          <a:ln/>
        </p:spPr>
        <p:txBody>
          <a:bodyPr wrap="square" rtlCol="0" anchor="ctr"/>
          <a:lstStyle/>
          <a:p>
            <a:pPr marL="0" indent="0">
              <a:buNone/>
            </a:pPr>
            <a:r>
              <a:rPr lang="en-US" sz="1000" b="1" dirty="0">
                <a:solidFill>
                  <a:srgbClr val="2563EB"/>
                </a:solidFill>
                <a:latin typeface="Trebuchet MS" pitchFamily="34" charset="0"/>
                <a:ea typeface="Trebuchet MS" pitchFamily="34" charset="-122"/>
                <a:cs typeface="Trebuchet MS" pitchFamily="34" charset="-120"/>
              </a:rPr>
              <a:t>Brand-Only Flag</a:t>
            </a:r>
            <a:endParaRPr lang="en-US" sz="1000" dirty="0"/>
          </a:p>
        </p:txBody>
      </p:sp>
      <p:sp>
        <p:nvSpPr>
          <p:cNvPr id="30" name="Text 27"/>
          <p:cNvSpPr/>
          <p:nvPr/>
        </p:nvSpPr>
        <p:spPr>
          <a:xfrm>
            <a:off x="5074920" y="3255264"/>
            <a:ext cx="3657600" cy="256032"/>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No generic = single manufacturer</a:t>
            </a:r>
            <a:endParaRPr lang="en-US" sz="950" dirty="0"/>
          </a:p>
          <a:p>
            <a:pPr marL="0" indent="0">
              <a:buNone/>
            </a:pPr>
            <a:r>
              <a:rPr lang="en-US" sz="950" dirty="0">
                <a:solidFill>
                  <a:srgbClr val="374151"/>
                </a:solidFill>
                <a:latin typeface="Calibri" pitchFamily="34" charset="0"/>
                <a:ea typeface="Calibri" pitchFamily="34" charset="-122"/>
                <a:cs typeface="Calibri" pitchFamily="34" charset="-120"/>
              </a:rPr>
              <a:t>Highest theoretical shortage risk</a:t>
            </a:r>
            <a:endParaRPr lang="en-US" sz="950" dirty="0"/>
          </a:p>
        </p:txBody>
      </p:sp>
      <p:sp>
        <p:nvSpPr>
          <p:cNvPr id="31" name="Shape 28"/>
          <p:cNvSpPr/>
          <p:nvPr/>
        </p:nvSpPr>
        <p:spPr>
          <a:xfrm>
            <a:off x="4937760" y="3593592"/>
            <a:ext cx="3840480" cy="475488"/>
          </a:xfrm>
          <a:prstGeom prst="rect">
            <a:avLst/>
          </a:prstGeom>
          <a:solidFill>
            <a:srgbClr val="FFFFFF"/>
          </a:solidFill>
          <a:ln w="19050">
            <a:solidFill>
              <a:srgbClr val="059669"/>
            </a:solidFill>
            <a:prstDash val="solid"/>
          </a:ln>
        </p:spPr>
        <p:txBody>
          <a:bodyPr/>
          <a:lstStyle/>
          <a:p>
            <a:endParaRPr lang="en-US"/>
          </a:p>
        </p:txBody>
      </p:sp>
      <p:sp>
        <p:nvSpPr>
          <p:cNvPr id="32" name="Shape 29"/>
          <p:cNvSpPr/>
          <p:nvPr/>
        </p:nvSpPr>
        <p:spPr>
          <a:xfrm>
            <a:off x="4937760" y="3593592"/>
            <a:ext cx="54864" cy="475488"/>
          </a:xfrm>
          <a:prstGeom prst="rect">
            <a:avLst/>
          </a:prstGeom>
          <a:solidFill>
            <a:srgbClr val="059669"/>
          </a:solidFill>
          <a:ln w="12700">
            <a:solidFill>
              <a:srgbClr val="059669"/>
            </a:solidFill>
            <a:prstDash val="solid"/>
          </a:ln>
        </p:spPr>
        <p:txBody>
          <a:bodyPr/>
          <a:lstStyle/>
          <a:p>
            <a:endParaRPr lang="en-US"/>
          </a:p>
        </p:txBody>
      </p:sp>
      <p:sp>
        <p:nvSpPr>
          <p:cNvPr id="33" name="Text 30"/>
          <p:cNvSpPr/>
          <p:nvPr/>
        </p:nvSpPr>
        <p:spPr>
          <a:xfrm>
            <a:off x="5074920" y="3611880"/>
            <a:ext cx="3657600" cy="182880"/>
          </a:xfrm>
          <a:prstGeom prst="rect">
            <a:avLst/>
          </a:prstGeom>
          <a:noFill/>
          <a:ln/>
        </p:spPr>
        <p:txBody>
          <a:bodyPr wrap="square" rtlCol="0" anchor="ctr"/>
          <a:lstStyle/>
          <a:p>
            <a:pPr marL="0" indent="0">
              <a:buNone/>
            </a:pPr>
            <a:r>
              <a:rPr lang="en-US" sz="1000" b="1" dirty="0">
                <a:solidFill>
                  <a:srgbClr val="059669"/>
                </a:solidFill>
                <a:latin typeface="Trebuchet MS" pitchFamily="34" charset="0"/>
                <a:ea typeface="Trebuchet MS" pitchFamily="34" charset="-122"/>
                <a:cs typeface="Trebuchet MS" pitchFamily="34" charset="-120"/>
              </a:rPr>
              <a:t>Therapeutic Substitutability</a:t>
            </a:r>
            <a:endParaRPr lang="en-US" sz="1000" dirty="0"/>
          </a:p>
        </p:txBody>
      </p:sp>
      <p:sp>
        <p:nvSpPr>
          <p:cNvPr id="34" name="Text 31"/>
          <p:cNvSpPr/>
          <p:nvPr/>
        </p:nvSpPr>
        <p:spPr>
          <a:xfrm>
            <a:off x="5074920" y="3794760"/>
            <a:ext cx="3657600" cy="256032"/>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Can it be replaced? r=−0.423, p=0.002</a:t>
            </a:r>
            <a:endParaRPr lang="en-US" sz="950" dirty="0"/>
          </a:p>
          <a:p>
            <a:pPr marL="0" indent="0">
              <a:buNone/>
            </a:pPr>
            <a:r>
              <a:rPr lang="en-US" sz="950" dirty="0">
                <a:solidFill>
                  <a:srgbClr val="374151"/>
                </a:solidFill>
                <a:latin typeface="Calibri" pitchFamily="34" charset="0"/>
                <a:ea typeface="Calibri" pitchFamily="34" charset="-122"/>
                <a:cs typeface="Calibri" pitchFamily="34" charset="-120"/>
              </a:rPr>
              <a:t>Strongest single predictor</a:t>
            </a:r>
            <a:endParaRPr lang="en-US" sz="950" dirty="0"/>
          </a:p>
        </p:txBody>
      </p:sp>
      <p:sp>
        <p:nvSpPr>
          <p:cNvPr id="35" name="Shape 32"/>
          <p:cNvSpPr/>
          <p:nvPr/>
        </p:nvSpPr>
        <p:spPr>
          <a:xfrm>
            <a:off x="4937760" y="4133088"/>
            <a:ext cx="3840480" cy="475488"/>
          </a:xfrm>
          <a:prstGeom prst="rect">
            <a:avLst/>
          </a:prstGeom>
          <a:solidFill>
            <a:srgbClr val="FFFFFF"/>
          </a:solidFill>
          <a:ln w="19050">
            <a:solidFill>
              <a:srgbClr val="D97706"/>
            </a:solidFill>
            <a:prstDash val="solid"/>
          </a:ln>
        </p:spPr>
        <p:txBody>
          <a:bodyPr/>
          <a:lstStyle/>
          <a:p>
            <a:endParaRPr lang="en-US"/>
          </a:p>
        </p:txBody>
      </p:sp>
      <p:sp>
        <p:nvSpPr>
          <p:cNvPr id="36" name="Shape 33"/>
          <p:cNvSpPr/>
          <p:nvPr/>
        </p:nvSpPr>
        <p:spPr>
          <a:xfrm>
            <a:off x="4937760" y="4133088"/>
            <a:ext cx="54864" cy="475488"/>
          </a:xfrm>
          <a:prstGeom prst="rect">
            <a:avLst/>
          </a:prstGeom>
          <a:solidFill>
            <a:srgbClr val="D97706"/>
          </a:solidFill>
          <a:ln w="12700">
            <a:solidFill>
              <a:srgbClr val="D97706"/>
            </a:solidFill>
            <a:prstDash val="solid"/>
          </a:ln>
        </p:spPr>
        <p:txBody>
          <a:bodyPr/>
          <a:lstStyle/>
          <a:p>
            <a:endParaRPr lang="en-US"/>
          </a:p>
        </p:txBody>
      </p:sp>
      <p:sp>
        <p:nvSpPr>
          <p:cNvPr id="37" name="Text 34"/>
          <p:cNvSpPr/>
          <p:nvPr/>
        </p:nvSpPr>
        <p:spPr>
          <a:xfrm>
            <a:off x="5074920" y="4151376"/>
            <a:ext cx="3657600" cy="182880"/>
          </a:xfrm>
          <a:prstGeom prst="rect">
            <a:avLst/>
          </a:prstGeom>
          <a:noFill/>
          <a:ln/>
        </p:spPr>
        <p:txBody>
          <a:bodyPr wrap="square" rtlCol="0" anchor="ctr"/>
          <a:lstStyle/>
          <a:p>
            <a:pPr marL="0" indent="0">
              <a:buNone/>
            </a:pPr>
            <a:r>
              <a:rPr lang="en-US" sz="1000" b="1" dirty="0">
                <a:solidFill>
                  <a:srgbClr val="D97706"/>
                </a:solidFill>
                <a:latin typeface="Trebuchet MS" pitchFamily="34" charset="0"/>
                <a:ea typeface="Trebuchet MS" pitchFamily="34" charset="-122"/>
                <a:cs typeface="Trebuchet MS" pitchFamily="34" charset="-120"/>
              </a:rPr>
              <a:t>Log-Transformed Price</a:t>
            </a:r>
            <a:endParaRPr lang="en-US" sz="1000" dirty="0"/>
          </a:p>
        </p:txBody>
      </p:sp>
      <p:sp>
        <p:nvSpPr>
          <p:cNvPr id="38" name="Text 35"/>
          <p:cNvSpPr/>
          <p:nvPr/>
        </p:nvSpPr>
        <p:spPr>
          <a:xfrm>
            <a:off x="5074920" y="4334256"/>
            <a:ext cx="3657600" cy="256032"/>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Log(price) better than raw price</a:t>
            </a:r>
            <a:endParaRPr lang="en-US" sz="950" dirty="0"/>
          </a:p>
          <a:p>
            <a:pPr marL="0" indent="0">
              <a:buNone/>
            </a:pPr>
            <a:r>
              <a:rPr lang="en-US" sz="950" dirty="0">
                <a:solidFill>
                  <a:srgbClr val="374151"/>
                </a:solidFill>
                <a:latin typeface="Calibri" pitchFamily="34" charset="0"/>
                <a:ea typeface="Calibri" pitchFamily="34" charset="-122"/>
                <a:cs typeface="Calibri" pitchFamily="34" charset="-120"/>
              </a:rPr>
              <a:t>r=+0.476, p&lt;0.001 — non-linear relationship</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365760" y="201168"/>
            <a:ext cx="2377440" cy="256032"/>
          </a:xfrm>
          <a:prstGeom prst="rect">
            <a:avLst/>
          </a:prstGeom>
          <a:solidFill>
            <a:srgbClr val="059669"/>
          </a:solidFill>
          <a:ln w="12700">
            <a:solidFill>
              <a:srgbClr val="059669"/>
            </a:solidFill>
            <a:prstDash val="solid"/>
          </a:ln>
        </p:spPr>
        <p:txBody>
          <a:bodyPr/>
          <a:lstStyle/>
          <a:p>
            <a:endParaRPr lang="en-US"/>
          </a:p>
        </p:txBody>
      </p:sp>
      <p:sp>
        <p:nvSpPr>
          <p:cNvPr id="3" name="Text 1"/>
          <p:cNvSpPr/>
          <p:nvPr/>
        </p:nvSpPr>
        <p:spPr>
          <a:xfrm>
            <a:off x="365760" y="201168"/>
            <a:ext cx="2377440"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rPr>
              <a:t>RATING PREDICTION</a:t>
            </a:r>
            <a:endParaRPr lang="en-US" sz="800" dirty="0"/>
          </a:p>
        </p:txBody>
      </p:sp>
      <p:sp>
        <p:nvSpPr>
          <p:cNvPr id="4" name="Text 2"/>
          <p:cNvSpPr/>
          <p:nvPr/>
        </p:nvSpPr>
        <p:spPr>
          <a:xfrm>
            <a:off x="365760" y="566928"/>
            <a:ext cx="8412480" cy="640080"/>
          </a:xfrm>
          <a:prstGeom prst="rect">
            <a:avLst/>
          </a:prstGeom>
          <a:noFill/>
          <a:ln/>
        </p:spPr>
        <p:txBody>
          <a:bodyPr wrap="square" rtlCol="0" anchor="ctr"/>
          <a:lstStyle/>
          <a:p>
            <a:pPr marL="0" indent="0">
              <a:buNone/>
            </a:pPr>
            <a:r>
              <a:rPr lang="en-US" sz="2800" b="1" dirty="0">
                <a:solidFill>
                  <a:srgbClr val="111827"/>
                </a:solidFill>
                <a:latin typeface="Trebuchet MS" pitchFamily="34" charset="0"/>
                <a:ea typeface="Trebuchet MS" pitchFamily="34" charset="-122"/>
                <a:cs typeface="Trebuchet MS" pitchFamily="34" charset="-120"/>
              </a:rPr>
              <a:t>Patient Rating Prediction — Text Beats Structure</a:t>
            </a:r>
            <a:endParaRPr lang="en-US" sz="2800" dirty="0"/>
          </a:p>
        </p:txBody>
      </p:sp>
      <p:sp>
        <p:nvSpPr>
          <p:cNvPr id="5" name="Shape 3"/>
          <p:cNvSpPr/>
          <p:nvPr/>
        </p:nvSpPr>
        <p:spPr>
          <a:xfrm>
            <a:off x="365760" y="1298448"/>
            <a:ext cx="8412480" cy="0"/>
          </a:xfrm>
          <a:prstGeom prst="line">
            <a:avLst/>
          </a:prstGeom>
          <a:noFill/>
          <a:ln w="12700">
            <a:solidFill>
              <a:srgbClr val="E5E7EB"/>
            </a:solidFill>
            <a:prstDash val="solid"/>
          </a:ln>
        </p:spPr>
        <p:txBody>
          <a:bodyPr/>
          <a:lstStyle/>
          <a:p>
            <a:endParaRPr lang="en-US"/>
          </a:p>
        </p:txBody>
      </p:sp>
      <p:sp>
        <p:nvSpPr>
          <p:cNvPr id="6" name="Shape 4"/>
          <p:cNvSpPr/>
          <p:nvPr/>
        </p:nvSpPr>
        <p:spPr>
          <a:xfrm>
            <a:off x="0" y="4800600"/>
            <a:ext cx="9144000" cy="347472"/>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365760" y="4809744"/>
            <a:ext cx="7315200" cy="274320"/>
          </a:xfrm>
          <a:prstGeom prst="rect">
            <a:avLst/>
          </a:prstGeom>
          <a:noFill/>
          <a:ln/>
        </p:spPr>
        <p:txBody>
          <a:bodyPr wrap="square" rtlCol="0" anchor="ctr"/>
          <a:lstStyle/>
          <a:p>
            <a:pPr marL="0" indent="0">
              <a:buNone/>
            </a:pPr>
            <a:endParaRPr lang="en-US" sz="900" dirty="0"/>
          </a:p>
        </p:txBody>
      </p:sp>
      <p:sp>
        <p:nvSpPr>
          <p:cNvPr id="8" name="Text 6"/>
          <p:cNvSpPr/>
          <p:nvPr/>
        </p:nvSpPr>
        <p:spPr>
          <a:xfrm>
            <a:off x="4572000" y="4809744"/>
            <a:ext cx="4389120" cy="274320"/>
          </a:xfrm>
          <a:prstGeom prst="rect">
            <a:avLst/>
          </a:prstGeom>
          <a:noFill/>
          <a:ln/>
        </p:spPr>
        <p:txBody>
          <a:bodyPr wrap="square" rtlCol="0" anchor="ctr"/>
          <a:lstStyle/>
          <a:p>
            <a:pPr marL="0" indent="0" algn="r">
              <a:buNone/>
            </a:pPr>
            <a:endParaRPr lang="en-US" sz="900" dirty="0"/>
          </a:p>
        </p:txBody>
      </p:sp>
      <p:sp>
        <p:nvSpPr>
          <p:cNvPr id="9" name="Text 7"/>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AAAAAA"/>
                </a:solidFill>
              </a:rPr>
              <a:t>21 / 25</a:t>
            </a:r>
            <a:endParaRPr lang="en-US" sz="900" dirty="0"/>
          </a:p>
        </p:txBody>
      </p:sp>
      <p:grpSp>
        <p:nvGrpSpPr>
          <p:cNvPr id="42" name="Group 41">
            <a:extLst>
              <a:ext uri="{FF2B5EF4-FFF2-40B4-BE49-F238E27FC236}">
                <a16:creationId xmlns:a16="http://schemas.microsoft.com/office/drawing/2014/main" id="{D8CA7AC3-504F-D55D-3B58-33EA5BB7AC89}"/>
              </a:ext>
            </a:extLst>
          </p:cNvPr>
          <p:cNvGrpSpPr/>
          <p:nvPr/>
        </p:nvGrpSpPr>
        <p:grpSpPr>
          <a:xfrm>
            <a:off x="365760" y="1417320"/>
            <a:ext cx="8412480" cy="758940"/>
            <a:chOff x="365760" y="1417320"/>
            <a:chExt cx="6995160" cy="914400"/>
          </a:xfrm>
        </p:grpSpPr>
        <p:sp>
          <p:nvSpPr>
            <p:cNvPr id="10" name="Shape 8"/>
            <p:cNvSpPr/>
            <p:nvPr/>
          </p:nvSpPr>
          <p:spPr>
            <a:xfrm>
              <a:off x="365760" y="1417320"/>
              <a:ext cx="1645920" cy="914400"/>
            </a:xfrm>
            <a:prstGeom prst="rect">
              <a:avLst/>
            </a:prstGeom>
            <a:solidFill>
              <a:srgbClr val="E8F0FE"/>
            </a:solidFill>
            <a:ln w="25400">
              <a:solidFill>
                <a:srgbClr val="2563EB"/>
              </a:solidFill>
              <a:prstDash val="solid"/>
            </a:ln>
            <a:effectLst>
              <a:outerShdw blurRad="101600" dist="25400" dir="8100000" algn="bl" rotWithShape="0">
                <a:srgbClr val="000000">
                  <a:alpha val="10000"/>
                </a:srgbClr>
              </a:outerShdw>
            </a:effectLst>
          </p:spPr>
          <p:txBody>
            <a:bodyPr/>
            <a:lstStyle/>
            <a:p>
              <a:endParaRPr lang="en-US"/>
            </a:p>
          </p:txBody>
        </p:sp>
        <p:sp>
          <p:nvSpPr>
            <p:cNvPr id="11" name="Text 9"/>
            <p:cNvSpPr/>
            <p:nvPr/>
          </p:nvSpPr>
          <p:spPr>
            <a:xfrm>
              <a:off x="365760" y="1490472"/>
              <a:ext cx="1645920" cy="502920"/>
            </a:xfrm>
            <a:prstGeom prst="rect">
              <a:avLst/>
            </a:prstGeom>
            <a:noFill/>
            <a:ln/>
          </p:spPr>
          <p:txBody>
            <a:bodyPr wrap="square" rtlCol="0" anchor="ctr"/>
            <a:lstStyle/>
            <a:p>
              <a:pPr marL="0" indent="0" algn="ctr">
                <a:buNone/>
              </a:pPr>
              <a:r>
                <a:rPr lang="en-US" sz="2800" b="1" dirty="0">
                  <a:solidFill>
                    <a:srgbClr val="2563EB"/>
                  </a:solidFill>
                  <a:latin typeface="Trebuchet MS" pitchFamily="34" charset="0"/>
                  <a:ea typeface="Trebuchet MS" pitchFamily="34" charset="-122"/>
                  <a:cs typeface="Trebuchet MS" pitchFamily="34" charset="-120"/>
                </a:rPr>
                <a:t>6,688</a:t>
              </a:r>
              <a:endParaRPr lang="en-US" sz="2800" dirty="0"/>
            </a:p>
          </p:txBody>
        </p:sp>
        <p:sp>
          <p:nvSpPr>
            <p:cNvPr id="12" name="Text 10"/>
            <p:cNvSpPr/>
            <p:nvPr/>
          </p:nvSpPr>
          <p:spPr>
            <a:xfrm>
              <a:off x="365760" y="1947672"/>
              <a:ext cx="1645920" cy="347472"/>
            </a:xfrm>
            <a:prstGeom prst="rect">
              <a:avLst/>
            </a:prstGeom>
            <a:noFill/>
            <a:ln/>
          </p:spPr>
          <p:txBody>
            <a:bodyPr wrap="square" rtlCol="0" anchor="t"/>
            <a:lstStyle/>
            <a:p>
              <a:pPr marL="0" indent="0" algn="ctr">
                <a:buNone/>
              </a:pPr>
              <a:r>
                <a:rPr lang="en-US" sz="950" kern="0" spc="100" dirty="0">
                  <a:solidFill>
                    <a:srgbClr val="6B7280"/>
                  </a:solidFill>
                  <a:latin typeface="Calibri" pitchFamily="34" charset="0"/>
                  <a:ea typeface="Calibri" pitchFamily="34" charset="-122"/>
                  <a:cs typeface="Calibri" pitchFamily="34" charset="-120"/>
                </a:rPr>
                <a:t>REVIEWS USED</a:t>
              </a:r>
              <a:endParaRPr lang="en-US" sz="950" dirty="0"/>
            </a:p>
          </p:txBody>
        </p:sp>
        <p:sp>
          <p:nvSpPr>
            <p:cNvPr id="13" name="Shape 11"/>
            <p:cNvSpPr/>
            <p:nvPr/>
          </p:nvSpPr>
          <p:spPr>
            <a:xfrm>
              <a:off x="2148840" y="1417320"/>
              <a:ext cx="1645920" cy="914400"/>
            </a:xfrm>
            <a:prstGeom prst="rect">
              <a:avLst/>
            </a:prstGeom>
            <a:solidFill>
              <a:srgbClr val="E6F4EA"/>
            </a:solidFill>
            <a:ln w="25400">
              <a:solidFill>
                <a:srgbClr val="059669"/>
              </a:solidFill>
              <a:prstDash val="solid"/>
            </a:ln>
            <a:effectLst>
              <a:outerShdw blurRad="101600" dist="25400" dir="8100000" algn="bl" rotWithShape="0">
                <a:srgbClr val="000000">
                  <a:alpha val="10000"/>
                </a:srgbClr>
              </a:outerShdw>
            </a:effectLst>
          </p:spPr>
          <p:txBody>
            <a:bodyPr/>
            <a:lstStyle/>
            <a:p>
              <a:endParaRPr lang="en-US"/>
            </a:p>
          </p:txBody>
        </p:sp>
        <p:sp>
          <p:nvSpPr>
            <p:cNvPr id="14" name="Text 12"/>
            <p:cNvSpPr/>
            <p:nvPr/>
          </p:nvSpPr>
          <p:spPr>
            <a:xfrm>
              <a:off x="2148840" y="1490472"/>
              <a:ext cx="1645920" cy="502920"/>
            </a:xfrm>
            <a:prstGeom prst="rect">
              <a:avLst/>
            </a:prstGeom>
            <a:noFill/>
            <a:ln/>
          </p:spPr>
          <p:txBody>
            <a:bodyPr wrap="square" rtlCol="0" anchor="ctr"/>
            <a:lstStyle/>
            <a:p>
              <a:pPr marL="0" indent="0" algn="ctr">
                <a:buNone/>
              </a:pPr>
              <a:r>
                <a:rPr lang="en-US" sz="2800" b="1" dirty="0">
                  <a:solidFill>
                    <a:srgbClr val="059669"/>
                  </a:solidFill>
                  <a:latin typeface="Trebuchet MS" pitchFamily="34" charset="0"/>
                  <a:ea typeface="Trebuchet MS" pitchFamily="34" charset="-122"/>
                  <a:cs typeface="Trebuchet MS" pitchFamily="34" charset="-120"/>
                </a:rPr>
                <a:t>0.238</a:t>
              </a:r>
              <a:endParaRPr lang="en-US" sz="2800" dirty="0"/>
            </a:p>
          </p:txBody>
        </p:sp>
        <p:sp>
          <p:nvSpPr>
            <p:cNvPr id="15" name="Text 13"/>
            <p:cNvSpPr/>
            <p:nvPr/>
          </p:nvSpPr>
          <p:spPr>
            <a:xfrm>
              <a:off x="2148840" y="1947672"/>
              <a:ext cx="1645920" cy="347472"/>
            </a:xfrm>
            <a:prstGeom prst="rect">
              <a:avLst/>
            </a:prstGeom>
            <a:noFill/>
            <a:ln/>
          </p:spPr>
          <p:txBody>
            <a:bodyPr wrap="square" rtlCol="0" anchor="t"/>
            <a:lstStyle/>
            <a:p>
              <a:pPr marL="0" indent="0" algn="ctr">
                <a:buNone/>
              </a:pPr>
              <a:r>
                <a:rPr lang="en-US" sz="950" kern="0" spc="100" dirty="0">
                  <a:solidFill>
                    <a:srgbClr val="6B7280"/>
                  </a:solidFill>
                  <a:latin typeface="Calibri" pitchFamily="34" charset="0"/>
                  <a:ea typeface="Calibri" pitchFamily="34" charset="-122"/>
                  <a:cs typeface="Calibri" pitchFamily="34" charset="-120"/>
                </a:rPr>
                <a:t>BEST R² (Text Only)</a:t>
              </a:r>
              <a:endParaRPr lang="en-US" sz="950" dirty="0"/>
            </a:p>
          </p:txBody>
        </p:sp>
        <p:sp>
          <p:nvSpPr>
            <p:cNvPr id="16" name="Shape 14"/>
            <p:cNvSpPr/>
            <p:nvPr/>
          </p:nvSpPr>
          <p:spPr>
            <a:xfrm>
              <a:off x="3931920" y="1417320"/>
              <a:ext cx="1645920" cy="914400"/>
            </a:xfrm>
            <a:prstGeom prst="rect">
              <a:avLst/>
            </a:prstGeom>
            <a:solidFill>
              <a:srgbClr val="F3E8FF"/>
            </a:solidFill>
            <a:ln w="25400">
              <a:solidFill>
                <a:srgbClr val="7C3AED"/>
              </a:solidFill>
              <a:prstDash val="solid"/>
            </a:ln>
            <a:effectLst>
              <a:outerShdw blurRad="101600" dist="25400" dir="8100000" algn="bl" rotWithShape="0">
                <a:srgbClr val="000000">
                  <a:alpha val="10000"/>
                </a:srgbClr>
              </a:outerShdw>
            </a:effectLst>
          </p:spPr>
          <p:txBody>
            <a:bodyPr/>
            <a:lstStyle/>
            <a:p>
              <a:endParaRPr lang="en-US"/>
            </a:p>
          </p:txBody>
        </p:sp>
        <p:sp>
          <p:nvSpPr>
            <p:cNvPr id="17" name="Text 15"/>
            <p:cNvSpPr/>
            <p:nvPr/>
          </p:nvSpPr>
          <p:spPr>
            <a:xfrm>
              <a:off x="3931920" y="1490472"/>
              <a:ext cx="1645920" cy="502920"/>
            </a:xfrm>
            <a:prstGeom prst="rect">
              <a:avLst/>
            </a:prstGeom>
            <a:noFill/>
            <a:ln/>
          </p:spPr>
          <p:txBody>
            <a:bodyPr wrap="square" rtlCol="0" anchor="ctr"/>
            <a:lstStyle/>
            <a:p>
              <a:pPr marL="0" indent="0" algn="ctr">
                <a:buNone/>
              </a:pPr>
              <a:r>
                <a:rPr lang="en-US" sz="2800" b="1" dirty="0">
                  <a:solidFill>
                    <a:srgbClr val="7C3AED"/>
                  </a:solidFill>
                  <a:latin typeface="Trebuchet MS" pitchFamily="34" charset="0"/>
                  <a:ea typeface="Trebuchet MS" pitchFamily="34" charset="-122"/>
                  <a:cs typeface="Trebuchet MS" pitchFamily="34" charset="-120"/>
                </a:rPr>
                <a:t>3,000</a:t>
              </a:r>
              <a:endParaRPr lang="en-US" sz="2800" dirty="0"/>
            </a:p>
          </p:txBody>
        </p:sp>
        <p:sp>
          <p:nvSpPr>
            <p:cNvPr id="18" name="Text 16"/>
            <p:cNvSpPr/>
            <p:nvPr/>
          </p:nvSpPr>
          <p:spPr>
            <a:xfrm>
              <a:off x="3931920" y="1947672"/>
              <a:ext cx="1645920" cy="347472"/>
            </a:xfrm>
            <a:prstGeom prst="rect">
              <a:avLst/>
            </a:prstGeom>
            <a:noFill/>
            <a:ln/>
          </p:spPr>
          <p:txBody>
            <a:bodyPr wrap="square" rtlCol="0" anchor="t"/>
            <a:lstStyle/>
            <a:p>
              <a:pPr marL="0" indent="0" algn="ctr">
                <a:buNone/>
              </a:pPr>
              <a:r>
                <a:rPr lang="en-US" sz="950" kern="0" spc="100" dirty="0">
                  <a:solidFill>
                    <a:srgbClr val="6B7280"/>
                  </a:solidFill>
                  <a:latin typeface="Calibri" pitchFamily="34" charset="0"/>
                  <a:ea typeface="Calibri" pitchFamily="34" charset="-122"/>
                  <a:cs typeface="Calibri" pitchFamily="34" charset="-120"/>
                </a:rPr>
                <a:t>TF-IDF FEATURES</a:t>
              </a:r>
              <a:endParaRPr lang="en-US" sz="950" dirty="0"/>
            </a:p>
          </p:txBody>
        </p:sp>
        <p:sp>
          <p:nvSpPr>
            <p:cNvPr id="19" name="Shape 17"/>
            <p:cNvSpPr/>
            <p:nvPr/>
          </p:nvSpPr>
          <p:spPr>
            <a:xfrm>
              <a:off x="5715000" y="1417320"/>
              <a:ext cx="1645920" cy="914400"/>
            </a:xfrm>
            <a:prstGeom prst="rect">
              <a:avLst/>
            </a:prstGeom>
            <a:solidFill>
              <a:srgbClr val="FEF9E7"/>
            </a:solidFill>
            <a:ln w="25400">
              <a:solidFill>
                <a:srgbClr val="D97706"/>
              </a:solidFill>
              <a:prstDash val="solid"/>
            </a:ln>
            <a:effectLst>
              <a:outerShdw blurRad="101600" dist="25400" dir="8100000" algn="bl" rotWithShape="0">
                <a:srgbClr val="000000">
                  <a:alpha val="10000"/>
                </a:srgbClr>
              </a:outerShdw>
            </a:effectLst>
          </p:spPr>
          <p:txBody>
            <a:bodyPr/>
            <a:lstStyle/>
            <a:p>
              <a:endParaRPr lang="en-US"/>
            </a:p>
          </p:txBody>
        </p:sp>
        <p:sp>
          <p:nvSpPr>
            <p:cNvPr id="20" name="Text 18"/>
            <p:cNvSpPr/>
            <p:nvPr/>
          </p:nvSpPr>
          <p:spPr>
            <a:xfrm>
              <a:off x="5715000" y="1490472"/>
              <a:ext cx="1645920" cy="502920"/>
            </a:xfrm>
            <a:prstGeom prst="rect">
              <a:avLst/>
            </a:prstGeom>
            <a:noFill/>
            <a:ln/>
          </p:spPr>
          <p:txBody>
            <a:bodyPr wrap="square" rtlCol="0" anchor="ctr"/>
            <a:lstStyle/>
            <a:p>
              <a:pPr marL="0" indent="0" algn="ctr">
                <a:buNone/>
              </a:pPr>
              <a:r>
                <a:rPr lang="en-US" sz="2800" b="1" dirty="0">
                  <a:solidFill>
                    <a:srgbClr val="D97706"/>
                  </a:solidFill>
                  <a:latin typeface="Trebuchet MS" pitchFamily="34" charset="0"/>
                  <a:ea typeface="Trebuchet MS" pitchFamily="34" charset="-122"/>
                  <a:cs typeface="Trebuchet MS" pitchFamily="34" charset="-120"/>
                </a:rPr>
                <a:t>±2.02</a:t>
              </a:r>
              <a:endParaRPr lang="en-US" sz="2800" dirty="0"/>
            </a:p>
          </p:txBody>
        </p:sp>
        <p:sp>
          <p:nvSpPr>
            <p:cNvPr id="21" name="Text 19"/>
            <p:cNvSpPr/>
            <p:nvPr/>
          </p:nvSpPr>
          <p:spPr>
            <a:xfrm>
              <a:off x="5715000" y="1947672"/>
              <a:ext cx="1645920" cy="347472"/>
            </a:xfrm>
            <a:prstGeom prst="rect">
              <a:avLst/>
            </a:prstGeom>
            <a:noFill/>
            <a:ln/>
          </p:spPr>
          <p:txBody>
            <a:bodyPr wrap="square" rtlCol="0" anchor="t"/>
            <a:lstStyle/>
            <a:p>
              <a:pPr marL="0" indent="0" algn="ctr">
                <a:buNone/>
              </a:pPr>
              <a:r>
                <a:rPr lang="en-US" sz="950" kern="0" spc="100" dirty="0">
                  <a:solidFill>
                    <a:srgbClr val="6B7280"/>
                  </a:solidFill>
                  <a:latin typeface="Calibri" pitchFamily="34" charset="0"/>
                  <a:ea typeface="Calibri" pitchFamily="34" charset="-122"/>
                  <a:cs typeface="Calibri" pitchFamily="34" charset="-120"/>
                </a:rPr>
                <a:t>MAE (±STARS)</a:t>
              </a:r>
              <a:endParaRPr lang="en-US" sz="950" dirty="0"/>
            </a:p>
          </p:txBody>
        </p:sp>
      </p:grpSp>
      <p:sp>
        <p:nvSpPr>
          <p:cNvPr id="22" name="Shape 20"/>
          <p:cNvSpPr/>
          <p:nvPr/>
        </p:nvSpPr>
        <p:spPr>
          <a:xfrm>
            <a:off x="365760" y="2514600"/>
            <a:ext cx="4114800" cy="2148840"/>
          </a:xfrm>
          <a:prstGeom prst="rect">
            <a:avLst/>
          </a:prstGeom>
          <a:solidFill>
            <a:srgbClr val="E8F0FE"/>
          </a:solidFill>
          <a:ln w="19050">
            <a:solidFill>
              <a:srgbClr val="2563EB"/>
            </a:solidFill>
            <a:prstDash val="solid"/>
          </a:ln>
          <a:effectLst>
            <a:outerShdw blurRad="101600" dist="25400" dir="8100000" algn="bl" rotWithShape="0">
              <a:srgbClr val="000000">
                <a:alpha val="10000"/>
              </a:srgbClr>
            </a:outerShdw>
          </a:effectLst>
        </p:spPr>
        <p:txBody>
          <a:bodyPr/>
          <a:lstStyle/>
          <a:p>
            <a:endParaRPr lang="en-US"/>
          </a:p>
        </p:txBody>
      </p:sp>
      <p:sp>
        <p:nvSpPr>
          <p:cNvPr id="23" name="Text 21"/>
          <p:cNvSpPr/>
          <p:nvPr/>
        </p:nvSpPr>
        <p:spPr>
          <a:xfrm>
            <a:off x="548640" y="2578608"/>
            <a:ext cx="3749040" cy="274320"/>
          </a:xfrm>
          <a:prstGeom prst="rect">
            <a:avLst/>
          </a:prstGeom>
          <a:noFill/>
          <a:ln/>
        </p:spPr>
        <p:txBody>
          <a:bodyPr wrap="square" rtlCol="0" anchor="ctr"/>
          <a:lstStyle/>
          <a:p>
            <a:pPr marL="0" indent="0">
              <a:buNone/>
            </a:pPr>
            <a:r>
              <a:rPr lang="en-US" sz="1300" b="1" dirty="0">
                <a:solidFill>
                  <a:srgbClr val="2563EB"/>
                </a:solidFill>
                <a:latin typeface="Trebuchet MS" pitchFamily="34" charset="0"/>
                <a:ea typeface="Trebuchet MS" pitchFamily="34" charset="-122"/>
                <a:cs typeface="Trebuchet MS" pitchFamily="34" charset="-120"/>
              </a:rPr>
              <a:t>Model Comparison</a:t>
            </a:r>
            <a:endParaRPr lang="en-US" sz="1300" dirty="0"/>
          </a:p>
        </p:txBody>
      </p:sp>
      <p:sp>
        <p:nvSpPr>
          <p:cNvPr id="24" name="Text 22"/>
          <p:cNvSpPr/>
          <p:nvPr/>
        </p:nvSpPr>
        <p:spPr>
          <a:xfrm>
            <a:off x="548640" y="2944368"/>
            <a:ext cx="3840480" cy="457200"/>
          </a:xfrm>
          <a:prstGeom prst="rect">
            <a:avLst/>
          </a:prstGeom>
          <a:noFill/>
          <a:ln/>
        </p:spPr>
        <p:txBody>
          <a:bodyPr wrap="square" rtlCol="0" anchor="ctr"/>
          <a:lstStyle/>
          <a:p>
            <a:pPr marL="0" indent="0">
              <a:buNone/>
            </a:pPr>
            <a:r>
              <a:rPr lang="en-US" sz="1100" b="1" dirty="0">
                <a:solidFill>
                  <a:srgbClr val="059669"/>
                </a:solidFill>
                <a:latin typeface="Calibri" pitchFamily="34" charset="0"/>
                <a:ea typeface="Calibri" pitchFamily="34" charset="-122"/>
                <a:cs typeface="Calibri" pitchFamily="34" charset="-120"/>
              </a:rPr>
              <a:t>Ridge (text only)</a:t>
            </a:r>
            <a:r>
              <a:rPr lang="en-US" sz="1100" dirty="0">
                <a:solidFill>
                  <a:srgbClr val="374151"/>
                </a:solidFill>
                <a:latin typeface="Calibri" pitchFamily="34" charset="0"/>
                <a:ea typeface="Calibri" pitchFamily="34" charset="-122"/>
                <a:cs typeface="Calibri" pitchFamily="34" charset="-120"/>
              </a:rPr>
              <a:t>   R²=0.2376   MAE=2.0199</a:t>
            </a:r>
            <a:endParaRPr lang="en-US" sz="1100" dirty="0"/>
          </a:p>
        </p:txBody>
      </p:sp>
      <p:sp>
        <p:nvSpPr>
          <p:cNvPr id="25" name="Text 23"/>
          <p:cNvSpPr/>
          <p:nvPr/>
        </p:nvSpPr>
        <p:spPr>
          <a:xfrm>
            <a:off x="548640" y="3447288"/>
            <a:ext cx="3840480" cy="457200"/>
          </a:xfrm>
          <a:prstGeom prst="rect">
            <a:avLst/>
          </a:prstGeom>
          <a:noFill/>
          <a:ln/>
        </p:spPr>
        <p:txBody>
          <a:bodyPr wrap="square" rtlCol="0" anchor="ctr"/>
          <a:lstStyle/>
          <a:p>
            <a:pPr marL="0" indent="0">
              <a:buNone/>
            </a:pPr>
            <a:r>
              <a:rPr lang="en-US" sz="1100" dirty="0">
                <a:solidFill>
                  <a:srgbClr val="D97706"/>
                </a:solidFill>
                <a:latin typeface="Calibri" pitchFamily="34" charset="0"/>
                <a:ea typeface="Calibri" pitchFamily="34" charset="-122"/>
                <a:cs typeface="Calibri" pitchFamily="34" charset="-120"/>
              </a:rPr>
              <a:t>Ridge (text + structure)</a:t>
            </a:r>
            <a:r>
              <a:rPr lang="en-US" sz="1100" dirty="0">
                <a:solidFill>
                  <a:srgbClr val="374151"/>
                </a:solidFill>
                <a:latin typeface="Calibri" pitchFamily="34" charset="0"/>
                <a:ea typeface="Calibri" pitchFamily="34" charset="-122"/>
                <a:cs typeface="Calibri" pitchFamily="34" charset="-120"/>
              </a:rPr>
              <a:t>   R²=0.2337   MAE=2.0191</a:t>
            </a:r>
            <a:endParaRPr lang="en-US" sz="1100" dirty="0"/>
          </a:p>
        </p:txBody>
      </p:sp>
      <p:sp>
        <p:nvSpPr>
          <p:cNvPr id="26" name="Text 24"/>
          <p:cNvSpPr/>
          <p:nvPr/>
        </p:nvSpPr>
        <p:spPr>
          <a:xfrm>
            <a:off x="548640" y="3950208"/>
            <a:ext cx="3840480" cy="457200"/>
          </a:xfrm>
          <a:prstGeom prst="rect">
            <a:avLst/>
          </a:prstGeom>
          <a:noFill/>
          <a:ln/>
        </p:spPr>
        <p:txBody>
          <a:bodyPr wrap="square" rtlCol="0" anchor="ctr"/>
          <a:lstStyle/>
          <a:p>
            <a:pPr marL="0" indent="0">
              <a:buNone/>
            </a:pPr>
            <a:r>
              <a:rPr lang="en-US" sz="1100" dirty="0">
                <a:solidFill>
                  <a:srgbClr val="9D1535"/>
                </a:solidFill>
                <a:latin typeface="Calibri" pitchFamily="34" charset="0"/>
                <a:ea typeface="Calibri" pitchFamily="34" charset="-122"/>
                <a:cs typeface="Calibri" pitchFamily="34" charset="-120"/>
              </a:rPr>
              <a:t>RF (text + structure)</a:t>
            </a:r>
            <a:r>
              <a:rPr lang="en-US" sz="1100" dirty="0">
                <a:solidFill>
                  <a:srgbClr val="374151"/>
                </a:solidFill>
                <a:latin typeface="Calibri" pitchFamily="34" charset="0"/>
                <a:ea typeface="Calibri" pitchFamily="34" charset="-122"/>
                <a:cs typeface="Calibri" pitchFamily="34" charset="-120"/>
              </a:rPr>
              <a:t>   R²=0.0023   MAE=2.4660</a:t>
            </a:r>
            <a:endParaRPr lang="en-US" sz="1100" dirty="0"/>
          </a:p>
        </p:txBody>
      </p:sp>
      <p:sp>
        <p:nvSpPr>
          <p:cNvPr id="27" name="Text 25"/>
          <p:cNvSpPr/>
          <p:nvPr/>
        </p:nvSpPr>
        <p:spPr>
          <a:xfrm>
            <a:off x="548640" y="4297680"/>
            <a:ext cx="3840480" cy="256032"/>
          </a:xfrm>
          <a:prstGeom prst="rect">
            <a:avLst/>
          </a:prstGeom>
          <a:noFill/>
          <a:ln/>
        </p:spPr>
        <p:txBody>
          <a:bodyPr wrap="square" rtlCol="0" anchor="ctr"/>
          <a:lstStyle/>
          <a:p>
            <a:pPr marL="0" indent="0">
              <a:buNone/>
            </a:pPr>
            <a:r>
              <a:rPr lang="en-US" sz="1100" b="1" dirty="0">
                <a:solidFill>
                  <a:srgbClr val="D97706"/>
                </a:solidFill>
                <a:latin typeface="Calibri" pitchFamily="34" charset="0"/>
                <a:ea typeface="Calibri" pitchFamily="34" charset="-122"/>
                <a:cs typeface="Calibri" pitchFamily="34" charset="-120"/>
              </a:rPr>
              <a:t>Adding structural features DOES NOT improve prediction</a:t>
            </a:r>
            <a:endParaRPr lang="en-US" sz="1100" dirty="0"/>
          </a:p>
        </p:txBody>
      </p:sp>
      <p:sp>
        <p:nvSpPr>
          <p:cNvPr id="28" name="Shape 26"/>
          <p:cNvSpPr/>
          <p:nvPr/>
        </p:nvSpPr>
        <p:spPr>
          <a:xfrm>
            <a:off x="4663440" y="2514600"/>
            <a:ext cx="4114800" cy="2148840"/>
          </a:xfrm>
          <a:prstGeom prst="rect">
            <a:avLst/>
          </a:prstGeom>
          <a:solidFill>
            <a:srgbClr val="F7EEF1"/>
          </a:solidFill>
          <a:ln w="19050">
            <a:solidFill>
              <a:srgbClr val="9D1535"/>
            </a:solidFill>
            <a:prstDash val="solid"/>
          </a:ln>
          <a:effectLst>
            <a:outerShdw blurRad="101600" dist="25400" dir="8100000" algn="bl" rotWithShape="0">
              <a:srgbClr val="000000">
                <a:alpha val="10000"/>
              </a:srgbClr>
            </a:outerShdw>
          </a:effectLst>
        </p:spPr>
        <p:txBody>
          <a:bodyPr/>
          <a:lstStyle/>
          <a:p>
            <a:endParaRPr lang="en-US"/>
          </a:p>
        </p:txBody>
      </p:sp>
      <p:sp>
        <p:nvSpPr>
          <p:cNvPr id="29" name="Text 27"/>
          <p:cNvSpPr/>
          <p:nvPr/>
        </p:nvSpPr>
        <p:spPr>
          <a:xfrm>
            <a:off x="4846320" y="2578608"/>
            <a:ext cx="3749040" cy="274320"/>
          </a:xfrm>
          <a:prstGeom prst="rect">
            <a:avLst/>
          </a:prstGeom>
          <a:noFill/>
          <a:ln/>
        </p:spPr>
        <p:txBody>
          <a:bodyPr wrap="square" rtlCol="0" anchor="ctr"/>
          <a:lstStyle/>
          <a:p>
            <a:pPr marL="0" indent="0">
              <a:buNone/>
            </a:pPr>
            <a:r>
              <a:rPr lang="en-US" sz="1200" b="1" dirty="0">
                <a:solidFill>
                  <a:srgbClr val="9D1535"/>
                </a:solidFill>
                <a:latin typeface="Trebuchet MS" pitchFamily="34" charset="0"/>
                <a:ea typeface="Trebuchet MS" pitchFamily="34" charset="-122"/>
                <a:cs typeface="Trebuchet MS" pitchFamily="34" charset="-120"/>
              </a:rPr>
              <a:t>Top Negative Word: 'shortage' (−5.13)</a:t>
            </a:r>
            <a:endParaRPr lang="en-US" sz="1200" dirty="0"/>
          </a:p>
        </p:txBody>
      </p:sp>
      <p:sp>
        <p:nvSpPr>
          <p:cNvPr id="30" name="Text 28"/>
          <p:cNvSpPr/>
          <p:nvPr/>
        </p:nvSpPr>
        <p:spPr>
          <a:xfrm>
            <a:off x="4846320" y="2926080"/>
            <a:ext cx="1828800" cy="292608"/>
          </a:xfrm>
          <a:prstGeom prst="rect">
            <a:avLst/>
          </a:prstGeom>
          <a:noFill/>
          <a:ln/>
        </p:spPr>
        <p:txBody>
          <a:bodyPr wrap="square" rtlCol="0" anchor="ctr"/>
          <a:lstStyle/>
          <a:p>
            <a:pPr marL="0" indent="0">
              <a:buNone/>
            </a:pPr>
            <a:r>
              <a:rPr lang="en-US" sz="1100" b="1" dirty="0">
                <a:solidFill>
                  <a:srgbClr val="9D1535"/>
                </a:solidFill>
                <a:latin typeface="Calibri" pitchFamily="34" charset="0"/>
                <a:ea typeface="Calibri" pitchFamily="34" charset="-122"/>
                <a:cs typeface="Calibri" pitchFamily="34" charset="-120"/>
              </a:rPr>
              <a:t>shortage</a:t>
            </a:r>
            <a:r>
              <a:rPr lang="en-US" sz="1100" dirty="0">
                <a:solidFill>
                  <a:srgbClr val="374151"/>
                </a:solidFill>
                <a:latin typeface="Calibri" pitchFamily="34" charset="0"/>
                <a:ea typeface="Calibri" pitchFamily="34" charset="-122"/>
                <a:cs typeface="Calibri" pitchFamily="34" charset="-120"/>
              </a:rPr>
              <a:t>  -5.13</a:t>
            </a:r>
            <a:endParaRPr lang="en-US" sz="1100" dirty="0"/>
          </a:p>
        </p:txBody>
      </p:sp>
      <p:sp>
        <p:nvSpPr>
          <p:cNvPr id="31" name="Text 29"/>
          <p:cNvSpPr/>
          <p:nvPr/>
        </p:nvSpPr>
        <p:spPr>
          <a:xfrm>
            <a:off x="4846320" y="3255264"/>
            <a:ext cx="1828800" cy="292608"/>
          </a:xfrm>
          <a:prstGeom prst="rect">
            <a:avLst/>
          </a:prstGeom>
          <a:noFill/>
          <a:ln/>
        </p:spPr>
        <p:txBody>
          <a:bodyPr wrap="square" rtlCol="0" anchor="ctr"/>
          <a:lstStyle/>
          <a:p>
            <a:pPr marL="0" indent="0">
              <a:buNone/>
            </a:pPr>
            <a:r>
              <a:rPr lang="en-US" sz="1100" b="1" dirty="0">
                <a:solidFill>
                  <a:srgbClr val="9D1535"/>
                </a:solidFill>
                <a:latin typeface="Calibri" pitchFamily="34" charset="0"/>
                <a:ea typeface="Calibri" pitchFamily="34" charset="-122"/>
                <a:cs typeface="Calibri" pitchFamily="34" charset="-120"/>
              </a:rPr>
              <a:t>worse</a:t>
            </a:r>
            <a:r>
              <a:rPr lang="en-US" sz="1100" dirty="0">
                <a:solidFill>
                  <a:srgbClr val="374151"/>
                </a:solidFill>
                <a:latin typeface="Calibri" pitchFamily="34" charset="0"/>
                <a:ea typeface="Calibri" pitchFamily="34" charset="-122"/>
                <a:cs typeface="Calibri" pitchFamily="34" charset="-120"/>
              </a:rPr>
              <a:t>  -4.56</a:t>
            </a:r>
            <a:endParaRPr lang="en-US" sz="1100" dirty="0"/>
          </a:p>
        </p:txBody>
      </p:sp>
      <p:sp>
        <p:nvSpPr>
          <p:cNvPr id="32" name="Text 30"/>
          <p:cNvSpPr/>
          <p:nvPr/>
        </p:nvSpPr>
        <p:spPr>
          <a:xfrm>
            <a:off x="4846320" y="3584448"/>
            <a:ext cx="1828800" cy="292608"/>
          </a:xfrm>
          <a:prstGeom prst="rect">
            <a:avLst/>
          </a:prstGeom>
          <a:noFill/>
          <a:ln/>
        </p:spPr>
        <p:txBody>
          <a:bodyPr wrap="square" rtlCol="0" anchor="ctr"/>
          <a:lstStyle/>
          <a:p>
            <a:pPr marL="0" indent="0">
              <a:buNone/>
            </a:pPr>
            <a:r>
              <a:rPr lang="en-US" sz="1100" b="1" dirty="0">
                <a:solidFill>
                  <a:srgbClr val="9D1535"/>
                </a:solidFill>
                <a:latin typeface="Calibri" pitchFamily="34" charset="0"/>
                <a:ea typeface="Calibri" pitchFamily="34" charset="-122"/>
                <a:cs typeface="Calibri" pitchFamily="34" charset="-120"/>
              </a:rPr>
              <a:t>agitated</a:t>
            </a:r>
            <a:r>
              <a:rPr lang="en-US" sz="1100" dirty="0">
                <a:solidFill>
                  <a:srgbClr val="374151"/>
                </a:solidFill>
                <a:latin typeface="Calibri" pitchFamily="34" charset="0"/>
                <a:ea typeface="Calibri" pitchFamily="34" charset="-122"/>
                <a:cs typeface="Calibri" pitchFamily="34" charset="-120"/>
              </a:rPr>
              <a:t>  -4.55</a:t>
            </a:r>
            <a:endParaRPr lang="en-US" sz="1100" dirty="0"/>
          </a:p>
        </p:txBody>
      </p:sp>
      <p:sp>
        <p:nvSpPr>
          <p:cNvPr id="33" name="Text 31"/>
          <p:cNvSpPr/>
          <p:nvPr/>
        </p:nvSpPr>
        <p:spPr>
          <a:xfrm>
            <a:off x="4846320" y="3913632"/>
            <a:ext cx="1828800" cy="292608"/>
          </a:xfrm>
          <a:prstGeom prst="rect">
            <a:avLst/>
          </a:prstGeom>
          <a:noFill/>
          <a:ln/>
        </p:spPr>
        <p:txBody>
          <a:bodyPr wrap="square" rtlCol="0" anchor="ctr"/>
          <a:lstStyle/>
          <a:p>
            <a:pPr marL="0" indent="0">
              <a:buNone/>
            </a:pPr>
            <a:r>
              <a:rPr lang="en-US" sz="1100" b="1" dirty="0">
                <a:solidFill>
                  <a:srgbClr val="9D1535"/>
                </a:solidFill>
                <a:latin typeface="Calibri" pitchFamily="34" charset="0"/>
                <a:ea typeface="Calibri" pitchFamily="34" charset="-122"/>
                <a:cs typeface="Calibri" pitchFamily="34" charset="-120"/>
              </a:rPr>
              <a:t>worst</a:t>
            </a:r>
            <a:r>
              <a:rPr lang="en-US" sz="1100" dirty="0">
                <a:solidFill>
                  <a:srgbClr val="374151"/>
                </a:solidFill>
                <a:latin typeface="Calibri" pitchFamily="34" charset="0"/>
                <a:ea typeface="Calibri" pitchFamily="34" charset="-122"/>
                <a:cs typeface="Calibri" pitchFamily="34" charset="-120"/>
              </a:rPr>
              <a:t>  -4.33</a:t>
            </a:r>
            <a:endParaRPr lang="en-US" sz="1100" dirty="0"/>
          </a:p>
        </p:txBody>
      </p:sp>
      <p:sp>
        <p:nvSpPr>
          <p:cNvPr id="34" name="Text 32"/>
          <p:cNvSpPr/>
          <p:nvPr/>
        </p:nvSpPr>
        <p:spPr>
          <a:xfrm>
            <a:off x="4846320" y="4242816"/>
            <a:ext cx="1828800" cy="292608"/>
          </a:xfrm>
          <a:prstGeom prst="rect">
            <a:avLst/>
          </a:prstGeom>
          <a:noFill/>
          <a:ln/>
        </p:spPr>
        <p:txBody>
          <a:bodyPr wrap="square" rtlCol="0" anchor="ctr"/>
          <a:lstStyle/>
          <a:p>
            <a:pPr marL="0" indent="0">
              <a:buNone/>
            </a:pPr>
            <a:r>
              <a:rPr lang="en-US" sz="1100" b="1" dirty="0">
                <a:solidFill>
                  <a:srgbClr val="9D1535"/>
                </a:solidFill>
                <a:latin typeface="Calibri" pitchFamily="34" charset="0"/>
                <a:ea typeface="Calibri" pitchFamily="34" charset="-122"/>
                <a:cs typeface="Calibri" pitchFamily="34" charset="-120"/>
              </a:rPr>
              <a:t>horrible</a:t>
            </a:r>
            <a:r>
              <a:rPr lang="en-US" sz="1100" dirty="0">
                <a:solidFill>
                  <a:srgbClr val="374151"/>
                </a:solidFill>
                <a:latin typeface="Calibri" pitchFamily="34" charset="0"/>
                <a:ea typeface="Calibri" pitchFamily="34" charset="-122"/>
                <a:cs typeface="Calibri" pitchFamily="34" charset="-120"/>
              </a:rPr>
              <a:t>  -4.32</a:t>
            </a:r>
            <a:endParaRPr lang="en-US" sz="1100" dirty="0"/>
          </a:p>
        </p:txBody>
      </p:sp>
      <p:sp>
        <p:nvSpPr>
          <p:cNvPr id="35" name="Text 33"/>
          <p:cNvSpPr/>
          <p:nvPr/>
        </p:nvSpPr>
        <p:spPr>
          <a:xfrm>
            <a:off x="6720840" y="2926080"/>
            <a:ext cx="1920240" cy="292608"/>
          </a:xfrm>
          <a:prstGeom prst="rect">
            <a:avLst/>
          </a:prstGeom>
          <a:noFill/>
          <a:ln/>
        </p:spPr>
        <p:txBody>
          <a:bodyPr wrap="square" rtlCol="0" anchor="ctr"/>
          <a:lstStyle/>
          <a:p>
            <a:pPr marL="0" indent="0">
              <a:buNone/>
            </a:pPr>
            <a:r>
              <a:rPr lang="en-US" sz="1100" b="1" dirty="0">
                <a:solidFill>
                  <a:srgbClr val="059669"/>
                </a:solidFill>
                <a:latin typeface="Calibri" pitchFamily="34" charset="0"/>
                <a:ea typeface="Calibri" pitchFamily="34" charset="-122"/>
                <a:cs typeface="Calibri" pitchFamily="34" charset="-120"/>
              </a:rPr>
              <a:t>great</a:t>
            </a:r>
            <a:r>
              <a:rPr lang="en-US" sz="1100" dirty="0">
                <a:solidFill>
                  <a:srgbClr val="374151"/>
                </a:solidFill>
                <a:latin typeface="Calibri" pitchFamily="34" charset="0"/>
                <a:ea typeface="Calibri" pitchFamily="34" charset="-122"/>
                <a:cs typeface="Calibri" pitchFamily="34" charset="-120"/>
              </a:rPr>
              <a:t>  +4.54</a:t>
            </a:r>
            <a:endParaRPr lang="en-US" sz="1100" dirty="0"/>
          </a:p>
        </p:txBody>
      </p:sp>
      <p:sp>
        <p:nvSpPr>
          <p:cNvPr id="36" name="Text 34"/>
          <p:cNvSpPr/>
          <p:nvPr/>
        </p:nvSpPr>
        <p:spPr>
          <a:xfrm>
            <a:off x="6720840" y="3255264"/>
            <a:ext cx="1920240" cy="292608"/>
          </a:xfrm>
          <a:prstGeom prst="rect">
            <a:avLst/>
          </a:prstGeom>
          <a:noFill/>
          <a:ln/>
        </p:spPr>
        <p:txBody>
          <a:bodyPr wrap="square" rtlCol="0" anchor="ctr"/>
          <a:lstStyle/>
          <a:p>
            <a:pPr marL="0" indent="0">
              <a:buNone/>
            </a:pPr>
            <a:r>
              <a:rPr lang="en-US" sz="1100" b="1" dirty="0">
                <a:solidFill>
                  <a:srgbClr val="059669"/>
                </a:solidFill>
                <a:latin typeface="Calibri" pitchFamily="34" charset="0"/>
                <a:ea typeface="Calibri" pitchFamily="34" charset="-122"/>
                <a:cs typeface="Calibri" pitchFamily="34" charset="-120"/>
              </a:rPr>
              <a:t>works</a:t>
            </a:r>
            <a:r>
              <a:rPr lang="en-US" sz="1100" dirty="0">
                <a:solidFill>
                  <a:srgbClr val="374151"/>
                </a:solidFill>
                <a:latin typeface="Calibri" pitchFamily="34" charset="0"/>
                <a:ea typeface="Calibri" pitchFamily="34" charset="-122"/>
                <a:cs typeface="Calibri" pitchFamily="34" charset="-120"/>
              </a:rPr>
              <a:t>  +4.54</a:t>
            </a:r>
            <a:endParaRPr lang="en-US" sz="1100" dirty="0"/>
          </a:p>
        </p:txBody>
      </p:sp>
      <p:sp>
        <p:nvSpPr>
          <p:cNvPr id="37" name="Text 35"/>
          <p:cNvSpPr/>
          <p:nvPr/>
        </p:nvSpPr>
        <p:spPr>
          <a:xfrm>
            <a:off x="6720840" y="3584448"/>
            <a:ext cx="1920240" cy="292608"/>
          </a:xfrm>
          <a:prstGeom prst="rect">
            <a:avLst/>
          </a:prstGeom>
          <a:noFill/>
          <a:ln/>
        </p:spPr>
        <p:txBody>
          <a:bodyPr wrap="square" rtlCol="0" anchor="ctr"/>
          <a:lstStyle/>
          <a:p>
            <a:pPr marL="0" indent="0">
              <a:buNone/>
            </a:pPr>
            <a:r>
              <a:rPr lang="en-US" sz="1100" b="1" dirty="0">
                <a:solidFill>
                  <a:srgbClr val="059669"/>
                </a:solidFill>
                <a:latin typeface="Calibri" pitchFamily="34" charset="0"/>
                <a:ea typeface="Calibri" pitchFamily="34" charset="-122"/>
                <a:cs typeface="Calibri" pitchFamily="34" charset="-120"/>
              </a:rPr>
              <a:t>miracle</a:t>
            </a:r>
            <a:r>
              <a:rPr lang="en-US" sz="1100" dirty="0">
                <a:solidFill>
                  <a:srgbClr val="374151"/>
                </a:solidFill>
                <a:latin typeface="Calibri" pitchFamily="34" charset="0"/>
                <a:ea typeface="Calibri" pitchFamily="34" charset="-122"/>
                <a:cs typeface="Calibri" pitchFamily="34" charset="-120"/>
              </a:rPr>
              <a:t>  +4.45</a:t>
            </a:r>
            <a:endParaRPr lang="en-US" sz="1100" dirty="0"/>
          </a:p>
        </p:txBody>
      </p:sp>
      <p:sp>
        <p:nvSpPr>
          <p:cNvPr id="38" name="Text 36"/>
          <p:cNvSpPr/>
          <p:nvPr/>
        </p:nvSpPr>
        <p:spPr>
          <a:xfrm>
            <a:off x="6720840" y="3913632"/>
            <a:ext cx="1920240" cy="292608"/>
          </a:xfrm>
          <a:prstGeom prst="rect">
            <a:avLst/>
          </a:prstGeom>
          <a:noFill/>
          <a:ln/>
        </p:spPr>
        <p:txBody>
          <a:bodyPr wrap="square" rtlCol="0" anchor="ctr"/>
          <a:lstStyle/>
          <a:p>
            <a:pPr marL="0" indent="0">
              <a:buNone/>
            </a:pPr>
            <a:r>
              <a:rPr lang="en-US" sz="1100" b="1" dirty="0">
                <a:solidFill>
                  <a:srgbClr val="059669"/>
                </a:solidFill>
                <a:latin typeface="Calibri" pitchFamily="34" charset="0"/>
                <a:ea typeface="Calibri" pitchFamily="34" charset="-122"/>
                <a:cs typeface="Calibri" pitchFamily="34" charset="-120"/>
              </a:rPr>
              <a:t>helped</a:t>
            </a:r>
            <a:r>
              <a:rPr lang="en-US" sz="1100" dirty="0">
                <a:solidFill>
                  <a:srgbClr val="374151"/>
                </a:solidFill>
                <a:latin typeface="Calibri" pitchFamily="34" charset="0"/>
                <a:ea typeface="Calibri" pitchFamily="34" charset="-122"/>
                <a:cs typeface="Calibri" pitchFamily="34" charset="-120"/>
              </a:rPr>
              <a:t>  +3.87</a:t>
            </a:r>
            <a:endParaRPr lang="en-US" sz="1100" dirty="0"/>
          </a:p>
        </p:txBody>
      </p:sp>
      <p:sp>
        <p:nvSpPr>
          <p:cNvPr id="39" name="Text 37"/>
          <p:cNvSpPr/>
          <p:nvPr/>
        </p:nvSpPr>
        <p:spPr>
          <a:xfrm>
            <a:off x="6720840" y="4242816"/>
            <a:ext cx="1920240" cy="292608"/>
          </a:xfrm>
          <a:prstGeom prst="rect">
            <a:avLst/>
          </a:prstGeom>
          <a:noFill/>
          <a:ln/>
        </p:spPr>
        <p:txBody>
          <a:bodyPr wrap="square" rtlCol="0" anchor="ctr"/>
          <a:lstStyle/>
          <a:p>
            <a:pPr marL="0" indent="0">
              <a:buNone/>
            </a:pPr>
            <a:r>
              <a:rPr lang="en-US" sz="1100" b="1" dirty="0">
                <a:solidFill>
                  <a:srgbClr val="059669"/>
                </a:solidFill>
                <a:latin typeface="Calibri" pitchFamily="34" charset="0"/>
                <a:ea typeface="Calibri" pitchFamily="34" charset="-122"/>
                <a:cs typeface="Calibri" pitchFamily="34" charset="-120"/>
              </a:rPr>
              <a:t>wonder drug</a:t>
            </a:r>
            <a:r>
              <a:rPr lang="en-US" sz="1100" dirty="0">
                <a:solidFill>
                  <a:srgbClr val="374151"/>
                </a:solidFill>
                <a:latin typeface="Calibri" pitchFamily="34" charset="0"/>
                <a:ea typeface="Calibri" pitchFamily="34" charset="-122"/>
                <a:cs typeface="Calibri" pitchFamily="34" charset="-120"/>
              </a:rPr>
              <a:t>  +3.53</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365760" y="201168"/>
            <a:ext cx="2377440" cy="256032"/>
          </a:xfrm>
          <a:prstGeom prst="rect">
            <a:avLst/>
          </a:prstGeom>
          <a:solidFill>
            <a:srgbClr val="059669"/>
          </a:solidFill>
          <a:ln w="12700">
            <a:solidFill>
              <a:srgbClr val="059669"/>
            </a:solidFill>
            <a:prstDash val="solid"/>
          </a:ln>
        </p:spPr>
        <p:txBody>
          <a:bodyPr/>
          <a:lstStyle/>
          <a:p>
            <a:endParaRPr lang="en-US"/>
          </a:p>
        </p:txBody>
      </p:sp>
      <p:sp>
        <p:nvSpPr>
          <p:cNvPr id="3" name="Text 1"/>
          <p:cNvSpPr/>
          <p:nvPr/>
        </p:nvSpPr>
        <p:spPr>
          <a:xfrm>
            <a:off x="365760" y="201168"/>
            <a:ext cx="2377440"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rPr>
              <a:t>POWER ANALYSIS</a:t>
            </a:r>
            <a:endParaRPr lang="en-US" sz="800" dirty="0"/>
          </a:p>
        </p:txBody>
      </p:sp>
      <p:sp>
        <p:nvSpPr>
          <p:cNvPr id="4" name="Text 2"/>
          <p:cNvSpPr/>
          <p:nvPr/>
        </p:nvSpPr>
        <p:spPr>
          <a:xfrm>
            <a:off x="365760" y="566928"/>
            <a:ext cx="8412480" cy="640080"/>
          </a:xfrm>
          <a:prstGeom prst="rect">
            <a:avLst/>
          </a:prstGeom>
          <a:noFill/>
          <a:ln/>
        </p:spPr>
        <p:txBody>
          <a:bodyPr wrap="square" rtlCol="0" anchor="ctr"/>
          <a:lstStyle/>
          <a:p>
            <a:pPr marL="0" indent="0">
              <a:buNone/>
            </a:pPr>
            <a:r>
              <a:rPr lang="en-US" sz="2800" b="1" dirty="0">
                <a:solidFill>
                  <a:srgbClr val="111827"/>
                </a:solidFill>
                <a:latin typeface="Trebuchet MS" pitchFamily="34" charset="0"/>
                <a:ea typeface="Trebuchet MS" pitchFamily="34" charset="-122"/>
                <a:cs typeface="Trebuchet MS" pitchFamily="34" charset="-120"/>
              </a:rPr>
              <a:t>Why Are Most Hypotheses Non-Significant?</a:t>
            </a:r>
            <a:endParaRPr lang="en-US" sz="2800" dirty="0"/>
          </a:p>
        </p:txBody>
      </p:sp>
      <p:sp>
        <p:nvSpPr>
          <p:cNvPr id="5" name="Shape 3"/>
          <p:cNvSpPr/>
          <p:nvPr/>
        </p:nvSpPr>
        <p:spPr>
          <a:xfrm>
            <a:off x="365760" y="1298448"/>
            <a:ext cx="8412480" cy="0"/>
          </a:xfrm>
          <a:prstGeom prst="line">
            <a:avLst/>
          </a:prstGeom>
          <a:noFill/>
          <a:ln w="12700">
            <a:solidFill>
              <a:srgbClr val="E5E7EB"/>
            </a:solidFill>
            <a:prstDash val="solid"/>
          </a:ln>
        </p:spPr>
        <p:txBody>
          <a:bodyPr/>
          <a:lstStyle/>
          <a:p>
            <a:endParaRPr lang="en-US"/>
          </a:p>
        </p:txBody>
      </p:sp>
      <p:sp>
        <p:nvSpPr>
          <p:cNvPr id="6" name="Shape 4"/>
          <p:cNvSpPr/>
          <p:nvPr/>
        </p:nvSpPr>
        <p:spPr>
          <a:xfrm>
            <a:off x="0" y="4800600"/>
            <a:ext cx="9144000" cy="347472"/>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365760" y="4809744"/>
            <a:ext cx="7315200" cy="274320"/>
          </a:xfrm>
          <a:prstGeom prst="rect">
            <a:avLst/>
          </a:prstGeom>
          <a:noFill/>
          <a:ln/>
        </p:spPr>
        <p:txBody>
          <a:bodyPr wrap="square" rtlCol="0" anchor="ctr"/>
          <a:lstStyle/>
          <a:p>
            <a:pPr marL="0" indent="0">
              <a:buNone/>
            </a:pPr>
            <a:endParaRPr lang="en-US" sz="900" dirty="0"/>
          </a:p>
        </p:txBody>
      </p:sp>
      <p:sp>
        <p:nvSpPr>
          <p:cNvPr id="8" name="Text 6"/>
          <p:cNvSpPr/>
          <p:nvPr/>
        </p:nvSpPr>
        <p:spPr>
          <a:xfrm>
            <a:off x="4572000" y="4809744"/>
            <a:ext cx="4389120" cy="274320"/>
          </a:xfrm>
          <a:prstGeom prst="rect">
            <a:avLst/>
          </a:prstGeom>
          <a:noFill/>
          <a:ln/>
        </p:spPr>
        <p:txBody>
          <a:bodyPr wrap="square" rtlCol="0" anchor="ctr"/>
          <a:lstStyle/>
          <a:p>
            <a:pPr marL="0" indent="0" algn="r">
              <a:buNone/>
            </a:pPr>
            <a:endParaRPr lang="en-US" sz="900" dirty="0"/>
          </a:p>
        </p:txBody>
      </p:sp>
      <p:sp>
        <p:nvSpPr>
          <p:cNvPr id="9" name="Text 7"/>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AAAAAA"/>
                </a:solidFill>
              </a:rPr>
              <a:t>22 / 25</a:t>
            </a:r>
            <a:endParaRPr lang="en-US" sz="900" dirty="0"/>
          </a:p>
        </p:txBody>
      </p:sp>
      <p:sp>
        <p:nvSpPr>
          <p:cNvPr id="10" name="Text 8"/>
          <p:cNvSpPr/>
          <p:nvPr/>
        </p:nvSpPr>
        <p:spPr>
          <a:xfrm>
            <a:off x="365760" y="1389888"/>
            <a:ext cx="8412480" cy="347472"/>
          </a:xfrm>
          <a:prstGeom prst="rect">
            <a:avLst/>
          </a:prstGeom>
          <a:noFill/>
          <a:ln/>
        </p:spPr>
        <p:txBody>
          <a:bodyPr wrap="square" rtlCol="0" anchor="ctr"/>
          <a:lstStyle/>
          <a:p>
            <a:pPr marL="0" indent="0">
              <a:buNone/>
            </a:pPr>
            <a:r>
              <a:rPr lang="en-US" sz="1200" i="1" dirty="0">
                <a:solidFill>
                  <a:srgbClr val="374151"/>
                </a:solidFill>
                <a:latin typeface="Calibri" pitchFamily="34" charset="0"/>
                <a:ea typeface="Calibri" pitchFamily="34" charset="-122"/>
                <a:cs typeface="Calibri" pitchFamily="34" charset="-120"/>
              </a:rPr>
              <a:t>Non-significance reflects statistical power, not absence of effect. 7 of 8 hypotheses point in the correct direction.</a:t>
            </a:r>
            <a:endParaRPr lang="en-US" sz="1200" dirty="0"/>
          </a:p>
        </p:txBody>
      </p:sp>
      <p:graphicFrame>
        <p:nvGraphicFramePr>
          <p:cNvPr id="11" name="Chart 0"/>
          <p:cNvGraphicFramePr/>
          <p:nvPr/>
        </p:nvGraphicFramePr>
        <p:xfrm>
          <a:off x="365760" y="1828800"/>
          <a:ext cx="502920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12" name="Shape 9"/>
          <p:cNvSpPr/>
          <p:nvPr/>
        </p:nvSpPr>
        <p:spPr>
          <a:xfrm>
            <a:off x="5577840" y="1828800"/>
            <a:ext cx="3291840" cy="640080"/>
          </a:xfrm>
          <a:prstGeom prst="rect">
            <a:avLst/>
          </a:prstGeom>
          <a:solidFill>
            <a:srgbClr val="E6F4EA"/>
          </a:solidFill>
          <a:ln w="25400">
            <a:solidFill>
              <a:srgbClr val="059669"/>
            </a:solidFill>
            <a:prstDash val="solid"/>
          </a:ln>
        </p:spPr>
        <p:txBody>
          <a:bodyPr/>
          <a:lstStyle/>
          <a:p>
            <a:endParaRPr lang="en-US"/>
          </a:p>
        </p:txBody>
      </p:sp>
      <p:sp>
        <p:nvSpPr>
          <p:cNvPr id="13" name="Text 10"/>
          <p:cNvSpPr/>
          <p:nvPr/>
        </p:nvSpPr>
        <p:spPr>
          <a:xfrm>
            <a:off x="5669280" y="1865376"/>
            <a:ext cx="3108960" cy="237744"/>
          </a:xfrm>
          <a:prstGeom prst="rect">
            <a:avLst/>
          </a:prstGeom>
          <a:noFill/>
          <a:ln/>
        </p:spPr>
        <p:txBody>
          <a:bodyPr wrap="square" rtlCol="0" anchor="ctr"/>
          <a:lstStyle/>
          <a:p>
            <a:pPr marL="0" indent="0">
              <a:buNone/>
            </a:pPr>
            <a:r>
              <a:rPr lang="en-US" sz="1050" b="1" dirty="0">
                <a:solidFill>
                  <a:srgbClr val="059669"/>
                </a:solidFill>
                <a:latin typeface="Trebuchet MS" pitchFamily="34" charset="0"/>
                <a:ea typeface="Trebuchet MS" pitchFamily="34" charset="-122"/>
                <a:cs typeface="Trebuchet MS" pitchFamily="34" charset="-120"/>
              </a:rPr>
              <a:t>H8 — Confirmed ✅</a:t>
            </a:r>
            <a:endParaRPr lang="en-US" sz="1050" dirty="0"/>
          </a:p>
        </p:txBody>
      </p:sp>
      <p:sp>
        <p:nvSpPr>
          <p:cNvPr id="14" name="Text 11"/>
          <p:cNvSpPr/>
          <p:nvPr/>
        </p:nvSpPr>
        <p:spPr>
          <a:xfrm>
            <a:off x="5669280" y="2103120"/>
            <a:ext cx="3108960" cy="347472"/>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Needs n=31 · We have n=50</a:t>
            </a:r>
            <a:endParaRPr lang="en-US" sz="950" dirty="0"/>
          </a:p>
          <a:p>
            <a:pPr marL="0" indent="0">
              <a:buNone/>
            </a:pPr>
            <a:r>
              <a:rPr lang="en-US" sz="950" dirty="0">
                <a:solidFill>
                  <a:srgbClr val="374151"/>
                </a:solidFill>
                <a:latin typeface="Calibri" pitchFamily="34" charset="0"/>
                <a:ea typeface="Calibri" pitchFamily="34" charset="-122"/>
                <a:cs typeface="Calibri" pitchFamily="34" charset="-120"/>
              </a:rPr>
              <a:t>Sufficient power — correctly detected (p=0.021)</a:t>
            </a:r>
            <a:endParaRPr lang="en-US" sz="950" dirty="0"/>
          </a:p>
        </p:txBody>
      </p:sp>
      <p:sp>
        <p:nvSpPr>
          <p:cNvPr id="15" name="Shape 12"/>
          <p:cNvSpPr/>
          <p:nvPr/>
        </p:nvSpPr>
        <p:spPr>
          <a:xfrm>
            <a:off x="5577840" y="2551176"/>
            <a:ext cx="3291840" cy="640080"/>
          </a:xfrm>
          <a:prstGeom prst="rect">
            <a:avLst/>
          </a:prstGeom>
          <a:solidFill>
            <a:srgbClr val="FEF9E7"/>
          </a:solidFill>
          <a:ln w="12700">
            <a:solidFill>
              <a:srgbClr val="D97706"/>
            </a:solidFill>
            <a:prstDash val="solid"/>
          </a:ln>
        </p:spPr>
        <p:txBody>
          <a:bodyPr/>
          <a:lstStyle/>
          <a:p>
            <a:endParaRPr lang="en-US"/>
          </a:p>
        </p:txBody>
      </p:sp>
      <p:sp>
        <p:nvSpPr>
          <p:cNvPr id="16" name="Text 13"/>
          <p:cNvSpPr/>
          <p:nvPr/>
        </p:nvSpPr>
        <p:spPr>
          <a:xfrm>
            <a:off x="5669280" y="2587752"/>
            <a:ext cx="3108960" cy="237744"/>
          </a:xfrm>
          <a:prstGeom prst="rect">
            <a:avLst/>
          </a:prstGeom>
          <a:noFill/>
          <a:ln/>
        </p:spPr>
        <p:txBody>
          <a:bodyPr wrap="square" rtlCol="0" anchor="ctr"/>
          <a:lstStyle/>
          <a:p>
            <a:pPr marL="0" indent="0">
              <a:buNone/>
            </a:pPr>
            <a:r>
              <a:rPr lang="en-US" sz="1050" b="1" dirty="0">
                <a:solidFill>
                  <a:srgbClr val="D97706"/>
                </a:solidFill>
                <a:latin typeface="Trebuchet MS" pitchFamily="34" charset="0"/>
                <a:ea typeface="Trebuchet MS" pitchFamily="34" charset="-122"/>
                <a:cs typeface="Trebuchet MS" pitchFamily="34" charset="-120"/>
              </a:rPr>
              <a:t>H6 — Underpowered</a:t>
            </a:r>
            <a:endParaRPr lang="en-US" sz="1050" dirty="0"/>
          </a:p>
        </p:txBody>
      </p:sp>
      <p:sp>
        <p:nvSpPr>
          <p:cNvPr id="17" name="Text 14"/>
          <p:cNvSpPr/>
          <p:nvPr/>
        </p:nvSpPr>
        <p:spPr>
          <a:xfrm>
            <a:off x="5669280" y="2825496"/>
            <a:ext cx="3108960" cy="347472"/>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Needs n=117 · We have n=50</a:t>
            </a:r>
            <a:endParaRPr lang="en-US" sz="950" dirty="0"/>
          </a:p>
          <a:p>
            <a:pPr marL="0" indent="0">
              <a:buNone/>
            </a:pPr>
            <a:r>
              <a:rPr lang="en-US" sz="950" dirty="0">
                <a:solidFill>
                  <a:srgbClr val="374151"/>
                </a:solidFill>
                <a:latin typeface="Calibri" pitchFamily="34" charset="0"/>
                <a:ea typeface="Calibri" pitchFamily="34" charset="-122"/>
                <a:cs typeface="Calibri" pitchFamily="34" charset="-120"/>
              </a:rPr>
              <a:t>At 43% power — marginal result (p=0.084)</a:t>
            </a:r>
            <a:endParaRPr lang="en-US" sz="950" dirty="0"/>
          </a:p>
        </p:txBody>
      </p:sp>
      <p:sp>
        <p:nvSpPr>
          <p:cNvPr id="18" name="Shape 15"/>
          <p:cNvSpPr/>
          <p:nvPr/>
        </p:nvSpPr>
        <p:spPr>
          <a:xfrm>
            <a:off x="5577840" y="3273552"/>
            <a:ext cx="3291840" cy="640080"/>
          </a:xfrm>
          <a:prstGeom prst="rect">
            <a:avLst/>
          </a:prstGeom>
          <a:solidFill>
            <a:srgbClr val="FEF9E7"/>
          </a:solidFill>
          <a:ln w="12700">
            <a:solidFill>
              <a:srgbClr val="D97706"/>
            </a:solidFill>
            <a:prstDash val="solid"/>
          </a:ln>
        </p:spPr>
        <p:txBody>
          <a:bodyPr/>
          <a:lstStyle/>
          <a:p>
            <a:endParaRPr lang="en-US"/>
          </a:p>
        </p:txBody>
      </p:sp>
      <p:sp>
        <p:nvSpPr>
          <p:cNvPr id="19" name="Text 16"/>
          <p:cNvSpPr/>
          <p:nvPr/>
        </p:nvSpPr>
        <p:spPr>
          <a:xfrm>
            <a:off x="5669280" y="3310128"/>
            <a:ext cx="3108960" cy="237744"/>
          </a:xfrm>
          <a:prstGeom prst="rect">
            <a:avLst/>
          </a:prstGeom>
          <a:noFill/>
          <a:ln/>
        </p:spPr>
        <p:txBody>
          <a:bodyPr wrap="square" rtlCol="0" anchor="ctr"/>
          <a:lstStyle/>
          <a:p>
            <a:pPr marL="0" indent="0">
              <a:buNone/>
            </a:pPr>
            <a:r>
              <a:rPr lang="en-US" sz="1050" b="1" dirty="0">
                <a:solidFill>
                  <a:srgbClr val="D97706"/>
                </a:solidFill>
                <a:latin typeface="Trebuchet MS" pitchFamily="34" charset="0"/>
                <a:ea typeface="Trebuchet MS" pitchFamily="34" charset="-122"/>
                <a:cs typeface="Trebuchet MS" pitchFamily="34" charset="-120"/>
              </a:rPr>
              <a:t>H3 — Underpowered</a:t>
            </a:r>
            <a:endParaRPr lang="en-US" sz="1050" dirty="0"/>
          </a:p>
        </p:txBody>
      </p:sp>
      <p:sp>
        <p:nvSpPr>
          <p:cNvPr id="20" name="Text 17"/>
          <p:cNvSpPr/>
          <p:nvPr/>
        </p:nvSpPr>
        <p:spPr>
          <a:xfrm>
            <a:off x="5669280" y="3547872"/>
            <a:ext cx="3108960" cy="347472"/>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Needs n=196 · We have n=50</a:t>
            </a:r>
            <a:endParaRPr lang="en-US" sz="950" dirty="0"/>
          </a:p>
          <a:p>
            <a:pPr marL="0" indent="0">
              <a:buNone/>
            </a:pPr>
            <a:r>
              <a:rPr lang="en-US" sz="950" dirty="0">
                <a:solidFill>
                  <a:srgbClr val="374151"/>
                </a:solidFill>
                <a:latin typeface="Calibri" pitchFamily="34" charset="0"/>
                <a:ea typeface="Calibri" pitchFamily="34" charset="-122"/>
                <a:cs typeface="Calibri" pitchFamily="34" charset="-120"/>
              </a:rPr>
              <a:t>At 25% power — trend only (p=0.051)</a:t>
            </a:r>
            <a:endParaRPr lang="en-US" sz="950" dirty="0"/>
          </a:p>
        </p:txBody>
      </p:sp>
      <p:sp>
        <p:nvSpPr>
          <p:cNvPr id="21" name="Shape 18"/>
          <p:cNvSpPr/>
          <p:nvPr/>
        </p:nvSpPr>
        <p:spPr>
          <a:xfrm>
            <a:off x="5577840" y="3995928"/>
            <a:ext cx="3291840" cy="640080"/>
          </a:xfrm>
          <a:prstGeom prst="rect">
            <a:avLst/>
          </a:prstGeom>
          <a:solidFill>
            <a:srgbClr val="F3F4F6"/>
          </a:solidFill>
          <a:ln w="12700">
            <a:solidFill>
              <a:srgbClr val="6B7280"/>
            </a:solidFill>
            <a:prstDash val="solid"/>
          </a:ln>
        </p:spPr>
        <p:txBody>
          <a:bodyPr/>
          <a:lstStyle/>
          <a:p>
            <a:endParaRPr lang="en-US"/>
          </a:p>
        </p:txBody>
      </p:sp>
      <p:sp>
        <p:nvSpPr>
          <p:cNvPr id="22" name="Text 19"/>
          <p:cNvSpPr/>
          <p:nvPr/>
        </p:nvSpPr>
        <p:spPr>
          <a:xfrm>
            <a:off x="5669280" y="4032504"/>
            <a:ext cx="3108960" cy="237744"/>
          </a:xfrm>
          <a:prstGeom prst="rect">
            <a:avLst/>
          </a:prstGeom>
          <a:noFill/>
          <a:ln/>
        </p:spPr>
        <p:txBody>
          <a:bodyPr wrap="square" rtlCol="0" anchor="ctr"/>
          <a:lstStyle/>
          <a:p>
            <a:pPr marL="0" indent="0">
              <a:buNone/>
            </a:pPr>
            <a:r>
              <a:rPr lang="en-US" sz="1050" b="1" dirty="0">
                <a:solidFill>
                  <a:srgbClr val="6B7280"/>
                </a:solidFill>
                <a:latin typeface="Trebuchet MS" pitchFamily="34" charset="0"/>
                <a:ea typeface="Trebuchet MS" pitchFamily="34" charset="-122"/>
                <a:cs typeface="Trebuchet MS" pitchFamily="34" charset="-120"/>
              </a:rPr>
              <a:t>H1 — Negligible</a:t>
            </a:r>
            <a:endParaRPr lang="en-US" sz="1050" dirty="0"/>
          </a:p>
        </p:txBody>
      </p:sp>
      <p:sp>
        <p:nvSpPr>
          <p:cNvPr id="23" name="Text 20"/>
          <p:cNvSpPr/>
          <p:nvPr/>
        </p:nvSpPr>
        <p:spPr>
          <a:xfrm>
            <a:off x="5669280" y="4270248"/>
            <a:ext cx="3108960" cy="347472"/>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Needs n=2,792 · Effect r=−0.053</a:t>
            </a:r>
            <a:endParaRPr lang="en-US" sz="950" dirty="0"/>
          </a:p>
          <a:p>
            <a:pPr marL="0" indent="0">
              <a:buNone/>
            </a:pPr>
            <a:r>
              <a:rPr lang="en-US" sz="950" dirty="0">
                <a:solidFill>
                  <a:srgbClr val="374151"/>
                </a:solidFill>
                <a:latin typeface="Calibri" pitchFamily="34" charset="0"/>
                <a:ea typeface="Calibri" pitchFamily="34" charset="-122"/>
                <a:cs typeface="Calibri" pitchFamily="34" charset="-120"/>
              </a:rPr>
              <a:t>Effect genuinely too small to matter</a:t>
            </a:r>
            <a:endParaRPr lang="en-US" sz="950" dirty="0"/>
          </a:p>
        </p:txBody>
      </p:sp>
      <p:sp>
        <p:nvSpPr>
          <p:cNvPr id="24" name="Text 21"/>
          <p:cNvSpPr/>
          <p:nvPr/>
        </p:nvSpPr>
        <p:spPr>
          <a:xfrm>
            <a:off x="365760" y="4663440"/>
            <a:ext cx="8412480" cy="256032"/>
          </a:xfrm>
          <a:prstGeom prst="rect">
            <a:avLst/>
          </a:prstGeom>
          <a:noFill/>
          <a:ln/>
        </p:spPr>
        <p:txBody>
          <a:bodyPr wrap="square" rtlCol="0" anchor="ctr"/>
          <a:lstStyle/>
          <a:p>
            <a:pPr marL="0" indent="0">
              <a:buNone/>
            </a:pPr>
            <a:r>
              <a:rPr lang="en-US" sz="1050" b="1" i="1" dirty="0">
                <a:solidFill>
                  <a:srgbClr val="059669"/>
                </a:solidFill>
                <a:latin typeface="Calibri" pitchFamily="34" charset="0"/>
                <a:ea typeface="Calibri" pitchFamily="34" charset="-122"/>
                <a:cs typeface="Calibri" pitchFamily="34" charset="-120"/>
              </a:rPr>
              <a:t>Recommendation: Expanding to 200+ drugs would confirm the price-satisfaction relationship at 95% confidence</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365760" y="201168"/>
            <a:ext cx="2377440" cy="256032"/>
          </a:xfrm>
          <a:prstGeom prst="rect">
            <a:avLst/>
          </a:prstGeom>
          <a:solidFill>
            <a:srgbClr val="059669"/>
          </a:solidFill>
          <a:ln w="12700">
            <a:solidFill>
              <a:srgbClr val="059669"/>
            </a:solidFill>
            <a:prstDash val="solid"/>
          </a:ln>
        </p:spPr>
        <p:txBody>
          <a:bodyPr/>
          <a:lstStyle/>
          <a:p>
            <a:endParaRPr lang="en-US"/>
          </a:p>
        </p:txBody>
      </p:sp>
      <p:sp>
        <p:nvSpPr>
          <p:cNvPr id="3" name="Text 1"/>
          <p:cNvSpPr/>
          <p:nvPr/>
        </p:nvSpPr>
        <p:spPr>
          <a:xfrm>
            <a:off x="365760" y="201168"/>
            <a:ext cx="2377440"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rPr>
              <a:t>KEY FINDINGS</a:t>
            </a:r>
            <a:endParaRPr lang="en-US" sz="800" dirty="0"/>
          </a:p>
        </p:txBody>
      </p:sp>
      <p:sp>
        <p:nvSpPr>
          <p:cNvPr id="4" name="Text 2"/>
          <p:cNvSpPr/>
          <p:nvPr/>
        </p:nvSpPr>
        <p:spPr>
          <a:xfrm>
            <a:off x="365760" y="566928"/>
            <a:ext cx="8412480" cy="640080"/>
          </a:xfrm>
          <a:prstGeom prst="rect">
            <a:avLst/>
          </a:prstGeom>
          <a:noFill/>
          <a:ln/>
        </p:spPr>
        <p:txBody>
          <a:bodyPr wrap="square" rtlCol="0" anchor="ctr"/>
          <a:lstStyle/>
          <a:p>
            <a:pPr marL="0" indent="0">
              <a:buNone/>
            </a:pPr>
            <a:r>
              <a:rPr lang="en-US" sz="2800" b="1" dirty="0">
                <a:solidFill>
                  <a:srgbClr val="111827"/>
                </a:solidFill>
                <a:latin typeface="Trebuchet MS" pitchFamily="34" charset="0"/>
                <a:ea typeface="Trebuchet MS" pitchFamily="34" charset="-122"/>
                <a:cs typeface="Trebuchet MS" pitchFamily="34" charset="-120"/>
              </a:rPr>
              <a:t>5 Key Findings from the Platform</a:t>
            </a:r>
            <a:endParaRPr lang="en-US" sz="2800" dirty="0"/>
          </a:p>
        </p:txBody>
      </p:sp>
      <p:sp>
        <p:nvSpPr>
          <p:cNvPr id="5" name="Shape 3"/>
          <p:cNvSpPr/>
          <p:nvPr/>
        </p:nvSpPr>
        <p:spPr>
          <a:xfrm>
            <a:off x="365760" y="1298448"/>
            <a:ext cx="8412480" cy="0"/>
          </a:xfrm>
          <a:prstGeom prst="line">
            <a:avLst/>
          </a:prstGeom>
          <a:noFill/>
          <a:ln w="12700">
            <a:solidFill>
              <a:srgbClr val="E5E7EB"/>
            </a:solidFill>
            <a:prstDash val="solid"/>
          </a:ln>
        </p:spPr>
        <p:txBody>
          <a:bodyPr/>
          <a:lstStyle/>
          <a:p>
            <a:endParaRPr lang="en-US"/>
          </a:p>
        </p:txBody>
      </p:sp>
      <p:sp>
        <p:nvSpPr>
          <p:cNvPr id="6" name="Shape 4"/>
          <p:cNvSpPr/>
          <p:nvPr/>
        </p:nvSpPr>
        <p:spPr>
          <a:xfrm>
            <a:off x="0" y="4800600"/>
            <a:ext cx="9144000" cy="347472"/>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365760" y="4809744"/>
            <a:ext cx="7315200" cy="274320"/>
          </a:xfrm>
          <a:prstGeom prst="rect">
            <a:avLst/>
          </a:prstGeom>
          <a:noFill/>
          <a:ln/>
        </p:spPr>
        <p:txBody>
          <a:bodyPr wrap="square" rtlCol="0" anchor="ctr"/>
          <a:lstStyle/>
          <a:p>
            <a:pPr marL="0" indent="0">
              <a:buNone/>
            </a:pPr>
            <a:endParaRPr lang="en-US" sz="900" dirty="0"/>
          </a:p>
        </p:txBody>
      </p:sp>
      <p:sp>
        <p:nvSpPr>
          <p:cNvPr id="8" name="Text 6"/>
          <p:cNvSpPr/>
          <p:nvPr/>
        </p:nvSpPr>
        <p:spPr>
          <a:xfrm>
            <a:off x="4572000" y="4809744"/>
            <a:ext cx="4389120" cy="274320"/>
          </a:xfrm>
          <a:prstGeom prst="rect">
            <a:avLst/>
          </a:prstGeom>
          <a:noFill/>
          <a:ln/>
        </p:spPr>
        <p:txBody>
          <a:bodyPr wrap="square" rtlCol="0" anchor="ctr"/>
          <a:lstStyle/>
          <a:p>
            <a:pPr marL="0" indent="0" algn="r">
              <a:buNone/>
            </a:pPr>
            <a:endParaRPr lang="en-US" sz="900" dirty="0"/>
          </a:p>
        </p:txBody>
      </p:sp>
      <p:sp>
        <p:nvSpPr>
          <p:cNvPr id="9" name="Text 7"/>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AAAAAA"/>
                </a:solidFill>
              </a:rPr>
              <a:t>23 / 25</a:t>
            </a:r>
            <a:endParaRPr lang="en-US" sz="900" dirty="0"/>
          </a:p>
        </p:txBody>
      </p:sp>
      <p:sp>
        <p:nvSpPr>
          <p:cNvPr id="10" name="Shape 8"/>
          <p:cNvSpPr/>
          <p:nvPr/>
        </p:nvSpPr>
        <p:spPr>
          <a:xfrm>
            <a:off x="365760" y="1417320"/>
            <a:ext cx="502920" cy="576072"/>
          </a:xfrm>
          <a:prstGeom prst="rect">
            <a:avLst/>
          </a:prstGeom>
          <a:solidFill>
            <a:srgbClr val="9D1535"/>
          </a:solidFill>
          <a:ln w="12700">
            <a:solidFill>
              <a:srgbClr val="9D1535"/>
            </a:solidFill>
            <a:prstDash val="solid"/>
          </a:ln>
        </p:spPr>
        <p:txBody>
          <a:bodyPr/>
          <a:lstStyle/>
          <a:p>
            <a:endParaRPr lang="en-US"/>
          </a:p>
        </p:txBody>
      </p:sp>
      <p:sp>
        <p:nvSpPr>
          <p:cNvPr id="11" name="Text 9"/>
          <p:cNvSpPr/>
          <p:nvPr/>
        </p:nvSpPr>
        <p:spPr>
          <a:xfrm>
            <a:off x="365760" y="1417320"/>
            <a:ext cx="502920" cy="576072"/>
          </a:xfrm>
          <a:prstGeom prst="rect">
            <a:avLst/>
          </a:prstGeom>
          <a:noFill/>
          <a:ln/>
        </p:spPr>
        <p:txBody>
          <a:bodyPr wrap="square" rtlCol="0" anchor="ctr"/>
          <a:lstStyle/>
          <a:p>
            <a:pPr marL="0" indent="0" algn="ctr">
              <a:buNone/>
            </a:pPr>
            <a:r>
              <a:rPr lang="en-US" sz="2200" b="1" dirty="0">
                <a:solidFill>
                  <a:srgbClr val="FFFFFF"/>
                </a:solidFill>
              </a:rPr>
              <a:t>1</a:t>
            </a:r>
            <a:endParaRPr lang="en-US" sz="2200" dirty="0"/>
          </a:p>
        </p:txBody>
      </p:sp>
      <p:sp>
        <p:nvSpPr>
          <p:cNvPr id="12" name="Shape 10"/>
          <p:cNvSpPr/>
          <p:nvPr/>
        </p:nvSpPr>
        <p:spPr>
          <a:xfrm>
            <a:off x="960120" y="1417320"/>
            <a:ext cx="7818120" cy="576072"/>
          </a:xfrm>
          <a:prstGeom prst="rect">
            <a:avLst/>
          </a:prstGeom>
          <a:solidFill>
            <a:srgbClr val="FFFFFF"/>
          </a:solidFill>
          <a:ln w="12700">
            <a:solidFill>
              <a:srgbClr val="9D1535"/>
            </a:solidFill>
            <a:prstDash val="solid"/>
          </a:ln>
          <a:effectLst>
            <a:outerShdw blurRad="101600" dist="25400" dir="8100000" algn="bl" rotWithShape="0">
              <a:srgbClr val="000000">
                <a:alpha val="10000"/>
              </a:srgbClr>
            </a:outerShdw>
          </a:effectLst>
        </p:spPr>
        <p:txBody>
          <a:bodyPr/>
          <a:lstStyle/>
          <a:p>
            <a:endParaRPr lang="en-US"/>
          </a:p>
        </p:txBody>
      </p:sp>
      <p:sp>
        <p:nvSpPr>
          <p:cNvPr id="13" name="Text 11"/>
          <p:cNvSpPr/>
          <p:nvPr/>
        </p:nvSpPr>
        <p:spPr>
          <a:xfrm>
            <a:off x="1051560" y="1453896"/>
            <a:ext cx="7589520" cy="201168"/>
          </a:xfrm>
          <a:prstGeom prst="rect">
            <a:avLst/>
          </a:prstGeom>
          <a:noFill/>
          <a:ln/>
        </p:spPr>
        <p:txBody>
          <a:bodyPr wrap="square" rtlCol="0" anchor="ctr"/>
          <a:lstStyle/>
          <a:p>
            <a:pPr marL="0" indent="0">
              <a:buNone/>
            </a:pPr>
            <a:r>
              <a:rPr lang="en-US" sz="1100" b="1" dirty="0">
                <a:solidFill>
                  <a:srgbClr val="9D1535"/>
                </a:solidFill>
                <a:latin typeface="Trebuchet MS" pitchFamily="34" charset="0"/>
                <a:ea typeface="Trebuchet MS" pitchFamily="34" charset="-122"/>
                <a:cs typeface="Trebuchet MS" pitchFamily="34" charset="-120"/>
              </a:rPr>
              <a:t>Drug Class &gt; Structural Features</a:t>
            </a:r>
            <a:endParaRPr lang="en-US" sz="1100" dirty="0"/>
          </a:p>
        </p:txBody>
      </p:sp>
      <p:sp>
        <p:nvSpPr>
          <p:cNvPr id="14" name="Text 12"/>
          <p:cNvSpPr/>
          <p:nvPr/>
        </p:nvSpPr>
        <p:spPr>
          <a:xfrm>
            <a:off x="1051560" y="1655064"/>
            <a:ext cx="7589520" cy="301752"/>
          </a:xfrm>
          <a:prstGeom prst="rect">
            <a:avLst/>
          </a:prstGeom>
          <a:noFill/>
          <a:ln/>
        </p:spPr>
        <p:txBody>
          <a:bodyPr wrap="square" rtlCol="0" anchor="ctr"/>
          <a:lstStyle/>
          <a:p>
            <a:pPr marL="0" indent="0">
              <a:buNone/>
            </a:pPr>
            <a:r>
              <a:rPr lang="en-US" sz="1000" dirty="0">
                <a:solidFill>
                  <a:srgbClr val="374151"/>
                </a:solidFill>
                <a:latin typeface="Calibri" pitchFamily="34" charset="0"/>
                <a:ea typeface="Calibri" pitchFamily="34" charset="-122"/>
                <a:cs typeface="Calibri" pitchFamily="34" charset="-120"/>
              </a:rPr>
              <a:t>Adding therapeutic category (27 one-hot classes) improved R² from −0.23 to +0.017. ARB drugs significantly lower satisfaction (r=−0.416, p=0.003). Pharmacological mechanism predicts better than any structural characteristic.</a:t>
            </a:r>
            <a:endParaRPr lang="en-US" sz="1000" dirty="0"/>
          </a:p>
        </p:txBody>
      </p:sp>
      <p:sp>
        <p:nvSpPr>
          <p:cNvPr id="15" name="Shape 13"/>
          <p:cNvSpPr/>
          <p:nvPr/>
        </p:nvSpPr>
        <p:spPr>
          <a:xfrm>
            <a:off x="365760" y="2084832"/>
            <a:ext cx="502920" cy="576072"/>
          </a:xfrm>
          <a:prstGeom prst="rect">
            <a:avLst/>
          </a:prstGeom>
          <a:solidFill>
            <a:srgbClr val="059669"/>
          </a:solidFill>
          <a:ln w="12700">
            <a:solidFill>
              <a:srgbClr val="059669"/>
            </a:solidFill>
            <a:prstDash val="solid"/>
          </a:ln>
        </p:spPr>
        <p:txBody>
          <a:bodyPr/>
          <a:lstStyle/>
          <a:p>
            <a:endParaRPr lang="en-US"/>
          </a:p>
        </p:txBody>
      </p:sp>
      <p:sp>
        <p:nvSpPr>
          <p:cNvPr id="16" name="Text 14"/>
          <p:cNvSpPr/>
          <p:nvPr/>
        </p:nvSpPr>
        <p:spPr>
          <a:xfrm>
            <a:off x="365760" y="2084832"/>
            <a:ext cx="502920" cy="576072"/>
          </a:xfrm>
          <a:prstGeom prst="rect">
            <a:avLst/>
          </a:prstGeom>
          <a:noFill/>
          <a:ln/>
        </p:spPr>
        <p:txBody>
          <a:bodyPr wrap="square" rtlCol="0" anchor="ctr"/>
          <a:lstStyle/>
          <a:p>
            <a:pPr marL="0" indent="0" algn="ctr">
              <a:buNone/>
            </a:pPr>
            <a:r>
              <a:rPr lang="en-US" sz="2200" b="1" dirty="0">
                <a:solidFill>
                  <a:srgbClr val="FFFFFF"/>
                </a:solidFill>
              </a:rPr>
              <a:t>2</a:t>
            </a:r>
            <a:endParaRPr lang="en-US" sz="2200" dirty="0"/>
          </a:p>
        </p:txBody>
      </p:sp>
      <p:sp>
        <p:nvSpPr>
          <p:cNvPr id="17" name="Shape 15"/>
          <p:cNvSpPr/>
          <p:nvPr/>
        </p:nvSpPr>
        <p:spPr>
          <a:xfrm>
            <a:off x="960120" y="2084832"/>
            <a:ext cx="7818120" cy="576072"/>
          </a:xfrm>
          <a:prstGeom prst="rect">
            <a:avLst/>
          </a:prstGeom>
          <a:solidFill>
            <a:srgbClr val="FFFFFF"/>
          </a:solidFill>
          <a:ln w="12700">
            <a:solidFill>
              <a:srgbClr val="059669"/>
            </a:solidFill>
            <a:prstDash val="solid"/>
          </a:ln>
          <a:effectLst>
            <a:outerShdw blurRad="101600" dist="25400" dir="8100000" algn="bl" rotWithShape="0">
              <a:srgbClr val="000000">
                <a:alpha val="10000"/>
              </a:srgbClr>
            </a:outerShdw>
          </a:effectLst>
        </p:spPr>
        <p:txBody>
          <a:bodyPr/>
          <a:lstStyle/>
          <a:p>
            <a:endParaRPr lang="en-US"/>
          </a:p>
        </p:txBody>
      </p:sp>
      <p:sp>
        <p:nvSpPr>
          <p:cNvPr id="18" name="Text 16"/>
          <p:cNvSpPr/>
          <p:nvPr/>
        </p:nvSpPr>
        <p:spPr>
          <a:xfrm>
            <a:off x="1051560" y="2121408"/>
            <a:ext cx="7589520" cy="201168"/>
          </a:xfrm>
          <a:prstGeom prst="rect">
            <a:avLst/>
          </a:prstGeom>
          <a:noFill/>
          <a:ln/>
        </p:spPr>
        <p:txBody>
          <a:bodyPr wrap="square" rtlCol="0" anchor="ctr"/>
          <a:lstStyle/>
          <a:p>
            <a:pPr marL="0" indent="0">
              <a:buNone/>
            </a:pPr>
            <a:r>
              <a:rPr lang="en-US" sz="1100" b="1" dirty="0">
                <a:solidFill>
                  <a:srgbClr val="059669"/>
                </a:solidFill>
                <a:latin typeface="Trebuchet MS" pitchFamily="34" charset="0"/>
                <a:ea typeface="Trebuchet MS" pitchFamily="34" charset="-122"/>
                <a:cs typeface="Trebuchet MS" pitchFamily="34" charset="-120"/>
              </a:rPr>
              <a:t>Sentiment Polarization = Strongest Predictor</a:t>
            </a:r>
            <a:endParaRPr lang="en-US" sz="1100" dirty="0"/>
          </a:p>
        </p:txBody>
      </p:sp>
      <p:sp>
        <p:nvSpPr>
          <p:cNvPr id="19" name="Text 17"/>
          <p:cNvSpPr/>
          <p:nvPr/>
        </p:nvSpPr>
        <p:spPr>
          <a:xfrm>
            <a:off x="1051560" y="2322576"/>
            <a:ext cx="7589520" cy="301752"/>
          </a:xfrm>
          <a:prstGeom prst="rect">
            <a:avLst/>
          </a:prstGeom>
          <a:noFill/>
          <a:ln/>
        </p:spPr>
        <p:txBody>
          <a:bodyPr wrap="square" rtlCol="0" anchor="ctr"/>
          <a:lstStyle/>
          <a:p>
            <a:pPr marL="0" indent="0">
              <a:buNone/>
            </a:pPr>
            <a:r>
              <a:rPr lang="en-US" sz="1000" dirty="0">
                <a:solidFill>
                  <a:srgbClr val="374151"/>
                </a:solidFill>
                <a:latin typeface="Calibri" pitchFamily="34" charset="0"/>
                <a:ea typeface="Calibri" pitchFamily="34" charset="-122"/>
                <a:cs typeface="Calibri" pitchFamily="34" charset="-120"/>
              </a:rPr>
              <a:t>r=+0.485, p=0.021 — confirmed. Counterintuitive: more polarizing drugs have HIGHER average satisfaction. Patients who benefit write intensely positive reviews ('miracle', 'wonder drug') that raise the average.</a:t>
            </a:r>
            <a:endParaRPr lang="en-US" sz="1000" dirty="0"/>
          </a:p>
        </p:txBody>
      </p:sp>
      <p:sp>
        <p:nvSpPr>
          <p:cNvPr id="20" name="Shape 18"/>
          <p:cNvSpPr/>
          <p:nvPr/>
        </p:nvSpPr>
        <p:spPr>
          <a:xfrm>
            <a:off x="365760" y="2752344"/>
            <a:ext cx="502920" cy="576072"/>
          </a:xfrm>
          <a:prstGeom prst="rect">
            <a:avLst/>
          </a:prstGeom>
          <a:solidFill>
            <a:srgbClr val="2563EB"/>
          </a:solidFill>
          <a:ln w="12700">
            <a:solidFill>
              <a:srgbClr val="2563EB"/>
            </a:solidFill>
            <a:prstDash val="solid"/>
          </a:ln>
        </p:spPr>
        <p:txBody>
          <a:bodyPr/>
          <a:lstStyle/>
          <a:p>
            <a:endParaRPr lang="en-US"/>
          </a:p>
        </p:txBody>
      </p:sp>
      <p:sp>
        <p:nvSpPr>
          <p:cNvPr id="21" name="Text 19"/>
          <p:cNvSpPr/>
          <p:nvPr/>
        </p:nvSpPr>
        <p:spPr>
          <a:xfrm>
            <a:off x="365760" y="2752344"/>
            <a:ext cx="502920" cy="576072"/>
          </a:xfrm>
          <a:prstGeom prst="rect">
            <a:avLst/>
          </a:prstGeom>
          <a:noFill/>
          <a:ln/>
        </p:spPr>
        <p:txBody>
          <a:bodyPr wrap="square" rtlCol="0" anchor="ctr"/>
          <a:lstStyle/>
          <a:p>
            <a:pPr marL="0" indent="0" algn="ctr">
              <a:buNone/>
            </a:pPr>
            <a:r>
              <a:rPr lang="en-US" sz="2200" b="1" dirty="0">
                <a:solidFill>
                  <a:srgbClr val="FFFFFF"/>
                </a:solidFill>
              </a:rPr>
              <a:t>3</a:t>
            </a:r>
            <a:endParaRPr lang="en-US" sz="2200" dirty="0"/>
          </a:p>
        </p:txBody>
      </p:sp>
      <p:sp>
        <p:nvSpPr>
          <p:cNvPr id="22" name="Shape 20"/>
          <p:cNvSpPr/>
          <p:nvPr/>
        </p:nvSpPr>
        <p:spPr>
          <a:xfrm>
            <a:off x="960120" y="2752344"/>
            <a:ext cx="7818120" cy="576072"/>
          </a:xfrm>
          <a:prstGeom prst="rect">
            <a:avLst/>
          </a:prstGeom>
          <a:solidFill>
            <a:srgbClr val="FFFFFF"/>
          </a:solidFill>
          <a:ln w="12700">
            <a:solidFill>
              <a:srgbClr val="2563EB"/>
            </a:solidFill>
            <a:prstDash val="solid"/>
          </a:ln>
          <a:effectLst>
            <a:outerShdw blurRad="101600" dist="25400" dir="8100000" algn="bl" rotWithShape="0">
              <a:srgbClr val="000000">
                <a:alpha val="10000"/>
              </a:srgbClr>
            </a:outerShdw>
          </a:effectLst>
        </p:spPr>
        <p:txBody>
          <a:bodyPr/>
          <a:lstStyle/>
          <a:p>
            <a:endParaRPr lang="en-US"/>
          </a:p>
        </p:txBody>
      </p:sp>
      <p:sp>
        <p:nvSpPr>
          <p:cNvPr id="23" name="Text 21"/>
          <p:cNvSpPr/>
          <p:nvPr/>
        </p:nvSpPr>
        <p:spPr>
          <a:xfrm>
            <a:off x="1051560" y="2788920"/>
            <a:ext cx="7589520" cy="201168"/>
          </a:xfrm>
          <a:prstGeom prst="rect">
            <a:avLst/>
          </a:prstGeom>
          <a:noFill/>
          <a:ln/>
        </p:spPr>
        <p:txBody>
          <a:bodyPr wrap="square" rtlCol="0" anchor="ctr"/>
          <a:lstStyle/>
          <a:p>
            <a:pPr marL="0" indent="0">
              <a:buNone/>
            </a:pPr>
            <a:r>
              <a:rPr lang="en-US" sz="1100" b="1" dirty="0">
                <a:solidFill>
                  <a:srgbClr val="2563EB"/>
                </a:solidFill>
                <a:latin typeface="Trebuchet MS" pitchFamily="34" charset="0"/>
                <a:ea typeface="Trebuchet MS" pitchFamily="34" charset="-122"/>
                <a:cs typeface="Trebuchet MS" pitchFamily="34" charset="-120"/>
              </a:rPr>
              <a:t>Substitutability Predicts Shortage Risk</a:t>
            </a:r>
            <a:endParaRPr lang="en-US" sz="1100" dirty="0"/>
          </a:p>
        </p:txBody>
      </p:sp>
      <p:sp>
        <p:nvSpPr>
          <p:cNvPr id="24" name="Text 22"/>
          <p:cNvSpPr/>
          <p:nvPr/>
        </p:nvSpPr>
        <p:spPr>
          <a:xfrm>
            <a:off x="1051560" y="2990088"/>
            <a:ext cx="7589520" cy="301752"/>
          </a:xfrm>
          <a:prstGeom prst="rect">
            <a:avLst/>
          </a:prstGeom>
          <a:noFill/>
          <a:ln/>
        </p:spPr>
        <p:txBody>
          <a:bodyPr wrap="square" rtlCol="0" anchor="ctr"/>
          <a:lstStyle/>
          <a:p>
            <a:pPr marL="0" indent="0">
              <a:buNone/>
            </a:pPr>
            <a:r>
              <a:rPr lang="en-US" sz="1000" dirty="0">
                <a:solidFill>
                  <a:srgbClr val="374151"/>
                </a:solidFill>
                <a:latin typeface="Calibri" pitchFamily="34" charset="0"/>
                <a:ea typeface="Calibri" pitchFamily="34" charset="-122"/>
                <a:cs typeface="Calibri" pitchFamily="34" charset="-120"/>
              </a:rPr>
              <a:t>r=−0.423, p=0.002 — drugs with no therapeutic alternative shortage significantly more. Furosemide, albuterol, insulin — critical drugs with no substitutes — face highest supply risk. Clinically actionable finding.</a:t>
            </a:r>
            <a:endParaRPr lang="en-US" sz="1000" dirty="0"/>
          </a:p>
        </p:txBody>
      </p:sp>
      <p:sp>
        <p:nvSpPr>
          <p:cNvPr id="25" name="Shape 23"/>
          <p:cNvSpPr/>
          <p:nvPr/>
        </p:nvSpPr>
        <p:spPr>
          <a:xfrm>
            <a:off x="365760" y="3419856"/>
            <a:ext cx="502920" cy="576072"/>
          </a:xfrm>
          <a:prstGeom prst="rect">
            <a:avLst/>
          </a:prstGeom>
          <a:solidFill>
            <a:srgbClr val="D97706"/>
          </a:solidFill>
          <a:ln w="12700">
            <a:solidFill>
              <a:srgbClr val="D97706"/>
            </a:solidFill>
            <a:prstDash val="solid"/>
          </a:ln>
        </p:spPr>
        <p:txBody>
          <a:bodyPr/>
          <a:lstStyle/>
          <a:p>
            <a:endParaRPr lang="en-US"/>
          </a:p>
        </p:txBody>
      </p:sp>
      <p:sp>
        <p:nvSpPr>
          <p:cNvPr id="26" name="Text 24"/>
          <p:cNvSpPr/>
          <p:nvPr/>
        </p:nvSpPr>
        <p:spPr>
          <a:xfrm>
            <a:off x="365760" y="3419856"/>
            <a:ext cx="502920" cy="576072"/>
          </a:xfrm>
          <a:prstGeom prst="rect">
            <a:avLst/>
          </a:prstGeom>
          <a:noFill/>
          <a:ln/>
        </p:spPr>
        <p:txBody>
          <a:bodyPr wrap="square" rtlCol="0" anchor="ctr"/>
          <a:lstStyle/>
          <a:p>
            <a:pPr marL="0" indent="0" algn="ctr">
              <a:buNone/>
            </a:pPr>
            <a:r>
              <a:rPr lang="en-US" sz="2200" b="1" dirty="0">
                <a:solidFill>
                  <a:srgbClr val="FFFFFF"/>
                </a:solidFill>
              </a:rPr>
              <a:t>4</a:t>
            </a:r>
            <a:endParaRPr lang="en-US" sz="2200" dirty="0"/>
          </a:p>
        </p:txBody>
      </p:sp>
      <p:sp>
        <p:nvSpPr>
          <p:cNvPr id="27" name="Shape 25"/>
          <p:cNvSpPr/>
          <p:nvPr/>
        </p:nvSpPr>
        <p:spPr>
          <a:xfrm>
            <a:off x="960120" y="3419856"/>
            <a:ext cx="7818120" cy="576072"/>
          </a:xfrm>
          <a:prstGeom prst="rect">
            <a:avLst/>
          </a:prstGeom>
          <a:solidFill>
            <a:srgbClr val="FFFFFF"/>
          </a:solidFill>
          <a:ln w="12700">
            <a:solidFill>
              <a:srgbClr val="D97706"/>
            </a:solidFill>
            <a:prstDash val="solid"/>
          </a:ln>
          <a:effectLst>
            <a:outerShdw blurRad="101600" dist="25400" dir="8100000" algn="bl" rotWithShape="0">
              <a:srgbClr val="000000">
                <a:alpha val="10000"/>
              </a:srgbClr>
            </a:outerShdw>
          </a:effectLst>
        </p:spPr>
        <p:txBody>
          <a:bodyPr/>
          <a:lstStyle/>
          <a:p>
            <a:endParaRPr lang="en-US"/>
          </a:p>
        </p:txBody>
      </p:sp>
      <p:sp>
        <p:nvSpPr>
          <p:cNvPr id="28" name="Text 26"/>
          <p:cNvSpPr/>
          <p:nvPr/>
        </p:nvSpPr>
        <p:spPr>
          <a:xfrm>
            <a:off x="1051560" y="3456432"/>
            <a:ext cx="7589520" cy="201168"/>
          </a:xfrm>
          <a:prstGeom prst="rect">
            <a:avLst/>
          </a:prstGeom>
          <a:noFill/>
          <a:ln/>
        </p:spPr>
        <p:txBody>
          <a:bodyPr wrap="square" rtlCol="0" anchor="ctr"/>
          <a:lstStyle/>
          <a:p>
            <a:pPr marL="0" indent="0">
              <a:buNone/>
            </a:pPr>
            <a:r>
              <a:rPr lang="en-US" sz="1100" b="1" dirty="0">
                <a:solidFill>
                  <a:srgbClr val="D97706"/>
                </a:solidFill>
                <a:latin typeface="Trebuchet MS" pitchFamily="34" charset="0"/>
                <a:ea typeface="Trebuchet MS" pitchFamily="34" charset="-122"/>
                <a:cs typeface="Trebuchet MS" pitchFamily="34" charset="-120"/>
              </a:rPr>
              <a:t>'Shortage' = Most Negative Word in Ratings</a:t>
            </a:r>
            <a:endParaRPr lang="en-US" sz="1100" dirty="0"/>
          </a:p>
        </p:txBody>
      </p:sp>
      <p:sp>
        <p:nvSpPr>
          <p:cNvPr id="29" name="Text 27"/>
          <p:cNvSpPr/>
          <p:nvPr/>
        </p:nvSpPr>
        <p:spPr>
          <a:xfrm>
            <a:off x="1051560" y="3657600"/>
            <a:ext cx="7589520" cy="301752"/>
          </a:xfrm>
          <a:prstGeom prst="rect">
            <a:avLst/>
          </a:prstGeom>
          <a:noFill/>
          <a:ln/>
        </p:spPr>
        <p:txBody>
          <a:bodyPr wrap="square" rtlCol="0" anchor="ctr"/>
          <a:lstStyle/>
          <a:p>
            <a:pPr marL="0" indent="0">
              <a:buNone/>
            </a:pPr>
            <a:r>
              <a:rPr lang="en-US" sz="1000" dirty="0">
                <a:solidFill>
                  <a:srgbClr val="374151"/>
                </a:solidFill>
                <a:latin typeface="Calibri" pitchFamily="34" charset="0"/>
                <a:ea typeface="Calibri" pitchFamily="34" charset="-122"/>
                <a:cs typeface="Calibri" pitchFamily="34" charset="-120"/>
              </a:rPr>
              <a:t>Coefficient = −5.13 in rating prediction — stronger than 'worse', 'horrible', 'useless'. Supply disruption indirectly drives patient dissatisfaction through a pathway that structured shortage data alone cannot detect.</a:t>
            </a:r>
            <a:endParaRPr lang="en-US" sz="1000" dirty="0"/>
          </a:p>
        </p:txBody>
      </p:sp>
      <p:sp>
        <p:nvSpPr>
          <p:cNvPr id="30" name="Shape 28"/>
          <p:cNvSpPr/>
          <p:nvPr/>
        </p:nvSpPr>
        <p:spPr>
          <a:xfrm>
            <a:off x="365760" y="4087368"/>
            <a:ext cx="502920" cy="576072"/>
          </a:xfrm>
          <a:prstGeom prst="rect">
            <a:avLst/>
          </a:prstGeom>
          <a:solidFill>
            <a:srgbClr val="7C3AED"/>
          </a:solidFill>
          <a:ln w="12700">
            <a:solidFill>
              <a:srgbClr val="7C3AED"/>
            </a:solidFill>
            <a:prstDash val="solid"/>
          </a:ln>
        </p:spPr>
        <p:txBody>
          <a:bodyPr/>
          <a:lstStyle/>
          <a:p>
            <a:endParaRPr lang="en-US"/>
          </a:p>
        </p:txBody>
      </p:sp>
      <p:sp>
        <p:nvSpPr>
          <p:cNvPr id="31" name="Text 29"/>
          <p:cNvSpPr/>
          <p:nvPr/>
        </p:nvSpPr>
        <p:spPr>
          <a:xfrm>
            <a:off x="365760" y="4087368"/>
            <a:ext cx="502920" cy="576072"/>
          </a:xfrm>
          <a:prstGeom prst="rect">
            <a:avLst/>
          </a:prstGeom>
          <a:noFill/>
          <a:ln/>
        </p:spPr>
        <p:txBody>
          <a:bodyPr wrap="square" rtlCol="0" anchor="ctr"/>
          <a:lstStyle/>
          <a:p>
            <a:pPr marL="0" indent="0" algn="ctr">
              <a:buNone/>
            </a:pPr>
            <a:r>
              <a:rPr lang="en-US" sz="2200" b="1" dirty="0">
                <a:solidFill>
                  <a:srgbClr val="FFFFFF"/>
                </a:solidFill>
              </a:rPr>
              <a:t>5</a:t>
            </a:r>
            <a:endParaRPr lang="en-US" sz="2200" dirty="0"/>
          </a:p>
        </p:txBody>
      </p:sp>
      <p:sp>
        <p:nvSpPr>
          <p:cNvPr id="32" name="Shape 30"/>
          <p:cNvSpPr/>
          <p:nvPr/>
        </p:nvSpPr>
        <p:spPr>
          <a:xfrm>
            <a:off x="960120" y="4087368"/>
            <a:ext cx="7818120" cy="576072"/>
          </a:xfrm>
          <a:prstGeom prst="rect">
            <a:avLst/>
          </a:prstGeom>
          <a:solidFill>
            <a:srgbClr val="FFFFFF"/>
          </a:solidFill>
          <a:ln w="12700">
            <a:solidFill>
              <a:srgbClr val="7C3AED"/>
            </a:solidFill>
            <a:prstDash val="solid"/>
          </a:ln>
          <a:effectLst>
            <a:outerShdw blurRad="101600" dist="25400" dir="8100000" algn="bl" rotWithShape="0">
              <a:srgbClr val="000000">
                <a:alpha val="10000"/>
              </a:srgbClr>
            </a:outerShdw>
          </a:effectLst>
        </p:spPr>
        <p:txBody>
          <a:bodyPr/>
          <a:lstStyle/>
          <a:p>
            <a:endParaRPr lang="en-US"/>
          </a:p>
        </p:txBody>
      </p:sp>
      <p:sp>
        <p:nvSpPr>
          <p:cNvPr id="33" name="Text 31"/>
          <p:cNvSpPr/>
          <p:nvPr/>
        </p:nvSpPr>
        <p:spPr>
          <a:xfrm>
            <a:off x="1051560" y="4123944"/>
            <a:ext cx="7589520" cy="201168"/>
          </a:xfrm>
          <a:prstGeom prst="rect">
            <a:avLst/>
          </a:prstGeom>
          <a:noFill/>
          <a:ln/>
        </p:spPr>
        <p:txBody>
          <a:bodyPr wrap="square" rtlCol="0" anchor="ctr"/>
          <a:lstStyle/>
          <a:p>
            <a:pPr marL="0" indent="0">
              <a:buNone/>
            </a:pPr>
            <a:r>
              <a:rPr lang="en-US" sz="1100" b="1" dirty="0">
                <a:solidFill>
                  <a:srgbClr val="7C3AED"/>
                </a:solidFill>
                <a:latin typeface="Trebuchet MS" pitchFamily="34" charset="0"/>
                <a:ea typeface="Trebuchet MS" pitchFamily="34" charset="-122"/>
                <a:cs typeface="Trebuchet MS" pitchFamily="34" charset="-120"/>
              </a:rPr>
              <a:t>Common Generics Never Shortage</a:t>
            </a:r>
            <a:endParaRPr lang="en-US" sz="1100" dirty="0"/>
          </a:p>
        </p:txBody>
      </p:sp>
      <p:sp>
        <p:nvSpPr>
          <p:cNvPr id="34" name="Text 32"/>
          <p:cNvSpPr/>
          <p:nvPr/>
        </p:nvSpPr>
        <p:spPr>
          <a:xfrm>
            <a:off x="1051560" y="4325112"/>
            <a:ext cx="7589520" cy="301752"/>
          </a:xfrm>
          <a:prstGeom prst="rect">
            <a:avLst/>
          </a:prstGeom>
          <a:noFill/>
          <a:ln/>
        </p:spPr>
        <p:txBody>
          <a:bodyPr wrap="square" rtlCol="0" anchor="ctr"/>
          <a:lstStyle/>
          <a:p>
            <a:pPr marL="0" indent="0">
              <a:buNone/>
            </a:pPr>
            <a:r>
              <a:rPr lang="en-US" sz="1000" dirty="0">
                <a:solidFill>
                  <a:srgbClr val="374151"/>
                </a:solidFill>
                <a:latin typeface="Calibri" pitchFamily="34" charset="0"/>
                <a:ea typeface="Calibri" pitchFamily="34" charset="-122"/>
                <a:cs typeface="Calibri" pitchFamily="34" charset="-120"/>
              </a:rPr>
              <a:t>30 of 50 target drugs have zero shortage records — metformin, lisinopril, atorvastatin. These have 10-50 manufacturers. If one fails, pharmacies switch. This is valid data, not a gap. The pattern IS the finding.</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365760" y="201168"/>
            <a:ext cx="2377440" cy="256032"/>
          </a:xfrm>
          <a:prstGeom prst="rect">
            <a:avLst/>
          </a:prstGeom>
          <a:solidFill>
            <a:srgbClr val="059669"/>
          </a:solidFill>
          <a:ln w="12700">
            <a:solidFill>
              <a:srgbClr val="059669"/>
            </a:solidFill>
            <a:prstDash val="solid"/>
          </a:ln>
        </p:spPr>
        <p:txBody>
          <a:bodyPr/>
          <a:lstStyle/>
          <a:p>
            <a:endParaRPr lang="en-US"/>
          </a:p>
        </p:txBody>
      </p:sp>
      <p:sp>
        <p:nvSpPr>
          <p:cNvPr id="3" name="Text 1"/>
          <p:cNvSpPr/>
          <p:nvPr/>
        </p:nvSpPr>
        <p:spPr>
          <a:xfrm>
            <a:off x="365760" y="201168"/>
            <a:ext cx="2377440"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rPr>
              <a:t>COMPARISON &amp; FUTURE WORK</a:t>
            </a:r>
            <a:endParaRPr lang="en-US" sz="800" dirty="0"/>
          </a:p>
        </p:txBody>
      </p:sp>
      <p:sp>
        <p:nvSpPr>
          <p:cNvPr id="4" name="Text 2"/>
          <p:cNvSpPr/>
          <p:nvPr/>
        </p:nvSpPr>
        <p:spPr>
          <a:xfrm>
            <a:off x="365760" y="566928"/>
            <a:ext cx="8412480" cy="640080"/>
          </a:xfrm>
          <a:prstGeom prst="rect">
            <a:avLst/>
          </a:prstGeom>
          <a:noFill/>
          <a:ln/>
        </p:spPr>
        <p:txBody>
          <a:bodyPr wrap="square" rtlCol="0" anchor="ctr"/>
          <a:lstStyle/>
          <a:p>
            <a:pPr marL="0" indent="0">
              <a:buNone/>
            </a:pPr>
            <a:r>
              <a:rPr lang="en-US" sz="2800" b="1" dirty="0">
                <a:solidFill>
                  <a:srgbClr val="111827"/>
                </a:solidFill>
                <a:latin typeface="Trebuchet MS" pitchFamily="34" charset="0"/>
                <a:ea typeface="Trebuchet MS" pitchFamily="34" charset="-122"/>
                <a:cs typeface="Trebuchet MS" pitchFamily="34" charset="-120"/>
              </a:rPr>
              <a:t>How We Advance the Field</a:t>
            </a:r>
            <a:endParaRPr lang="en-US" sz="2800" dirty="0"/>
          </a:p>
        </p:txBody>
      </p:sp>
      <p:sp>
        <p:nvSpPr>
          <p:cNvPr id="5" name="Shape 3"/>
          <p:cNvSpPr/>
          <p:nvPr/>
        </p:nvSpPr>
        <p:spPr>
          <a:xfrm>
            <a:off x="365760" y="1298448"/>
            <a:ext cx="8412480" cy="0"/>
          </a:xfrm>
          <a:prstGeom prst="line">
            <a:avLst/>
          </a:prstGeom>
          <a:noFill/>
          <a:ln w="12700">
            <a:solidFill>
              <a:srgbClr val="E5E7EB"/>
            </a:solidFill>
            <a:prstDash val="solid"/>
          </a:ln>
        </p:spPr>
        <p:txBody>
          <a:bodyPr/>
          <a:lstStyle/>
          <a:p>
            <a:endParaRPr lang="en-US"/>
          </a:p>
        </p:txBody>
      </p:sp>
      <p:sp>
        <p:nvSpPr>
          <p:cNvPr id="6" name="Shape 4"/>
          <p:cNvSpPr/>
          <p:nvPr/>
        </p:nvSpPr>
        <p:spPr>
          <a:xfrm>
            <a:off x="0" y="4800600"/>
            <a:ext cx="9144000" cy="347472"/>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365760" y="4809744"/>
            <a:ext cx="7315200" cy="274320"/>
          </a:xfrm>
          <a:prstGeom prst="rect">
            <a:avLst/>
          </a:prstGeom>
          <a:noFill/>
          <a:ln/>
        </p:spPr>
        <p:txBody>
          <a:bodyPr wrap="square" rtlCol="0" anchor="ctr"/>
          <a:lstStyle/>
          <a:p>
            <a:pPr marL="0" indent="0">
              <a:buNone/>
            </a:pPr>
            <a:endParaRPr lang="en-US" sz="900" dirty="0"/>
          </a:p>
        </p:txBody>
      </p:sp>
      <p:sp>
        <p:nvSpPr>
          <p:cNvPr id="8" name="Text 6"/>
          <p:cNvSpPr/>
          <p:nvPr/>
        </p:nvSpPr>
        <p:spPr>
          <a:xfrm>
            <a:off x="4572000" y="4809744"/>
            <a:ext cx="4389120" cy="274320"/>
          </a:xfrm>
          <a:prstGeom prst="rect">
            <a:avLst/>
          </a:prstGeom>
          <a:noFill/>
          <a:ln/>
        </p:spPr>
        <p:txBody>
          <a:bodyPr wrap="square" rtlCol="0" anchor="ctr"/>
          <a:lstStyle/>
          <a:p>
            <a:pPr marL="0" indent="0" algn="r">
              <a:buNone/>
            </a:pPr>
            <a:endParaRPr lang="en-US" sz="900" dirty="0"/>
          </a:p>
        </p:txBody>
      </p:sp>
      <p:sp>
        <p:nvSpPr>
          <p:cNvPr id="9" name="Text 7"/>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AAAAAA"/>
                </a:solidFill>
              </a:rPr>
              <a:t>24 / 25</a:t>
            </a:r>
            <a:endParaRPr lang="en-US" sz="900" dirty="0"/>
          </a:p>
        </p:txBody>
      </p:sp>
      <p:sp>
        <p:nvSpPr>
          <p:cNvPr id="10" name="Shape 8"/>
          <p:cNvSpPr/>
          <p:nvPr/>
        </p:nvSpPr>
        <p:spPr>
          <a:xfrm>
            <a:off x="365760" y="1499616"/>
            <a:ext cx="5029200" cy="1188720"/>
          </a:xfrm>
          <a:prstGeom prst="rect">
            <a:avLst/>
          </a:prstGeom>
          <a:solidFill>
            <a:srgbClr val="F7EEF1"/>
          </a:solidFill>
          <a:ln w="19050">
            <a:solidFill>
              <a:srgbClr val="9D1535"/>
            </a:solidFill>
            <a:prstDash val="solid"/>
          </a:ln>
          <a:effectLst>
            <a:outerShdw blurRad="101600" dist="25400" dir="8100000" algn="bl" rotWithShape="0">
              <a:srgbClr val="000000">
                <a:alpha val="10000"/>
              </a:srgbClr>
            </a:outerShdw>
          </a:effectLst>
        </p:spPr>
        <p:txBody>
          <a:bodyPr/>
          <a:lstStyle/>
          <a:p>
            <a:endParaRPr lang="en-US"/>
          </a:p>
        </p:txBody>
      </p:sp>
      <p:sp>
        <p:nvSpPr>
          <p:cNvPr id="11" name="Text 9"/>
          <p:cNvSpPr/>
          <p:nvPr/>
        </p:nvSpPr>
        <p:spPr>
          <a:xfrm>
            <a:off x="548640" y="1481328"/>
            <a:ext cx="4572000" cy="274320"/>
          </a:xfrm>
          <a:prstGeom prst="rect">
            <a:avLst/>
          </a:prstGeom>
          <a:noFill/>
          <a:ln/>
        </p:spPr>
        <p:txBody>
          <a:bodyPr wrap="square" rtlCol="0" anchor="ctr"/>
          <a:lstStyle/>
          <a:p>
            <a:pPr marL="0" indent="0">
              <a:buNone/>
            </a:pPr>
            <a:r>
              <a:rPr lang="en-US" sz="1300" b="1" dirty="0">
                <a:solidFill>
                  <a:srgbClr val="9D1535"/>
                </a:solidFill>
                <a:latin typeface="Trebuchet MS" pitchFamily="34" charset="0"/>
                <a:ea typeface="Trebuchet MS" pitchFamily="34" charset="-122"/>
                <a:cs typeface="Trebuchet MS" pitchFamily="34" charset="-120"/>
              </a:rPr>
              <a:t>Advancement over Prior Work</a:t>
            </a:r>
            <a:endParaRPr lang="en-US" sz="1300" dirty="0"/>
          </a:p>
        </p:txBody>
      </p:sp>
      <p:sp>
        <p:nvSpPr>
          <p:cNvPr id="12" name="Text 10"/>
          <p:cNvSpPr/>
          <p:nvPr/>
        </p:nvSpPr>
        <p:spPr>
          <a:xfrm>
            <a:off x="548640" y="1828800"/>
            <a:ext cx="4663440" cy="201168"/>
          </a:xfrm>
          <a:prstGeom prst="rect">
            <a:avLst/>
          </a:prstGeom>
          <a:noFill/>
          <a:ln/>
        </p:spPr>
        <p:txBody>
          <a:bodyPr wrap="square" rtlCol="0" anchor="ctr"/>
          <a:lstStyle/>
          <a:p>
            <a:pPr marL="0" indent="0">
              <a:buNone/>
            </a:pPr>
            <a:r>
              <a:rPr lang="en-US" sz="1000" b="1" dirty="0">
                <a:solidFill>
                  <a:srgbClr val="059669"/>
                </a:solidFill>
                <a:latin typeface="Calibri" pitchFamily="34" charset="0"/>
                <a:ea typeface="Calibri" pitchFamily="34" charset="-122"/>
                <a:cs typeface="Calibri" pitchFamily="34" charset="-120"/>
              </a:rPr>
              <a:t>✓  </a:t>
            </a:r>
            <a:r>
              <a:rPr lang="en-US" sz="1000" dirty="0">
                <a:solidFill>
                  <a:srgbClr val="374151"/>
                </a:solidFill>
                <a:latin typeface="Calibri" pitchFamily="34" charset="0"/>
                <a:ea typeface="Calibri" pitchFamily="34" charset="-122"/>
                <a:cs typeface="Calibri" pitchFamily="34" charset="-120"/>
              </a:rPr>
              <a:t>Prior work: single source (reviews only) → Our work: 6 sources, 131,843 records</a:t>
            </a:r>
            <a:endParaRPr lang="en-US" sz="1000" dirty="0"/>
          </a:p>
        </p:txBody>
      </p:sp>
      <p:sp>
        <p:nvSpPr>
          <p:cNvPr id="13" name="Text 11"/>
          <p:cNvSpPr/>
          <p:nvPr/>
        </p:nvSpPr>
        <p:spPr>
          <a:xfrm>
            <a:off x="548640" y="2039112"/>
            <a:ext cx="4663440" cy="201168"/>
          </a:xfrm>
          <a:prstGeom prst="rect">
            <a:avLst/>
          </a:prstGeom>
          <a:noFill/>
          <a:ln/>
        </p:spPr>
        <p:txBody>
          <a:bodyPr wrap="square" rtlCol="0" anchor="ctr"/>
          <a:lstStyle/>
          <a:p>
            <a:pPr marL="0" indent="0">
              <a:buNone/>
            </a:pPr>
            <a:r>
              <a:rPr lang="en-US" sz="1000" b="1" dirty="0">
                <a:solidFill>
                  <a:srgbClr val="059669"/>
                </a:solidFill>
                <a:latin typeface="Calibri" pitchFamily="34" charset="0"/>
                <a:ea typeface="Calibri" pitchFamily="34" charset="-122"/>
                <a:cs typeface="Calibri" pitchFamily="34" charset="-120"/>
              </a:rPr>
              <a:t>✓  </a:t>
            </a:r>
            <a:r>
              <a:rPr lang="en-US" sz="1000" dirty="0">
                <a:solidFill>
                  <a:srgbClr val="374151"/>
                </a:solidFill>
                <a:latin typeface="Calibri" pitchFamily="34" charset="0"/>
                <a:ea typeface="Calibri" pitchFamily="34" charset="-122"/>
                <a:cs typeface="Calibri" pitchFamily="34" charset="-120"/>
              </a:rPr>
              <a:t>Prior work: 1-10 drugs → Our work: 50 drugs systematically chosen</a:t>
            </a:r>
            <a:endParaRPr lang="en-US" sz="1000" dirty="0"/>
          </a:p>
        </p:txBody>
      </p:sp>
      <p:sp>
        <p:nvSpPr>
          <p:cNvPr id="14" name="Text 12"/>
          <p:cNvSpPr/>
          <p:nvPr/>
        </p:nvSpPr>
        <p:spPr>
          <a:xfrm>
            <a:off x="548640" y="2249424"/>
            <a:ext cx="4663440" cy="201168"/>
          </a:xfrm>
          <a:prstGeom prst="rect">
            <a:avLst/>
          </a:prstGeom>
          <a:noFill/>
          <a:ln/>
        </p:spPr>
        <p:txBody>
          <a:bodyPr wrap="square" rtlCol="0" anchor="ctr"/>
          <a:lstStyle/>
          <a:p>
            <a:pPr marL="0" indent="0">
              <a:buNone/>
            </a:pPr>
            <a:r>
              <a:rPr lang="en-US" sz="1000" b="1" dirty="0">
                <a:solidFill>
                  <a:srgbClr val="059669"/>
                </a:solidFill>
                <a:latin typeface="Calibri" pitchFamily="34" charset="0"/>
                <a:ea typeface="Calibri" pitchFamily="34" charset="-122"/>
                <a:cs typeface="Calibri" pitchFamily="34" charset="-120"/>
              </a:rPr>
              <a:t>✓  </a:t>
            </a:r>
            <a:r>
              <a:rPr lang="en-US" sz="1000" dirty="0">
                <a:solidFill>
                  <a:srgbClr val="374151"/>
                </a:solidFill>
                <a:latin typeface="Calibri" pitchFamily="34" charset="0"/>
                <a:ea typeface="Calibri" pitchFamily="34" charset="-122"/>
                <a:cs typeface="Calibri" pitchFamily="34" charset="-120"/>
              </a:rPr>
              <a:t>Prior work: accuracy reported → Our work: hypothesis testing + power analysis</a:t>
            </a:r>
            <a:endParaRPr lang="en-US" sz="1000" dirty="0"/>
          </a:p>
        </p:txBody>
      </p:sp>
      <p:sp>
        <p:nvSpPr>
          <p:cNvPr id="15" name="Text 13"/>
          <p:cNvSpPr/>
          <p:nvPr/>
        </p:nvSpPr>
        <p:spPr>
          <a:xfrm>
            <a:off x="548640" y="2459736"/>
            <a:ext cx="4663440" cy="201168"/>
          </a:xfrm>
          <a:prstGeom prst="rect">
            <a:avLst/>
          </a:prstGeom>
          <a:noFill/>
          <a:ln/>
        </p:spPr>
        <p:txBody>
          <a:bodyPr wrap="square" rtlCol="0" anchor="ctr"/>
          <a:lstStyle/>
          <a:p>
            <a:pPr marL="0" indent="0">
              <a:buNone/>
            </a:pPr>
            <a:r>
              <a:rPr lang="en-US" sz="1000" b="1" dirty="0">
                <a:solidFill>
                  <a:srgbClr val="059669"/>
                </a:solidFill>
                <a:latin typeface="Calibri" pitchFamily="34" charset="0"/>
                <a:ea typeface="Calibri" pitchFamily="34" charset="-122"/>
                <a:cs typeface="Calibri" pitchFamily="34" charset="-120"/>
              </a:rPr>
              <a:t>✓  </a:t>
            </a:r>
            <a:r>
              <a:rPr lang="en-US" sz="1000" dirty="0">
                <a:solidFill>
                  <a:srgbClr val="374151"/>
                </a:solidFill>
                <a:latin typeface="Calibri" pitchFamily="34" charset="0"/>
                <a:ea typeface="Calibri" pitchFamily="34" charset="-122"/>
                <a:cs typeface="Calibri" pitchFamily="34" charset="-120"/>
              </a:rPr>
              <a:t>Prior work: no shortage prediction → Our work: AUC=0.792 with novel features</a:t>
            </a:r>
            <a:endParaRPr lang="en-US" sz="1000" dirty="0"/>
          </a:p>
        </p:txBody>
      </p:sp>
      <p:sp>
        <p:nvSpPr>
          <p:cNvPr id="16" name="Shape 14"/>
          <p:cNvSpPr/>
          <p:nvPr/>
        </p:nvSpPr>
        <p:spPr>
          <a:xfrm>
            <a:off x="365760" y="2788920"/>
            <a:ext cx="4114800" cy="530352"/>
          </a:xfrm>
          <a:prstGeom prst="rect">
            <a:avLst/>
          </a:prstGeom>
          <a:solidFill>
            <a:srgbClr val="FFFFFF"/>
          </a:solidFill>
          <a:ln w="19050">
            <a:solidFill>
              <a:srgbClr val="2563EB"/>
            </a:solidFill>
            <a:prstDash val="solid"/>
          </a:ln>
        </p:spPr>
        <p:txBody>
          <a:bodyPr/>
          <a:lstStyle/>
          <a:p>
            <a:endParaRPr lang="en-US"/>
          </a:p>
        </p:txBody>
      </p:sp>
      <p:sp>
        <p:nvSpPr>
          <p:cNvPr id="17" name="Shape 15"/>
          <p:cNvSpPr/>
          <p:nvPr/>
        </p:nvSpPr>
        <p:spPr>
          <a:xfrm>
            <a:off x="365760" y="2788920"/>
            <a:ext cx="54864" cy="530352"/>
          </a:xfrm>
          <a:prstGeom prst="rect">
            <a:avLst/>
          </a:prstGeom>
          <a:solidFill>
            <a:srgbClr val="2563EB"/>
          </a:solidFill>
          <a:ln w="12700">
            <a:solidFill>
              <a:srgbClr val="2563EB"/>
            </a:solidFill>
            <a:prstDash val="solid"/>
          </a:ln>
        </p:spPr>
        <p:txBody>
          <a:bodyPr/>
          <a:lstStyle/>
          <a:p>
            <a:endParaRPr lang="en-US"/>
          </a:p>
        </p:txBody>
      </p:sp>
      <p:sp>
        <p:nvSpPr>
          <p:cNvPr id="18" name="Text 16"/>
          <p:cNvSpPr/>
          <p:nvPr/>
        </p:nvSpPr>
        <p:spPr>
          <a:xfrm>
            <a:off x="493776" y="2825496"/>
            <a:ext cx="3886200" cy="201168"/>
          </a:xfrm>
          <a:prstGeom prst="rect">
            <a:avLst/>
          </a:prstGeom>
          <a:noFill/>
          <a:ln/>
        </p:spPr>
        <p:txBody>
          <a:bodyPr wrap="square" rtlCol="0" anchor="ctr"/>
          <a:lstStyle/>
          <a:p>
            <a:pPr marL="0" indent="0">
              <a:buNone/>
            </a:pPr>
            <a:r>
              <a:rPr lang="en-US" sz="1050" b="1" dirty="0">
                <a:solidFill>
                  <a:srgbClr val="2563EB"/>
                </a:solidFill>
                <a:latin typeface="Trebuchet MS" pitchFamily="34" charset="0"/>
                <a:ea typeface="Trebuchet MS" pitchFamily="34" charset="-122"/>
                <a:cs typeface="Trebuchet MS" pitchFamily="34" charset="-120"/>
              </a:rPr>
              <a:t>Expand to 200+ drugs</a:t>
            </a:r>
            <a:endParaRPr lang="en-US" sz="1050" dirty="0"/>
          </a:p>
        </p:txBody>
      </p:sp>
      <p:sp>
        <p:nvSpPr>
          <p:cNvPr id="19" name="Text 17"/>
          <p:cNvSpPr/>
          <p:nvPr/>
        </p:nvSpPr>
        <p:spPr>
          <a:xfrm>
            <a:off x="493776" y="3044952"/>
            <a:ext cx="3886200" cy="237744"/>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Confirm H3 (price) and H5 (drug age) at 95% confidence — currently underpowered</a:t>
            </a:r>
            <a:endParaRPr lang="en-US" sz="950" dirty="0"/>
          </a:p>
        </p:txBody>
      </p:sp>
      <p:sp>
        <p:nvSpPr>
          <p:cNvPr id="20" name="Shape 18"/>
          <p:cNvSpPr/>
          <p:nvPr/>
        </p:nvSpPr>
        <p:spPr>
          <a:xfrm>
            <a:off x="4754880" y="2788920"/>
            <a:ext cx="4114800" cy="530352"/>
          </a:xfrm>
          <a:prstGeom prst="rect">
            <a:avLst/>
          </a:prstGeom>
          <a:solidFill>
            <a:srgbClr val="FFFFFF"/>
          </a:solidFill>
          <a:ln w="19050">
            <a:solidFill>
              <a:srgbClr val="059669"/>
            </a:solidFill>
            <a:prstDash val="solid"/>
          </a:ln>
        </p:spPr>
        <p:txBody>
          <a:bodyPr/>
          <a:lstStyle/>
          <a:p>
            <a:endParaRPr lang="en-US"/>
          </a:p>
        </p:txBody>
      </p:sp>
      <p:sp>
        <p:nvSpPr>
          <p:cNvPr id="21" name="Shape 19"/>
          <p:cNvSpPr/>
          <p:nvPr/>
        </p:nvSpPr>
        <p:spPr>
          <a:xfrm>
            <a:off x="4754880" y="2788920"/>
            <a:ext cx="54864" cy="530352"/>
          </a:xfrm>
          <a:prstGeom prst="rect">
            <a:avLst/>
          </a:prstGeom>
          <a:solidFill>
            <a:srgbClr val="059669"/>
          </a:solidFill>
          <a:ln w="12700">
            <a:solidFill>
              <a:srgbClr val="059669"/>
            </a:solidFill>
            <a:prstDash val="solid"/>
          </a:ln>
        </p:spPr>
        <p:txBody>
          <a:bodyPr/>
          <a:lstStyle/>
          <a:p>
            <a:endParaRPr lang="en-US"/>
          </a:p>
        </p:txBody>
      </p:sp>
      <p:sp>
        <p:nvSpPr>
          <p:cNvPr id="22" name="Text 20"/>
          <p:cNvSpPr/>
          <p:nvPr/>
        </p:nvSpPr>
        <p:spPr>
          <a:xfrm>
            <a:off x="4882896" y="2825496"/>
            <a:ext cx="3886200" cy="201168"/>
          </a:xfrm>
          <a:prstGeom prst="rect">
            <a:avLst/>
          </a:prstGeom>
          <a:noFill/>
          <a:ln/>
        </p:spPr>
        <p:txBody>
          <a:bodyPr wrap="square" rtlCol="0" anchor="ctr"/>
          <a:lstStyle/>
          <a:p>
            <a:pPr marL="0" indent="0">
              <a:buNone/>
            </a:pPr>
            <a:r>
              <a:rPr lang="en-US" sz="1050" b="1" dirty="0">
                <a:solidFill>
                  <a:srgbClr val="059669"/>
                </a:solidFill>
                <a:latin typeface="Trebuchet MS" pitchFamily="34" charset="0"/>
                <a:ea typeface="Trebuchet MS" pitchFamily="34" charset="-122"/>
                <a:cs typeface="Trebuchet MS" pitchFamily="34" charset="-120"/>
              </a:rPr>
              <a:t>Patient-level features</a:t>
            </a:r>
            <a:endParaRPr lang="en-US" sz="1050" dirty="0"/>
          </a:p>
        </p:txBody>
      </p:sp>
      <p:sp>
        <p:nvSpPr>
          <p:cNvPr id="23" name="Text 21"/>
          <p:cNvSpPr/>
          <p:nvPr/>
        </p:nvSpPr>
        <p:spPr>
          <a:xfrm>
            <a:off x="4882896" y="3044952"/>
            <a:ext cx="3886200" cy="237744"/>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Add age, comorbidities, polypharmacy from insurance claims — drug-level features have ceiling</a:t>
            </a:r>
            <a:endParaRPr lang="en-US" sz="950" dirty="0"/>
          </a:p>
        </p:txBody>
      </p:sp>
      <p:sp>
        <p:nvSpPr>
          <p:cNvPr id="24" name="Shape 22"/>
          <p:cNvSpPr/>
          <p:nvPr/>
        </p:nvSpPr>
        <p:spPr>
          <a:xfrm>
            <a:off x="365760" y="3410712"/>
            <a:ext cx="4114800" cy="530352"/>
          </a:xfrm>
          <a:prstGeom prst="rect">
            <a:avLst/>
          </a:prstGeom>
          <a:solidFill>
            <a:srgbClr val="FFFFFF"/>
          </a:solidFill>
          <a:ln w="19050">
            <a:solidFill>
              <a:srgbClr val="D97706"/>
            </a:solidFill>
            <a:prstDash val="solid"/>
          </a:ln>
        </p:spPr>
        <p:txBody>
          <a:bodyPr/>
          <a:lstStyle/>
          <a:p>
            <a:endParaRPr lang="en-US"/>
          </a:p>
        </p:txBody>
      </p:sp>
      <p:sp>
        <p:nvSpPr>
          <p:cNvPr id="25" name="Shape 23"/>
          <p:cNvSpPr/>
          <p:nvPr/>
        </p:nvSpPr>
        <p:spPr>
          <a:xfrm>
            <a:off x="365760" y="3410712"/>
            <a:ext cx="54864" cy="530352"/>
          </a:xfrm>
          <a:prstGeom prst="rect">
            <a:avLst/>
          </a:prstGeom>
          <a:solidFill>
            <a:srgbClr val="D97706"/>
          </a:solidFill>
          <a:ln w="12700">
            <a:solidFill>
              <a:srgbClr val="D97706"/>
            </a:solidFill>
            <a:prstDash val="solid"/>
          </a:ln>
        </p:spPr>
        <p:txBody>
          <a:bodyPr/>
          <a:lstStyle/>
          <a:p>
            <a:endParaRPr lang="en-US"/>
          </a:p>
        </p:txBody>
      </p:sp>
      <p:sp>
        <p:nvSpPr>
          <p:cNvPr id="26" name="Text 24"/>
          <p:cNvSpPr/>
          <p:nvPr/>
        </p:nvSpPr>
        <p:spPr>
          <a:xfrm>
            <a:off x="493776" y="3447288"/>
            <a:ext cx="3886200" cy="201168"/>
          </a:xfrm>
          <a:prstGeom prst="rect">
            <a:avLst/>
          </a:prstGeom>
          <a:noFill/>
          <a:ln/>
        </p:spPr>
        <p:txBody>
          <a:bodyPr wrap="square" rtlCol="0" anchor="ctr"/>
          <a:lstStyle/>
          <a:p>
            <a:pPr marL="0" indent="0">
              <a:buNone/>
            </a:pPr>
            <a:r>
              <a:rPr lang="en-US" sz="1050" b="1" dirty="0">
                <a:solidFill>
                  <a:srgbClr val="D97706"/>
                </a:solidFill>
                <a:latin typeface="Trebuchet MS" pitchFamily="34" charset="0"/>
                <a:ea typeface="Trebuchet MS" pitchFamily="34" charset="-122"/>
                <a:cs typeface="Trebuchet MS" pitchFamily="34" charset="-120"/>
              </a:rPr>
              <a:t>Real-time shortage alerts</a:t>
            </a:r>
            <a:endParaRPr lang="en-US" sz="1050" dirty="0"/>
          </a:p>
        </p:txBody>
      </p:sp>
      <p:sp>
        <p:nvSpPr>
          <p:cNvPr id="27" name="Text 25"/>
          <p:cNvSpPr/>
          <p:nvPr/>
        </p:nvSpPr>
        <p:spPr>
          <a:xfrm>
            <a:off x="493776" y="3666744"/>
            <a:ext cx="3886200" cy="237744"/>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Connect to FDA shortage RSS feed — alert when target drugs enter shortage database</a:t>
            </a:r>
            <a:endParaRPr lang="en-US" sz="950" dirty="0"/>
          </a:p>
        </p:txBody>
      </p:sp>
      <p:sp>
        <p:nvSpPr>
          <p:cNvPr id="28" name="Shape 26"/>
          <p:cNvSpPr/>
          <p:nvPr/>
        </p:nvSpPr>
        <p:spPr>
          <a:xfrm>
            <a:off x="4754880" y="3410712"/>
            <a:ext cx="4114800" cy="530352"/>
          </a:xfrm>
          <a:prstGeom prst="rect">
            <a:avLst/>
          </a:prstGeom>
          <a:solidFill>
            <a:srgbClr val="FFFFFF"/>
          </a:solidFill>
          <a:ln w="19050">
            <a:solidFill>
              <a:srgbClr val="7C3AED"/>
            </a:solidFill>
            <a:prstDash val="solid"/>
          </a:ln>
        </p:spPr>
        <p:txBody>
          <a:bodyPr/>
          <a:lstStyle/>
          <a:p>
            <a:endParaRPr lang="en-US"/>
          </a:p>
        </p:txBody>
      </p:sp>
      <p:sp>
        <p:nvSpPr>
          <p:cNvPr id="29" name="Shape 27"/>
          <p:cNvSpPr/>
          <p:nvPr/>
        </p:nvSpPr>
        <p:spPr>
          <a:xfrm>
            <a:off x="4754880" y="3410712"/>
            <a:ext cx="54864" cy="530352"/>
          </a:xfrm>
          <a:prstGeom prst="rect">
            <a:avLst/>
          </a:prstGeom>
          <a:solidFill>
            <a:srgbClr val="7C3AED"/>
          </a:solidFill>
          <a:ln w="12700">
            <a:solidFill>
              <a:srgbClr val="7C3AED"/>
            </a:solidFill>
            <a:prstDash val="solid"/>
          </a:ln>
        </p:spPr>
        <p:txBody>
          <a:bodyPr/>
          <a:lstStyle/>
          <a:p>
            <a:endParaRPr lang="en-US"/>
          </a:p>
        </p:txBody>
      </p:sp>
      <p:sp>
        <p:nvSpPr>
          <p:cNvPr id="30" name="Text 28"/>
          <p:cNvSpPr/>
          <p:nvPr/>
        </p:nvSpPr>
        <p:spPr>
          <a:xfrm>
            <a:off x="4882896" y="3447288"/>
            <a:ext cx="3886200" cy="201168"/>
          </a:xfrm>
          <a:prstGeom prst="rect">
            <a:avLst/>
          </a:prstGeom>
          <a:noFill/>
          <a:ln/>
        </p:spPr>
        <p:txBody>
          <a:bodyPr wrap="square" rtlCol="0" anchor="ctr"/>
          <a:lstStyle/>
          <a:p>
            <a:pPr marL="0" indent="0">
              <a:buNone/>
            </a:pPr>
            <a:r>
              <a:rPr lang="en-US" sz="1050" b="1" dirty="0">
                <a:solidFill>
                  <a:srgbClr val="7C3AED"/>
                </a:solidFill>
                <a:latin typeface="Trebuchet MS" pitchFamily="34" charset="0"/>
                <a:ea typeface="Trebuchet MS" pitchFamily="34" charset="-122"/>
                <a:cs typeface="Trebuchet MS" pitchFamily="34" charset="-120"/>
              </a:rPr>
              <a:t>National shortage risk index</a:t>
            </a:r>
            <a:endParaRPr lang="en-US" sz="1050" dirty="0"/>
          </a:p>
        </p:txBody>
      </p:sp>
      <p:sp>
        <p:nvSpPr>
          <p:cNvPr id="31" name="Text 29"/>
          <p:cNvSpPr/>
          <p:nvPr/>
        </p:nvSpPr>
        <p:spPr>
          <a:xfrm>
            <a:off x="4882896" y="3666744"/>
            <a:ext cx="3886200" cy="237744"/>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Apply shortage model to full FDA database (1,215 drugs) with substitutability feature</a:t>
            </a:r>
            <a:endParaRPr lang="en-US" sz="950" dirty="0"/>
          </a:p>
        </p:txBody>
      </p:sp>
      <p:sp>
        <p:nvSpPr>
          <p:cNvPr id="32" name="Shape 30"/>
          <p:cNvSpPr/>
          <p:nvPr/>
        </p:nvSpPr>
        <p:spPr>
          <a:xfrm>
            <a:off x="365760" y="4032504"/>
            <a:ext cx="4114800" cy="530352"/>
          </a:xfrm>
          <a:prstGeom prst="rect">
            <a:avLst/>
          </a:prstGeom>
          <a:solidFill>
            <a:srgbClr val="FFFFFF"/>
          </a:solidFill>
          <a:ln w="19050">
            <a:solidFill>
              <a:srgbClr val="0891B2"/>
            </a:solidFill>
            <a:prstDash val="solid"/>
          </a:ln>
        </p:spPr>
        <p:txBody>
          <a:bodyPr/>
          <a:lstStyle/>
          <a:p>
            <a:endParaRPr lang="en-US"/>
          </a:p>
        </p:txBody>
      </p:sp>
      <p:sp>
        <p:nvSpPr>
          <p:cNvPr id="33" name="Shape 31"/>
          <p:cNvSpPr/>
          <p:nvPr/>
        </p:nvSpPr>
        <p:spPr>
          <a:xfrm>
            <a:off x="365760" y="4032504"/>
            <a:ext cx="54864" cy="530352"/>
          </a:xfrm>
          <a:prstGeom prst="rect">
            <a:avLst/>
          </a:prstGeom>
          <a:solidFill>
            <a:srgbClr val="0891B2"/>
          </a:solidFill>
          <a:ln w="12700">
            <a:solidFill>
              <a:srgbClr val="0891B2"/>
            </a:solidFill>
            <a:prstDash val="solid"/>
          </a:ln>
        </p:spPr>
        <p:txBody>
          <a:bodyPr/>
          <a:lstStyle/>
          <a:p>
            <a:endParaRPr lang="en-US"/>
          </a:p>
        </p:txBody>
      </p:sp>
      <p:sp>
        <p:nvSpPr>
          <p:cNvPr id="34" name="Text 32"/>
          <p:cNvSpPr/>
          <p:nvPr/>
        </p:nvSpPr>
        <p:spPr>
          <a:xfrm>
            <a:off x="493776" y="4069080"/>
            <a:ext cx="3886200" cy="201168"/>
          </a:xfrm>
          <a:prstGeom prst="rect">
            <a:avLst/>
          </a:prstGeom>
          <a:noFill/>
          <a:ln/>
        </p:spPr>
        <p:txBody>
          <a:bodyPr wrap="square" rtlCol="0" anchor="ctr"/>
          <a:lstStyle/>
          <a:p>
            <a:pPr marL="0" indent="0">
              <a:buNone/>
            </a:pPr>
            <a:r>
              <a:rPr lang="en-US" sz="1050" b="1" dirty="0">
                <a:solidFill>
                  <a:srgbClr val="0891B2"/>
                </a:solidFill>
                <a:latin typeface="Trebuchet MS" pitchFamily="34" charset="0"/>
                <a:ea typeface="Trebuchet MS" pitchFamily="34" charset="-122"/>
                <a:cs typeface="Trebuchet MS" pitchFamily="34" charset="-120"/>
              </a:rPr>
              <a:t>BERT sentiment</a:t>
            </a:r>
            <a:endParaRPr lang="en-US" sz="1050" dirty="0"/>
          </a:p>
        </p:txBody>
      </p:sp>
      <p:sp>
        <p:nvSpPr>
          <p:cNvPr id="35" name="Text 33"/>
          <p:cNvSpPr/>
          <p:nvPr/>
        </p:nvSpPr>
        <p:spPr>
          <a:xfrm>
            <a:off x="493776" y="4288536"/>
            <a:ext cx="3886200" cy="237744"/>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Replace VADER with fine-tuned BERT to capture long-range context in longer reviews</a:t>
            </a:r>
            <a:endParaRPr lang="en-US" sz="950" dirty="0"/>
          </a:p>
        </p:txBody>
      </p:sp>
      <p:sp>
        <p:nvSpPr>
          <p:cNvPr id="36" name="Shape 34"/>
          <p:cNvSpPr/>
          <p:nvPr/>
        </p:nvSpPr>
        <p:spPr>
          <a:xfrm>
            <a:off x="4754880" y="4032504"/>
            <a:ext cx="4114800" cy="530352"/>
          </a:xfrm>
          <a:prstGeom prst="rect">
            <a:avLst/>
          </a:prstGeom>
          <a:solidFill>
            <a:srgbClr val="FFFFFF"/>
          </a:solidFill>
          <a:ln w="19050">
            <a:solidFill>
              <a:srgbClr val="9D1535"/>
            </a:solidFill>
            <a:prstDash val="solid"/>
          </a:ln>
        </p:spPr>
        <p:txBody>
          <a:bodyPr/>
          <a:lstStyle/>
          <a:p>
            <a:endParaRPr lang="en-US"/>
          </a:p>
        </p:txBody>
      </p:sp>
      <p:sp>
        <p:nvSpPr>
          <p:cNvPr id="37" name="Shape 35"/>
          <p:cNvSpPr/>
          <p:nvPr/>
        </p:nvSpPr>
        <p:spPr>
          <a:xfrm>
            <a:off x="4754880" y="4032504"/>
            <a:ext cx="54864" cy="530352"/>
          </a:xfrm>
          <a:prstGeom prst="rect">
            <a:avLst/>
          </a:prstGeom>
          <a:solidFill>
            <a:srgbClr val="9D1535"/>
          </a:solidFill>
          <a:ln w="12700">
            <a:solidFill>
              <a:srgbClr val="9D1535"/>
            </a:solidFill>
            <a:prstDash val="solid"/>
          </a:ln>
        </p:spPr>
        <p:txBody>
          <a:bodyPr/>
          <a:lstStyle/>
          <a:p>
            <a:endParaRPr lang="en-US"/>
          </a:p>
        </p:txBody>
      </p:sp>
      <p:sp>
        <p:nvSpPr>
          <p:cNvPr id="38" name="Text 36"/>
          <p:cNvSpPr/>
          <p:nvPr/>
        </p:nvSpPr>
        <p:spPr>
          <a:xfrm>
            <a:off x="4882896" y="4069080"/>
            <a:ext cx="3886200" cy="201168"/>
          </a:xfrm>
          <a:prstGeom prst="rect">
            <a:avLst/>
          </a:prstGeom>
          <a:noFill/>
          <a:ln/>
        </p:spPr>
        <p:txBody>
          <a:bodyPr wrap="square" rtlCol="0" anchor="ctr"/>
          <a:lstStyle/>
          <a:p>
            <a:pPr marL="0" indent="0">
              <a:buNone/>
            </a:pPr>
            <a:r>
              <a:rPr lang="en-US" sz="1050" b="1" dirty="0">
                <a:solidFill>
                  <a:srgbClr val="9D1535"/>
                </a:solidFill>
                <a:latin typeface="Trebuchet MS" pitchFamily="34" charset="0"/>
                <a:ea typeface="Trebuchet MS" pitchFamily="34" charset="-122"/>
                <a:cs typeface="Trebuchet MS" pitchFamily="34" charset="-120"/>
              </a:rPr>
              <a:t>Web application</a:t>
            </a:r>
            <a:endParaRPr lang="en-US" sz="1050" dirty="0"/>
          </a:p>
        </p:txBody>
      </p:sp>
      <p:sp>
        <p:nvSpPr>
          <p:cNvPr id="39" name="Text 37"/>
          <p:cNvSpPr/>
          <p:nvPr/>
        </p:nvSpPr>
        <p:spPr>
          <a:xfrm>
            <a:off x="4882896" y="4288536"/>
            <a:ext cx="3886200" cy="237744"/>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Deploy as public tool for hospital pharmacists to assess formulary supply risk</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7A1028"/>
        </a:solidFill>
        <a:effectLst/>
      </p:bgPr>
    </p:bg>
    <p:spTree>
      <p:nvGrpSpPr>
        <p:cNvPr id="1" name=""/>
        <p:cNvGrpSpPr/>
        <p:nvPr/>
      </p:nvGrpSpPr>
      <p:grpSpPr>
        <a:xfrm>
          <a:off x="0" y="0"/>
          <a:ext cx="0" cy="0"/>
          <a:chOff x="0" y="0"/>
          <a:chExt cx="0" cy="0"/>
        </a:xfrm>
      </p:grpSpPr>
      <p:sp>
        <p:nvSpPr>
          <p:cNvPr id="2" name="Shape 0"/>
          <p:cNvSpPr/>
          <p:nvPr/>
        </p:nvSpPr>
        <p:spPr>
          <a:xfrm>
            <a:off x="6858000" y="-1371600"/>
            <a:ext cx="4572000" cy="4572000"/>
          </a:xfrm>
          <a:prstGeom prst="ellipse">
            <a:avLst/>
          </a:prstGeom>
          <a:solidFill>
            <a:srgbClr val="FFFFFF">
              <a:alpha val="6000"/>
            </a:srgbClr>
          </a:solidFill>
          <a:ln w="12700">
            <a:solidFill>
              <a:srgbClr val="FFFFFF"/>
            </a:solidFill>
            <a:prstDash val="solid"/>
          </a:ln>
        </p:spPr>
        <p:txBody>
          <a:bodyPr/>
          <a:lstStyle/>
          <a:p>
            <a:endParaRPr lang="en-US"/>
          </a:p>
        </p:txBody>
      </p:sp>
      <p:sp>
        <p:nvSpPr>
          <p:cNvPr id="3" name="Shape 1"/>
          <p:cNvSpPr/>
          <p:nvPr/>
        </p:nvSpPr>
        <p:spPr>
          <a:xfrm>
            <a:off x="-1371600" y="3200400"/>
            <a:ext cx="3657600" cy="3657600"/>
          </a:xfrm>
          <a:prstGeom prst="ellipse">
            <a:avLst/>
          </a:prstGeom>
          <a:solidFill>
            <a:srgbClr val="FFFFFF">
              <a:alpha val="7000"/>
            </a:srgbClr>
          </a:solidFill>
          <a:ln w="12700">
            <a:solidFill>
              <a:srgbClr val="FFFFFF"/>
            </a:solidFill>
            <a:prstDash val="solid"/>
          </a:ln>
        </p:spPr>
        <p:txBody>
          <a:bodyPr/>
          <a:lstStyle/>
          <a:p>
            <a:endParaRPr lang="en-US"/>
          </a:p>
        </p:txBody>
      </p:sp>
      <p:sp>
        <p:nvSpPr>
          <p:cNvPr id="4" name="Text 2"/>
          <p:cNvSpPr/>
          <p:nvPr/>
        </p:nvSpPr>
        <p:spPr>
          <a:xfrm>
            <a:off x="457200" y="502920"/>
            <a:ext cx="8229600" cy="731520"/>
          </a:xfrm>
          <a:prstGeom prst="rect">
            <a:avLst/>
          </a:prstGeom>
          <a:noFill/>
          <a:ln/>
        </p:spPr>
        <p:txBody>
          <a:bodyPr wrap="square" rtlCol="0" anchor="ctr"/>
          <a:lstStyle/>
          <a:p>
            <a:pPr marL="0" indent="0" algn="ctr">
              <a:buNone/>
            </a:pPr>
            <a:r>
              <a:rPr lang="en-US" sz="4800" b="1" dirty="0">
                <a:solidFill>
                  <a:srgbClr val="FFFFFF"/>
                </a:solidFill>
                <a:latin typeface="Trebuchet MS" pitchFamily="34" charset="0"/>
                <a:ea typeface="Trebuchet MS" pitchFamily="34" charset="-122"/>
                <a:cs typeface="Trebuchet MS" pitchFamily="34" charset="-120"/>
              </a:rPr>
              <a:t>Thank You</a:t>
            </a:r>
            <a:endParaRPr lang="en-US" sz="4800" dirty="0"/>
          </a:p>
        </p:txBody>
      </p:sp>
      <p:sp>
        <p:nvSpPr>
          <p:cNvPr id="5" name="Shape 3"/>
          <p:cNvSpPr/>
          <p:nvPr/>
        </p:nvSpPr>
        <p:spPr>
          <a:xfrm>
            <a:off x="3200400" y="1325880"/>
            <a:ext cx="2743200" cy="0"/>
          </a:xfrm>
          <a:prstGeom prst="line">
            <a:avLst/>
          </a:prstGeom>
          <a:noFill/>
          <a:ln w="12700">
            <a:solidFill>
              <a:srgbClr val="FFFFFF">
                <a:alpha val="45000"/>
              </a:srgbClr>
            </a:solidFill>
            <a:prstDash val="solid"/>
          </a:ln>
        </p:spPr>
        <p:txBody>
          <a:bodyPr/>
          <a:lstStyle/>
          <a:p>
            <a:endParaRPr lang="en-US"/>
          </a:p>
        </p:txBody>
      </p:sp>
      <p:sp>
        <p:nvSpPr>
          <p:cNvPr id="6" name="Shape 4"/>
          <p:cNvSpPr/>
          <p:nvPr/>
        </p:nvSpPr>
        <p:spPr>
          <a:xfrm>
            <a:off x="457200" y="1481328"/>
            <a:ext cx="4114800" cy="658368"/>
          </a:xfrm>
          <a:prstGeom prst="rect">
            <a:avLst/>
          </a:prstGeom>
          <a:solidFill>
            <a:srgbClr val="FFFFFF">
              <a:alpha val="15000"/>
            </a:srgbClr>
          </a:solidFill>
          <a:ln w="12700">
            <a:solidFill>
              <a:srgbClr val="FFFFFF">
                <a:alpha val="30000"/>
              </a:srgbClr>
            </a:solidFill>
            <a:prstDash val="solid"/>
          </a:ln>
        </p:spPr>
        <p:txBody>
          <a:bodyPr/>
          <a:lstStyle/>
          <a:p>
            <a:endParaRPr lang="en-US"/>
          </a:p>
        </p:txBody>
      </p:sp>
      <p:sp>
        <p:nvSpPr>
          <p:cNvPr id="7" name="Text 5"/>
          <p:cNvSpPr/>
          <p:nvPr/>
        </p:nvSpPr>
        <p:spPr>
          <a:xfrm>
            <a:off x="548640" y="1536192"/>
            <a:ext cx="3931920" cy="292608"/>
          </a:xfrm>
          <a:prstGeom prst="rect">
            <a:avLst/>
          </a:prstGeom>
          <a:noFill/>
          <a:ln/>
        </p:spPr>
        <p:txBody>
          <a:bodyPr wrap="square"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131,843</a:t>
            </a:r>
            <a:endParaRPr lang="en-US" sz="2200" dirty="0"/>
          </a:p>
        </p:txBody>
      </p:sp>
      <p:sp>
        <p:nvSpPr>
          <p:cNvPr id="8" name="Text 6"/>
          <p:cNvSpPr/>
          <p:nvPr/>
        </p:nvSpPr>
        <p:spPr>
          <a:xfrm>
            <a:off x="548640" y="1847088"/>
            <a:ext cx="3931920" cy="25603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Records from 6 government &amp; medical sources</a:t>
            </a:r>
            <a:endParaRPr lang="en-US" sz="1100" dirty="0"/>
          </a:p>
        </p:txBody>
      </p:sp>
      <p:sp>
        <p:nvSpPr>
          <p:cNvPr id="9" name="Shape 7"/>
          <p:cNvSpPr/>
          <p:nvPr/>
        </p:nvSpPr>
        <p:spPr>
          <a:xfrm>
            <a:off x="4754880" y="1481328"/>
            <a:ext cx="4114800" cy="658368"/>
          </a:xfrm>
          <a:prstGeom prst="rect">
            <a:avLst/>
          </a:prstGeom>
          <a:solidFill>
            <a:srgbClr val="FFFFFF">
              <a:alpha val="15000"/>
            </a:srgbClr>
          </a:solidFill>
          <a:ln w="12700">
            <a:solidFill>
              <a:srgbClr val="FFFFFF">
                <a:alpha val="30000"/>
              </a:srgbClr>
            </a:solidFill>
            <a:prstDash val="solid"/>
          </a:ln>
        </p:spPr>
        <p:txBody>
          <a:bodyPr/>
          <a:lstStyle/>
          <a:p>
            <a:endParaRPr lang="en-US"/>
          </a:p>
        </p:txBody>
      </p:sp>
      <p:sp>
        <p:nvSpPr>
          <p:cNvPr id="10" name="Text 8"/>
          <p:cNvSpPr/>
          <p:nvPr/>
        </p:nvSpPr>
        <p:spPr>
          <a:xfrm>
            <a:off x="4846320" y="1536192"/>
            <a:ext cx="3931920" cy="292608"/>
          </a:xfrm>
          <a:prstGeom prst="rect">
            <a:avLst/>
          </a:prstGeom>
          <a:noFill/>
          <a:ln/>
        </p:spPr>
        <p:txBody>
          <a:bodyPr wrap="square"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76% / 0.863</a:t>
            </a:r>
            <a:endParaRPr lang="en-US" sz="2200" dirty="0"/>
          </a:p>
        </p:txBody>
      </p:sp>
      <p:sp>
        <p:nvSpPr>
          <p:cNvPr id="11" name="Text 9"/>
          <p:cNvSpPr/>
          <p:nvPr/>
        </p:nvSpPr>
        <p:spPr>
          <a:xfrm>
            <a:off x="4846320" y="1847088"/>
            <a:ext cx="3931920" cy="25603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Sentiment classification accuracy / AUC</a:t>
            </a:r>
            <a:endParaRPr lang="en-US" sz="1100" dirty="0"/>
          </a:p>
        </p:txBody>
      </p:sp>
      <p:sp>
        <p:nvSpPr>
          <p:cNvPr id="12" name="Shape 10"/>
          <p:cNvSpPr/>
          <p:nvPr/>
        </p:nvSpPr>
        <p:spPr>
          <a:xfrm>
            <a:off x="457200" y="2286000"/>
            <a:ext cx="4114800" cy="658368"/>
          </a:xfrm>
          <a:prstGeom prst="rect">
            <a:avLst/>
          </a:prstGeom>
          <a:solidFill>
            <a:srgbClr val="FFFFFF">
              <a:alpha val="15000"/>
            </a:srgbClr>
          </a:solidFill>
          <a:ln w="12700">
            <a:solidFill>
              <a:srgbClr val="FFFFFF">
                <a:alpha val="30000"/>
              </a:srgbClr>
            </a:solidFill>
            <a:prstDash val="solid"/>
          </a:ln>
        </p:spPr>
        <p:txBody>
          <a:bodyPr/>
          <a:lstStyle/>
          <a:p>
            <a:endParaRPr lang="en-US"/>
          </a:p>
        </p:txBody>
      </p:sp>
      <p:sp>
        <p:nvSpPr>
          <p:cNvPr id="13" name="Text 11"/>
          <p:cNvSpPr/>
          <p:nvPr/>
        </p:nvSpPr>
        <p:spPr>
          <a:xfrm>
            <a:off x="548640" y="2340864"/>
            <a:ext cx="3931920" cy="292608"/>
          </a:xfrm>
          <a:prstGeom prst="rect">
            <a:avLst/>
          </a:prstGeom>
          <a:noFill/>
          <a:ln/>
        </p:spPr>
        <p:txBody>
          <a:bodyPr wrap="square"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0.792</a:t>
            </a:r>
            <a:endParaRPr lang="en-US" sz="2200" dirty="0"/>
          </a:p>
        </p:txBody>
      </p:sp>
      <p:sp>
        <p:nvSpPr>
          <p:cNvPr id="14" name="Text 12"/>
          <p:cNvSpPr/>
          <p:nvPr/>
        </p:nvSpPr>
        <p:spPr>
          <a:xfrm>
            <a:off x="548640" y="2651760"/>
            <a:ext cx="3931920" cy="25603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Drug shortage prediction AUC (enhanced model)</a:t>
            </a:r>
            <a:endParaRPr lang="en-US" sz="1100" dirty="0"/>
          </a:p>
        </p:txBody>
      </p:sp>
      <p:sp>
        <p:nvSpPr>
          <p:cNvPr id="15" name="Shape 13"/>
          <p:cNvSpPr/>
          <p:nvPr/>
        </p:nvSpPr>
        <p:spPr>
          <a:xfrm>
            <a:off x="4754880" y="2286000"/>
            <a:ext cx="4114800" cy="658368"/>
          </a:xfrm>
          <a:prstGeom prst="rect">
            <a:avLst/>
          </a:prstGeom>
          <a:solidFill>
            <a:srgbClr val="FFFFFF">
              <a:alpha val="15000"/>
            </a:srgbClr>
          </a:solidFill>
          <a:ln w="12700">
            <a:solidFill>
              <a:srgbClr val="FFFFFF">
                <a:alpha val="30000"/>
              </a:srgbClr>
            </a:solidFill>
            <a:prstDash val="solid"/>
          </a:ln>
        </p:spPr>
        <p:txBody>
          <a:bodyPr/>
          <a:lstStyle/>
          <a:p>
            <a:endParaRPr lang="en-US"/>
          </a:p>
        </p:txBody>
      </p:sp>
      <p:sp>
        <p:nvSpPr>
          <p:cNvPr id="16" name="Text 14"/>
          <p:cNvSpPr/>
          <p:nvPr/>
        </p:nvSpPr>
        <p:spPr>
          <a:xfrm>
            <a:off x="4846320" y="2340864"/>
            <a:ext cx="3931920" cy="292608"/>
          </a:xfrm>
          <a:prstGeom prst="rect">
            <a:avLst/>
          </a:prstGeom>
          <a:noFill/>
          <a:ln/>
        </p:spPr>
        <p:txBody>
          <a:bodyPr wrap="square"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+0.248</a:t>
            </a:r>
            <a:endParaRPr lang="en-US" sz="2200" dirty="0"/>
          </a:p>
        </p:txBody>
      </p:sp>
      <p:sp>
        <p:nvSpPr>
          <p:cNvPr id="17" name="Text 15"/>
          <p:cNvSpPr/>
          <p:nvPr/>
        </p:nvSpPr>
        <p:spPr>
          <a:xfrm>
            <a:off x="4846320" y="2651760"/>
            <a:ext cx="3931920" cy="25603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R² improvement from feature engineering</a:t>
            </a:r>
            <a:endParaRPr lang="en-US" sz="1100" dirty="0"/>
          </a:p>
        </p:txBody>
      </p:sp>
      <p:sp>
        <p:nvSpPr>
          <p:cNvPr id="18" name="Shape 16"/>
          <p:cNvSpPr/>
          <p:nvPr/>
        </p:nvSpPr>
        <p:spPr>
          <a:xfrm>
            <a:off x="457200" y="3090672"/>
            <a:ext cx="4114800" cy="658368"/>
          </a:xfrm>
          <a:prstGeom prst="rect">
            <a:avLst/>
          </a:prstGeom>
          <a:solidFill>
            <a:srgbClr val="FFFFFF">
              <a:alpha val="15000"/>
            </a:srgbClr>
          </a:solidFill>
          <a:ln w="12700">
            <a:solidFill>
              <a:srgbClr val="FFFFFF">
                <a:alpha val="30000"/>
              </a:srgbClr>
            </a:solidFill>
            <a:prstDash val="solid"/>
          </a:ln>
        </p:spPr>
        <p:txBody>
          <a:bodyPr/>
          <a:lstStyle/>
          <a:p>
            <a:endParaRPr lang="en-US"/>
          </a:p>
        </p:txBody>
      </p:sp>
      <p:sp>
        <p:nvSpPr>
          <p:cNvPr id="19" name="Text 17"/>
          <p:cNvSpPr/>
          <p:nvPr/>
        </p:nvSpPr>
        <p:spPr>
          <a:xfrm>
            <a:off x="548640" y="3145536"/>
            <a:ext cx="3931920" cy="292608"/>
          </a:xfrm>
          <a:prstGeom prst="rect">
            <a:avLst/>
          </a:prstGeom>
          <a:noFill/>
          <a:ln/>
        </p:spPr>
        <p:txBody>
          <a:bodyPr wrap="square"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r=+0.485</a:t>
            </a:r>
            <a:endParaRPr lang="en-US" sz="2200" dirty="0"/>
          </a:p>
        </p:txBody>
      </p:sp>
      <p:sp>
        <p:nvSpPr>
          <p:cNvPr id="20" name="Text 18"/>
          <p:cNvSpPr/>
          <p:nvPr/>
        </p:nvSpPr>
        <p:spPr>
          <a:xfrm>
            <a:off x="548640" y="3456432"/>
            <a:ext cx="3931920" cy="25603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Strongest predictor: sentiment polarization (H8)</a:t>
            </a:r>
            <a:endParaRPr lang="en-US" sz="1100" dirty="0"/>
          </a:p>
        </p:txBody>
      </p:sp>
      <p:sp>
        <p:nvSpPr>
          <p:cNvPr id="21" name="Shape 19"/>
          <p:cNvSpPr/>
          <p:nvPr/>
        </p:nvSpPr>
        <p:spPr>
          <a:xfrm>
            <a:off x="4754880" y="3090672"/>
            <a:ext cx="4114800" cy="658368"/>
          </a:xfrm>
          <a:prstGeom prst="rect">
            <a:avLst/>
          </a:prstGeom>
          <a:solidFill>
            <a:srgbClr val="FFFFFF">
              <a:alpha val="15000"/>
            </a:srgbClr>
          </a:solidFill>
          <a:ln w="12700">
            <a:solidFill>
              <a:srgbClr val="FFFFFF">
                <a:alpha val="30000"/>
              </a:srgbClr>
            </a:solidFill>
            <a:prstDash val="solid"/>
          </a:ln>
        </p:spPr>
        <p:txBody>
          <a:bodyPr/>
          <a:lstStyle/>
          <a:p>
            <a:endParaRPr lang="en-US"/>
          </a:p>
        </p:txBody>
      </p:sp>
      <p:sp>
        <p:nvSpPr>
          <p:cNvPr id="22" name="Text 20"/>
          <p:cNvSpPr/>
          <p:nvPr/>
        </p:nvSpPr>
        <p:spPr>
          <a:xfrm>
            <a:off x="4846320" y="3145536"/>
            <a:ext cx="3931920" cy="292608"/>
          </a:xfrm>
          <a:prstGeom prst="rect">
            <a:avLst/>
          </a:prstGeom>
          <a:noFill/>
          <a:ln/>
        </p:spPr>
        <p:txBody>
          <a:bodyPr wrap="square"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r=−0.423</a:t>
            </a:r>
            <a:endParaRPr lang="en-US" sz="2200" dirty="0"/>
          </a:p>
        </p:txBody>
      </p:sp>
      <p:sp>
        <p:nvSpPr>
          <p:cNvPr id="23" name="Text 21"/>
          <p:cNvSpPr/>
          <p:nvPr/>
        </p:nvSpPr>
        <p:spPr>
          <a:xfrm>
            <a:off x="4846320" y="3456432"/>
            <a:ext cx="3931920" cy="25603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Shortage: drugs with no therapeutic substitute</a:t>
            </a:r>
            <a:endParaRPr lang="en-US" sz="1100" dirty="0"/>
          </a:p>
        </p:txBody>
      </p:sp>
      <p:sp>
        <p:nvSpPr>
          <p:cNvPr id="24" name="Text 22"/>
          <p:cNvSpPr/>
          <p:nvPr/>
        </p:nvSpPr>
        <p:spPr>
          <a:xfrm>
            <a:off x="457200" y="4663440"/>
            <a:ext cx="8229600" cy="274320"/>
          </a:xfrm>
          <a:prstGeom prst="rect">
            <a:avLst/>
          </a:prstGeom>
          <a:noFill/>
          <a:ln/>
        </p:spPr>
        <p:txBody>
          <a:bodyPr wrap="square" rtlCol="0" anchor="ctr"/>
          <a:lstStyle/>
          <a:p>
            <a:pPr marL="0" indent="0" algn="ctr">
              <a:buNone/>
            </a:pPr>
            <a:r>
              <a:rPr lang="en-US" sz="1000" kern="0" spc="100" dirty="0">
                <a:solidFill>
                  <a:srgbClr val="FFFFFF"/>
                </a:solidFill>
                <a:latin typeface="Calibri" pitchFamily="34" charset="0"/>
                <a:ea typeface="Calibri" pitchFamily="34" charset="-122"/>
                <a:cs typeface="Calibri" pitchFamily="34" charset="-120"/>
              </a:rPr>
              <a:t>Stevens Institute of Technology  ·  BIA-660 Web Mining  ·  Healthcare Intelligence Platform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143</TotalTime>
  <Words>10125</Words>
  <Application>Microsoft Macintosh PowerPoint</Application>
  <PresentationFormat>On-screen Show (16:9)</PresentationFormat>
  <Paragraphs>553</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Healthcare Intelligence Platform</dc:title>
  <dc:subject>PptxGenJS Presentation</dc:subject>
  <dc:creator>Stevens Institute of Technology — BIA-660</dc:creator>
  <cp:lastModifiedBy>bhawna s</cp:lastModifiedBy>
  <cp:revision>5</cp:revision>
  <dcterms:created xsi:type="dcterms:W3CDTF">2026-04-20T15:13:52Z</dcterms:created>
  <dcterms:modified xsi:type="dcterms:W3CDTF">2026-05-01T17:20:31Z</dcterms:modified>
</cp:coreProperties>
</file>